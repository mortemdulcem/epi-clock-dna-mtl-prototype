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badi"/>
              </a:defRPr>
            </a:pPr>
            <a:r>
              <a:t>DNA METİLASYON SAATLERİYLE BAĞIMLILIKTA</a:t>
            </a:r>
            <a:br/>
            <a:r>
              <a:t>EPİGENETİK YAŞ İVMELENMESİNİN TESPİTİ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D2F0"/>
                </a:solidFill>
                <a:latin typeface="Abadi"/>
              </a:defRPr>
            </a:pPr>
            <a:r>
              <a:t>Detection of Epigenetic Age Acceleration in Addiction Using DNA Methylation Clocks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6B4D2"/>
                </a:solidFill>
                <a:latin typeface="Abadi"/>
              </a:defRPr>
            </a:pPr>
            <a:r>
              <a:t>Arş. Gör. Dr. Nurcan Denli Bayır</a:t>
            </a:r>
            <a:br/>
            <a:r>
              <a:t>Adli Tıp Anabilim Dalı</a:t>
            </a:r>
            <a:br/>
            <a:br/>
            <a:r>
              <a:t>EpiClock v4.0 | 36,170 Yapısal Varyant | UCSD Licensed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UCSD LİSANS BİLGİSİ VE TELİF HAKKI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UCSD EPİGENETİK SAAT LİSANSI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University of California, San Diego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(UCSD) Lisans Gereksinimleri: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Horvath Epigenetik Saatleri (DNAmAge,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GrimAge, PhenoAge, SkinBloodClock)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UCSD tarafından patentlidir ve ticari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kullanım için lisans gerektirir.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LİSANS TİPLERİ: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1. Akademik/Araştırma Lisansı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Kâr amacı gütmeyen kurumlar için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ücretsiz erişim mümkündür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2. Ticari Lisans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Ücretli lisans anlaşması gerekli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İletişim: innovation@ucsd.edu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PROTOTİP UYARISI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⚠️ ÖNEMLİ UYARI: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Bu platform PROTOTIP amaçlı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geliştirilmiş olup SİMÜLE edilmiş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katsayılar kullanmaktadır.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Gerçek epigenetik saat katsayıları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UCSD lisansı altındadır ve akademik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veya ticari kullanım için ilgili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lisans anlaşması gereklidir.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REFERANSLAR: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Horvath S. UCLA/UCSD (2013-2024)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Lu AT, et al. UCSD (2019)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Levine ME, et al. UCLA (2018)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github.com/horvath-lab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EPİGENETİK: TANIM VE TEMEL KAVRAMLAR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EPİGENETİK NEDİR?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Conrad Waddington (1942):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'DNA sekansında değişiklik olmaksızın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gen ekspresyonunun kalıtsal modifikasyonu'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ANAHTAR ÖZELLİKLER: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Kalıtsal ama reversibl değişiklikler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Çevresel faktörlere duyarlı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Hücre hafızası mekanizması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Doku spesifik paternler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Genotip → [Epigenetik] → Fenotip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4 TEMEL MEKANİZMA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1. DNA METİLASYONU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5-metilsitozin (5mC) oluşumu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DNMT1, DNMT3A/B enzimleri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2. HİSTON MODİFİKASYONLARI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Asetilasyon, Metilasyon, Fosforilasyon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H3K4me3 (aktif), H3K27me3 (baskılı)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3. NON-CODING RNA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miRNA, lncRNA, piRNA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4. KROMATİN REMODELİNG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SWI/SNF, ISWI, CHD kompleksleri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DNA METİLASYON BİYOKİMYASI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5-METİLSİTOZİN (5mC) OLUŞUMU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ENZİMATİK REAKSİYON: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Sitozin + SAM → 5mC + SAH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      (DNMT)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DNMT AİLESİ: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DNMT1 (Maintenance):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Hemimetile DNA tanıma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Replikasyonda patern koruma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DNMT3A/3B (De novo):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Yeni metilasyon paternleri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Embriyonik gelişim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DEMETİLASYON YOLAĞI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TET ENZİMLERİ: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5mC → 5hmC → 5fC → 5caC → C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TET1, TET2, TET3: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α-ketoglutarat bağımlı dioksigenazlar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CpG ADALARI: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GC içeriği &gt;50%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Gözlenen/Beklenen CpG &gt;0.6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Uzunluk &gt;200 baz çifti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%70 insan genlerinde mevcut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5 MAJOR EPİGENETİK SAAT: DETAYLI KARŞILAŞTIRMA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3967" y="1143000"/>
            <a:ext cx="7223759" cy="19751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83967" y="1143000"/>
            <a:ext cx="7223759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54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SAAT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41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070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YIL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27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934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14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798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DOKU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43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094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5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246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ÖZELLİK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18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838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REFERANS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3967" y="1472184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2054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41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070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27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934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14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798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51 doku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843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094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3.6 yıl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5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246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Pan-tissue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18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838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Genome Biol 14:R115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83967" y="1801368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2054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Hannum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641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0070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27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934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614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798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843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2094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3.9 yıl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5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5246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 optimized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618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838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Mol Cell 49:359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83967" y="2130552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2054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PhenoAge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641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0070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127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4934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614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9798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Çoklu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843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2094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2.5 yıl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15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5246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 biyobelirteç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618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838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Aging 10:573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83967" y="2459736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2054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GrimAge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641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0070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127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4934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614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9798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843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2094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2.1 yıl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5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5246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Mortalite pred.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618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838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Aging 11:303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83967" y="2788920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2054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DunedinPACE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641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0070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2022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127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4934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173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614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9798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843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2094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N/A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15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5246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Yaşlanma hızı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618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9838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eLife 11:e73420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" y="334670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GrimAge HR = 1.10 per yıl EAA | DunedinPACE: 1.0 = normal, &gt;1.0 = hızlanmış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MADDEYE ÖZGÜ EPİGENETİK YAŞ İVMELENMESİ (GrimAge)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5447" y="1143000"/>
            <a:ext cx="640080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5447" y="1143000"/>
            <a:ext cx="64008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202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MADDE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13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794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EAA (yıl)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72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3783" y="117957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95% 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59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7250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p-değeri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503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690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Cohen's 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4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130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5447" y="147218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202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Polisubstans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413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794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+7.3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72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83783" y="150876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6.4 - 8.3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359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250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503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690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64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130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5447" y="180136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202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Metamfetamin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13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794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+6.2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472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83783" y="1837943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4.5 - 8.1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359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7250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503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690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64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130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5447" y="2130552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3202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13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794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+4.1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472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83783" y="2167128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3.5 - 4.7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359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7250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503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690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64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0130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5447" y="2459736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202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413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794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+3.6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472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83783" y="2496312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3.1 - 4.2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359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7250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503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690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0.78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64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0130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2,183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95447" y="2788920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3202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Opioidler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413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7943" y="282549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+2.9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472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83783" y="282549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2.5 - 3.4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359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7250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503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8690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0.65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64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0130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1,360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95447" y="311810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32023" y="315468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Esrar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413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7943" y="315468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+0.8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472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83783" y="315468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0.3 - 1.4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359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7250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0.008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503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690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0.18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64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0130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95447" y="344728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32023" y="3483864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Kontrol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413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7943" y="3483864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5472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83783" y="3483864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-0.3 - 0.3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359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7250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referans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503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690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647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01303" y="3483864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5,007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65760" y="400507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Meta-analiz: 15 bağımsız kohort, N = 10,542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EPİCLOCK PLATFORM: 35+ ANALİZ MODÜLÜ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TEMEL MODÜLLER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1. EPİGENETİK SAAT ANALİZİ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5 major saat + 12 doku-spesifik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2. MADDE TESPİTİ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18 madde tipi, CpG marker imzaları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3. NPS VERİTABANI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2,822 türev, 9 kimyasal sınıf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4. MARKUSH YAPILARI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29,277 kombinatoryal varyant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5. FARMAKOFOR KÜTÜPHANESİ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1,920 sanal bileşik, ADMET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İLERİ ANALİZ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6. POLİSUBSTANS RİSK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257 kombinasyon, sinerji matrisi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7. KEMOİNFORMATİK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SMILES, fingerprints, benzerlik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8. GWAS/EWAS ENTEGRASYON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9 uluslararası veritabanı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9. POLİGENİK RİSK SKORU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6 bağımlılık traiti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10. BLOCKCHAIN DENETİM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 SHA-256 hash zinciri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EPİCLOCK VERİTABANI: 36,170 YAPISAL VARYANT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9687" y="1143000"/>
            <a:ext cx="7132320" cy="329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9687" y="1143000"/>
            <a:ext cx="71323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6263" y="1179576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MODÜL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00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658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44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098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32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978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9687" y="1472184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6263" y="1508760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Temel Madde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00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658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1,815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44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4098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SMILES, CAS, DEA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2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978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PubChem, ChEMBL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9687" y="1801368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6263" y="1837943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NPS Türev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900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658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2,822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044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4098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Türev, Potens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32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978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UNODC, EMCDDA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29687" y="2130552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6263" y="2167128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Polisubstans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900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658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257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044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4098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Sinerji,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332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978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Literatür, CDC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29687" y="2459736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6263" y="2496312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Kimyasal Sentez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900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658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044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4098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Prekursor→Ürün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32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978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DEA, INCB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29687" y="2788920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6263" y="2825496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Metabolik Yolak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00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658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044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4098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CYP450, Faz I/II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332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978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PharmGKB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29687" y="3118104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6263" y="3154680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Farmakofor Lib.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900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658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1,920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44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4098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In silico ADMET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332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978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Hesaplamalı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29687" y="3447288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66263" y="3483864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Metabolit Tahmin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900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658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6,240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44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4098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Faz I, II, Piroliz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332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978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BioTransformer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29687" y="3776472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66263" y="3813048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Markush Varyant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900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6583" y="381304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29,277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044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4098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R-grup komb.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332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978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Patent analizi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29687" y="4105656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66263" y="4142232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900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26583" y="414223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36,170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044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4098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332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6978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YENİ PSİKOAKTİF MADDELER (NPS): 9 SINIF - 2,822 TÜREV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6847" y="1143000"/>
            <a:ext cx="6858000" cy="329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6847" y="1143000"/>
            <a:ext cx="68580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342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SINIF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85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103" y="117957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5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230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ÖRNEK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45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110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HEDEF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46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126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POTENS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6847" y="1472184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342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Sentetik Kanabinoid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85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5103" y="150876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784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5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230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JWH-018, AM-2201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645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110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CB1 agonist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446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126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THC 10-50x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66847" y="1801368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342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Sentetik Katinon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785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5103" y="1837943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5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230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α-PVP, MDPV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45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110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DAT/NET inhib.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46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126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Amf-tipi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66847" y="2130552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342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 Analog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85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5103" y="216712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35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230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Carfentanil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645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0110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446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126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Morfin 100x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66847" y="2459736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342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Nitazenler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785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5103" y="249631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35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230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Etonitazene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645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0110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446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126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Morfin 1000x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66847" y="2788920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342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Triptaminler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785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5103" y="282549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35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7230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5-MeO-DMT, αMT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645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0110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446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8126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Halüsinojen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66847" y="3118104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342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Fenetilaminler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785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5103" y="315468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35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7230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25I-NBOMe, 2C-B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645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0110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446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8126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LSD-tipi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66847" y="3447288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0342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Dizayner Benzolar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785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15103" y="3483864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128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357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7230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Flualprazolam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645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0110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GABA-A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446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8126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Alpraz 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66847" y="3776472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0342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Disosiyatifler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785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5103" y="381304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1357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7230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3-MeO-PCP, MXE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645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0110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NMDA antag.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2446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8126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Ket-tipi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66847" y="4105656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0342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Diğer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785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5103" y="414223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1357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7230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GHB analogları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9645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01103" y="414223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GABA-B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446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281263" y="414223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5760" y="4663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⚠️ Nitazenler: En tehlikeli sınıf, nalokson direnci | UNODC EWA entegre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MARKUSH YAPI KURALLARI: 29,277 VARYANT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6847" y="1143000"/>
            <a:ext cx="6858000" cy="36210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6847" y="1143000"/>
            <a:ext cx="68580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3423" y="117957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KURAL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69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3503" y="1179576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SINIF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4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86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ÇEKİRDEK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59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254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R-GRUP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275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414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VARYANT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6847" y="1472184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3423" y="150876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69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3503" y="1508760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Nitazenler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4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086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Benzimidazol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59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254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75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414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5,200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66847" y="1801368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3423" y="1837943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069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3503" y="1837943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Fenetilaminler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44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086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β-fenilpropilamin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59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9254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275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414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4,800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66847" y="2130552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3423" y="216712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069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3503" y="2167128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Triptaminler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4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8086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İndoletilamin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59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9254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275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6414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3,600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66847" y="2459736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3423" y="2496312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069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3503" y="2496312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Benzodiazepinler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44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086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1,4-Benzodiazepin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59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9254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75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414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3,200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66847" y="2788920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3423" y="282549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069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43503" y="2825496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Kanabinoidler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44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8086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İndol/İndazol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59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254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275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6414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3,800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66847" y="3118104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3423" y="315468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069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43503" y="3154680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Katinonlar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442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8086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β-keto fenilamin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59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92543" y="315468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275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6414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2,800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66847" y="3447288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03423" y="3483864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069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43503" y="3483864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Fentaniller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442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8086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4-Anilinpiperidin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59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92543" y="3483864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75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64143" y="3483864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2,400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66847" y="3776472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03423" y="381304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069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43503" y="3813048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Disosiyatifler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442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8086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Arilsikloheksilamin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559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92543" y="381304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4275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64143" y="381304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1,600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66847" y="4105656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03423" y="4142232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9-10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069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43503" y="4142232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Diğer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442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8086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559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92543" y="414223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275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64143" y="414223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1,877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66847" y="4434840"/>
            <a:ext cx="68580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03423" y="447141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</a:p>
        </p:txBody>
      </p:sp>
      <p:sp>
        <p:nvSpPr>
          <p:cNvPr id="110" name="Rectangle 109"/>
          <p:cNvSpPr/>
          <p:nvPr/>
        </p:nvSpPr>
        <p:spPr>
          <a:xfrm>
            <a:off x="33069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343503" y="4471416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4428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80863" y="447141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</a:p>
        </p:txBody>
      </p:sp>
      <p:sp>
        <p:nvSpPr>
          <p:cNvPr id="114" name="Rectangle 113"/>
          <p:cNvSpPr/>
          <p:nvPr/>
        </p:nvSpPr>
        <p:spPr>
          <a:xfrm>
            <a:off x="705596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92543" y="447141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</a:p>
        </p:txBody>
      </p:sp>
      <p:sp>
        <p:nvSpPr>
          <p:cNvPr id="116" name="Rectangle 115"/>
          <p:cNvSpPr/>
          <p:nvPr/>
        </p:nvSpPr>
        <p:spPr>
          <a:xfrm>
            <a:off x="842756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464143" y="447141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29,277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760" y="499262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R-grupları: -F, -Cl, -Br, -CH₃, -OCH₃, -CF₃, N-alkil varyantları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FARMAKOFOR SANAL KÜTÜPHANESİ: 1,920 BİLEŞİK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1167" y="1143000"/>
            <a:ext cx="6309360" cy="36210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41167" y="1143000"/>
            <a:ext cx="630936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7743" y="117957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ÇEKİRDEK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5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2303" y="117957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29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950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HEDEF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1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830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logP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275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414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BBB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1167" y="1472184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7743" y="150876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Fenetilamin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5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2303" y="150876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929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950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DAT/SERT/5-HT2A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1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830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1.5-3.5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75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414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41167" y="1801368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7743" y="1837943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Triptamin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5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2303" y="1837943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929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950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5-HT2A/5-HT1A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1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830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1.0-3.0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275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414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1167" y="2130552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7743" y="216712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35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2303" y="216712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929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950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21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830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3.0-5.0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275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6414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41167" y="2459736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7743" y="249631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Benzodiazepin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35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72303" y="249631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929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2950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GABA-A α1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21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5830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2.0-4.0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75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414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41167" y="2788920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77743" y="282549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Arilsikloheksilamin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35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72303" y="282549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929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2950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NMDA/σ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21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58303" y="282549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2.5-4.5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275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6414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41167" y="3118104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77743" y="315468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Katinon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35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72303" y="315468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929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2950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DAT/NET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21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58303" y="315468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1.0-2.5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275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64143" y="315468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41167" y="3447288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77743" y="3483864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Kanabinoid (İndol)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357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72303" y="3483864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929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2950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CB1/CB2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217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58303" y="3483864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4.0-7.0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75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64143" y="3483864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41167" y="3776472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77743" y="381304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Kanabinoid (İndazol)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357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72303" y="381304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140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5929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2950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CB1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217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58303" y="381304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4.5-7.5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4275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64143" y="381304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41167" y="4105656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77743" y="414223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Morfin-tipi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1357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172303" y="414223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929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2950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μ/κ/δ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217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58303" y="414223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0.5-2.5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275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64143" y="414223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41167" y="4434840"/>
            <a:ext cx="63093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977743" y="447141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Diğer (8 çekirdek)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357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172303" y="447141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5929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629503" y="447141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4217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458303" y="447141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42756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464143" y="447141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760" y="499262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16 farmakofor çekirdeği × 120 türev = 1,920 in silico bileşik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IN SILICO ADMET TAHMİNLERİ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5407" y="1143000"/>
            <a:ext cx="7040880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75407" y="1143000"/>
            <a:ext cx="704088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198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PARAMETRE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42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78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YÖNTEM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58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238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POZİTİF N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59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254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EŞİK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32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982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ANLAM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5407" y="1472184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198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BBB Geçirgenliği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42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078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QSAR (logBB)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58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238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1,144 (59.6%)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59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254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32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982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CNS aktif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5407" y="1801368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1198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Caco-2 Permeabilite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42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078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PAMPA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58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238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1,456 (75.8%)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59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9254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&gt;1×10⁻⁶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32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982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İyi absorpsiyon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75407" y="2130552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198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P-gp Substrat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42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078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ML classifier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758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1238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768 (40.0%)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59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9254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532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982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Efflux riski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75407" y="2459736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198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CYP3A4 İnhib.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042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078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Docking+QSAR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758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1238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624 (32.5%)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59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9254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&lt;10μM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532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89823" y="249631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DDI riski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75407" y="2788920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1198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CYP2D6 İnhib.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042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4078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Docking+QSAR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758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1238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512 (26.7%)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59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254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&lt;10μM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32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89823" y="282549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DDI riski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75407" y="3118104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1198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hERG İnhib.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042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40783" y="315468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QSAR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758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1238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384 (20.0%)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59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9254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&lt;10μM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532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89823" y="315468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QT uzaması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75407" y="3447288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1198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Hepatotoksisite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042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40783" y="3483864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DILI classifier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58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1238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288 (15.0%)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59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92543" y="3483864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532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89823" y="3483864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KC hasarı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75407" y="3776472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1198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AMES Mutajenite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042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40783" y="381304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Derek/Sarah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758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1238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192 (10.0%)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559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92543" y="381304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Pozitif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1532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89823" y="381304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Genotoksik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DNA'DAN MADDE TESPİTİ: 18 MADDE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2607" y="1143000"/>
            <a:ext cx="6126480" cy="329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32607" y="1143000"/>
            <a:ext cx="612648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918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MADDE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85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10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GEN/CpG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30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966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SENS.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46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118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SPEC.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61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270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SÜRE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2607" y="1472184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918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Sigara (Aktif)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85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510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AHRR, F2RL3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102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30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966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46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4118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61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270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2 yıl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2607" y="1801368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918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Sigara (Eski)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785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510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AHRR, GFI1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4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730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966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046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4118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61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7270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5 yıl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2607" y="2130552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918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 (Kronik)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785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510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HECW2, SLC7A11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44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102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730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966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046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4118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361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7270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3 yıl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32607" y="2459736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6918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785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1510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DDR1, SMPD3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244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102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730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966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046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4118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361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7270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4 yıl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32607" y="2788920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6918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Opioidler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785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510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OPRM1, PENK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244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6102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730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0966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046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4118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83%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361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7270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4 yıl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32607" y="3118104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69183" y="315468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Metamfetamin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785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5103" y="315468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DAT1, DRD2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244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61023" y="315468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730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0966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79%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46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4118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3361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72703" y="315468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4 yıl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032607" y="3447288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69183" y="3483864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Esrar (THC)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785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5103" y="3483864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CNR1, MGLL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244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61023" y="3483864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730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09663" y="3483864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77%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046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41183" y="3483864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361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72703" y="3483864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5 yıl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032607" y="3776472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069183" y="381304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MDMA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785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5103" y="381304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SLC6A4, HTR2A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3244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61023" y="381304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8730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09663" y="381304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75%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046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641183" y="381304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79%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361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72703" y="381304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4 yıl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032607" y="4105656"/>
            <a:ext cx="61264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69183" y="414223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Benzodiazepin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785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5103" y="414223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GABRA1, GABRA2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244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61023" y="414223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0.78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730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09663" y="414223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74%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6046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641183" y="414223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77%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3361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372703" y="414223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5 yıl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760" y="4663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100+ CpG marker | Kullanım süresi tahmini 95% CI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DOKU-SPESİFİK SAATLER: 12 DOKU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1207" y="1143000"/>
            <a:ext cx="5669280" cy="42793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61207" y="1143000"/>
            <a:ext cx="566928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778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DOKU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72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9463" y="117957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29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954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59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7250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45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114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1207" y="1472184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778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Beyin - PFC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2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9463" y="150876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129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954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 yıl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359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250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45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114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61207" y="1801368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778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Beyin - Hipokampus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72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9463" y="1837943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129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954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3.1 yıl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359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250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845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2114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1207" y="2130552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778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Beyin - Serebellum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72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9463" y="216712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298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129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954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2.9 yıl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359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7250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845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2114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1207" y="2459736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778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Karaciğer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72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9463" y="2496312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421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129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954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3.4 yıl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359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7250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845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2114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61207" y="2788920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778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Böbrek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72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9463" y="282549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129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954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3.6 yıl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359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7250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845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114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61207" y="3118104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778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Kalp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728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9463" y="315468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356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129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9543" y="315468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3.8 yıl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359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72503" y="315468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845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21143" y="315468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61207" y="3447288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9778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Akciğer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728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9463" y="3483864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334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129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9543" y="3483864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3.5 yıl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359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72503" y="3483864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845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21143" y="3483864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61207" y="3776472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9778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İskelet Kası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728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9463" y="381304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289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129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9543" y="381304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3.2 yıl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359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72503" y="381304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2845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21143" y="381304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Muscle clock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61207" y="4105656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9778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Periferik Kan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2728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9463" y="4142232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353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129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949543" y="414223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3.6 yıl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7359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72503" y="414223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2845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21143" y="414223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 (2013)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61207" y="4434840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97783" y="447141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Tükürük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7288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9463" y="447141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340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1296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49543" y="447141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4.1 yıl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359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72503" y="447141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28456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21143" y="447141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Bocklandt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61207" y="4764024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97783" y="480060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Deri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27288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09463" y="480060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315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91296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949543" y="480060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4.5 yıl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73592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772503" y="480060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28456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21143" y="480060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Skin clock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61207" y="5093208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97783" y="512978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Adipoz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27288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09463" y="5129784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328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91296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949543" y="5129784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3.9 yıl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73592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772503" y="5129784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28456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21143" y="5129784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Adipose clock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POLİSUBSTANS KOMBİNASYONLARI: RİSK MATRİSİ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1127" y="1143000"/>
            <a:ext cx="6949440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21127" y="1143000"/>
            <a:ext cx="694944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7703" y="117957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KOMBİNASYON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226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SOKAK ADI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86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SİNERJİ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02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682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ÖLÜM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417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834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MEKANİZMA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1127" y="1472184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7703" y="150876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Fent+Heroin+Carfent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156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226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Grey Death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7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386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4.2x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02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682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17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834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Resp. depresyon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21127" y="1801368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7703" y="1837943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Fentanil+Heroin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56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5226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Purple Dope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7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86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3.5x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102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682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417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834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 toksisitesi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21127" y="2130552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7703" y="216712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Kokain+Heroin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156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5226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Speedball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7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2386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102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682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417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834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KV kolaps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21127" y="2459736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7703" y="249631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Benzodiazepin+Opioid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156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5226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7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2386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102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682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417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834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Resp. depresyon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21127" y="2788920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57703" y="282549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Alkol+Opioid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156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5226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386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102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4682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417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834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CNS depresyon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21127" y="3118104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7703" y="315468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MDMA+Amfetamin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156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52263" y="315468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872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23863" y="315468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2.4x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102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4682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417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834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Hipertermi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21127" y="3447288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57703" y="3483864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Kokain+Alkol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156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852263" y="3483864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Cocaethylene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872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23863" y="3483864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1.9x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102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6823" y="3483864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12%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417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7834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Hepatotoksisite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21127" y="3776472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57703" y="381304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MDMA+LSD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156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52263" y="381304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Candy Flip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872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23863" y="381304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1.8x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102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46823" y="381304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417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7834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Serotonin send.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" y="433425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257 kombinasyon | SF = Gözlenen/Beklenen etki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GWAS/EWAS VERİTABANI ENTEGRASYONU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5447" y="1143000"/>
            <a:ext cx="6400800" cy="329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5447" y="1143000"/>
            <a:ext cx="64008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202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VERİTABANI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082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3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962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32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978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ENTEGRASYON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5447" y="147218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202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GWAS Catalog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082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SNP-trait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962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550,000+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2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978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5447" y="180136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3202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EWAS Catalog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242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082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CpG-trait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962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1,200,000+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32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978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Lokal kopya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5447" y="2130552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202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PharmGKB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242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082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Farmakogenomik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53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962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45,000+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332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978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REST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95447" y="2459736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3202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CPIC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242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6082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Klinik PGx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530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962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450+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32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9783" y="249631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Manuel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95447" y="2788920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202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 (NCBI)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242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6082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 ekspresyon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530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962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4,000,000+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332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9783" y="282549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GEOquery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5447" y="311810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202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1000 Genomes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242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6082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Popülasyon genetiği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530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962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2,504 birey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332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9783" y="315468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VCF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95447" y="344728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3202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gnomAD v4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242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6082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Varyant frekans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530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962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807,162 birey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332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9783" y="3483864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REST API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95447" y="3776472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3202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UK Biobank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242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6082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Biyobanka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530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962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500,000 birey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332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9783" y="381304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Özet istat.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95447" y="4105656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3202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TOPMed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242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6082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WGS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530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89623" y="414223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180,000+ birey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332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69783" y="414223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Özet istat.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POLİGENİK RİSK SKORU: 6 BAĞIMLILIK TRAİTİ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1207" y="1143000"/>
            <a:ext cx="566928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61207" y="1143000"/>
            <a:ext cx="566928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7783" y="117957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TRAİT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6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7522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SNP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6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183" y="117957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h²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016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826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GWAS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89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54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1207" y="1472184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7783" y="150876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 Kullanım Boz.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86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522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1.2M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16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8183" y="150876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016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826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435,563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89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554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61207" y="1801368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7783" y="1837943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Nikotin Bağımlılığı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386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7522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980K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16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8183" y="1837943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016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826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1,232,091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989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554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0.68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1207" y="2130552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7783" y="216712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Esrar Kullanımı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386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7522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850K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16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8183" y="216712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16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826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184,765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989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3554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1207" y="2459736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7783" y="2496312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 Kullanım Boz.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386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7522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720K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616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8183" y="2496312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016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826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82,707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989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3554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61207" y="2788920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7783" y="282549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Genel Madde Kullanımı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386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7522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1.1M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616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8183" y="282549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0.44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016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826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1,025,550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989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3554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61207" y="3118104"/>
            <a:ext cx="5669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7783" y="315468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Risk Alma Davranışı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386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75223" y="315468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890K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616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8183" y="315468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016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826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466,571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989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3554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367588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GWAS-validated weights | LD-pruning | Ancestry-corrected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MAKİNE ÖĞRENMESİ ENSEMBLE MODELİ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5447" y="1143000"/>
            <a:ext cx="6400800" cy="164591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5447" y="1143000"/>
            <a:ext cx="64008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202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71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370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AĞIRLIK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215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810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73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394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RMSE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2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978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4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130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5447" y="147218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202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Random Forest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71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4370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215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810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2.4 yıl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273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394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3.1 yıl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2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978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64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130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5447" y="180136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202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XGBoost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71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4370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0.45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215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810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2.0 yıl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273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6394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2.6 yıl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32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978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64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130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5447" y="2130552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3202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ElasticNet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071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4370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215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810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 yıl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273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6394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3.5 yıl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332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978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64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0130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5447" y="2459736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202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ENSEMBLE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71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4370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215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810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2.1 yıl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273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6394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 yıl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332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978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64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0130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30175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10-fold CV | GridSearchCV | Top 20 CpG = %65 varyans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BLOCKCHAIN DENETİM İZİ: SHA-256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BLOCK YAPISI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struct Block {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timestamp: ISO 8601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sample_id: UUID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analysis_type: string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parameters: JSON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result_hash: SHA-256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prev_hash: SHA-256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nonce: uint64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Hash[n] = SHA256(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prev_hash || timestamp || data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ADLİ GEÇERLİLİK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NIST FIPS 180-4 (SHA-256):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256-bit message digest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Collision: O(2¹²⁸)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Preimage: O(2²⁵⁶)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ÖZELLİKLER: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Tamper-evident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Immutable kayıt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Zaman damgası (RFC 3161)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STANDART: Daubert/Frye uyumlu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POSTMORTEM: PMI DÜZELTME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1143000"/>
            <a:ext cx="5212079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89807" y="1143000"/>
            <a:ext cx="5212079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6383" y="117957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PMI (saat)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85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10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0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662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DÜZELTME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1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830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GÜVENİLİRLİK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89807" y="1472184"/>
            <a:ext cx="521207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6383" y="150876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0-12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85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510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662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2.0 yıl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102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×1.02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1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830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89807" y="1801368"/>
            <a:ext cx="521207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6383" y="1837943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12-24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785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510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0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662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2.3 yıl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44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102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×1.05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21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830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89807" y="2130552"/>
            <a:ext cx="521207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6383" y="2167128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24-48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85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510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&gt;0.95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10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662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2.5 yıl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44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102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×1.10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21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830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89807" y="2459736"/>
            <a:ext cx="521207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6383" y="2496312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48-72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785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510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&gt;0.85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100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4662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4.2 yıl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44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102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×1.25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21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5830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89807" y="2788920"/>
            <a:ext cx="521207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26383" y="282549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72-120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785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510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&gt;0.75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100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4662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5.5 yıl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244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102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×1.40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21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5830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Düşük-Orta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89807" y="3118104"/>
            <a:ext cx="521207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26383" y="315468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120-168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785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510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&gt;0.70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100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4662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6.8 yıl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244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6102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×1.60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21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5830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367588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DNAmAge_corr = DNAmAge_raw × Faktör - f(Sıcaklık, Doku)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KLİNİK KARAR DESTEK: RİSK STRATİFİKASYONU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9687" y="1143000"/>
            <a:ext cx="7132320" cy="19751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9687" y="1143000"/>
            <a:ext cx="71323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626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RİSK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1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786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EAA (yıl)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643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90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DunedinPACE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16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8183" y="1179576"/>
            <a:ext cx="3127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KLİNİK AKSİYON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9687" y="1472184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626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Minimal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1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786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 +1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643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90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 1.0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16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8183" y="1508760"/>
            <a:ext cx="3127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Rutin takip, yıllık değerlendirme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9687" y="1801368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626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01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786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+1 ≤ EAA &lt; +3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643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90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1.0-1.1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6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8183" y="1837943"/>
            <a:ext cx="3127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Yaşam tarzı modifikasyonu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29687" y="2130552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626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01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786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+3 ≤ EAA &lt; +5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643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090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1.1-1.2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616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8183" y="2167128"/>
            <a:ext cx="3127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Aktif izlem, 6 aylık kontrol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29687" y="2459736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626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01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7863" y="249631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+5 ≤ EAA &lt; +8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643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0090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1.2-1.3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16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8183" y="2496312"/>
            <a:ext cx="3127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Yoğun tedavi, 3 aylık kontrol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29687" y="2788920"/>
            <a:ext cx="71323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626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01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7863" y="282549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≥ +8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643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0090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 1.3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616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8183" y="2825496"/>
            <a:ext cx="3127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Acil müdahale, multidisipliner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334670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⚠️ Bu araç klinik değerlendirme yerini almaz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MALİYET-ETKİNLİK: %97.4 TASARRUF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5447" y="1143000"/>
            <a:ext cx="640080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5447" y="1143000"/>
            <a:ext cx="64008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202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YÖNTEM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082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WGBS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86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522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Array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3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62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Analiz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45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114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89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554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SÜRE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5447" y="147218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202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Geleneksel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42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082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$2,500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386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522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$400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962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845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114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$3,100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89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554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2-4 hafta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5447" y="180136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202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EpiClock Panel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242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082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7522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53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962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45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2114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89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554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24 saat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5447" y="2130552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3202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TASARRUF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242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6082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-$2,500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386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7522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-$320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53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962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-$200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845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2114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-$3,020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989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3554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13-27 gün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268833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1,000 örnek tasarruf: $3,020,000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GEN VERİTABANI: 2,800+ GEN, 14 SİSTEM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5407" y="1143000"/>
            <a:ext cx="7040880" cy="42793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75407" y="1143000"/>
            <a:ext cx="704088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198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SİSTEM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42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783" y="117957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4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863" y="1179576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ANAHTAR GENLER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5407" y="1472184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198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Dopaminerjik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42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0783" y="150876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4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863" y="1508760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DRD1-5, DAT, TH, DDC, COMT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75407" y="1801368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1198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Serotonerjik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42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0783" y="1837943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4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0863" y="1837943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HTR1A-7, SERT, TPH1/2, MAOA/B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5407" y="2130552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198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Opioiderjik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42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0783" y="216712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4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80863" y="2167128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OPRM1, OPRK1, OPRD1, PDYN, PENK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75407" y="2459736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1198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GABAerjik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42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0783" y="2496312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4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80863" y="2496312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GABRA1-6, GABRB1-3, GAD1/2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75407" y="2788920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198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Glutamaterjik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42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0783" y="282549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4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80863" y="2825496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GRIN1-3, GRM1-8, SLC1A1-3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75407" y="3118104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1198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Kolinerjik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42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40783" y="315468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134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442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80863" y="3154680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CHRNA1-10, CHRNB1-4, CHAT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75407" y="3447288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1198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Endokanabinoid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042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40783" y="3483864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442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80863" y="3483864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CNR1, CNR2, FAAH, MGLL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75407" y="3776472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1198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HPA Stres Aksı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042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40783" y="381304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167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442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80863" y="3813048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CRH, CRHR1/2, NR3C1, FKBP5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75407" y="4105656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1198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Nöroplastisite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042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40783" y="4142232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234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442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80863" y="4142232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BDNF, NTRK2, CREB1, ARC, FOS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75407" y="4434840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11983" y="447141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Epigenetik Reg.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0420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40783" y="447141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178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4428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80863" y="4471416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DNMT1/3A/3B, TET1-3, HDAC1-11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75407" y="4764024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11983" y="480060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CYP450 Metabolizma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0420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40783" y="480060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4428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80863" y="4800600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CYP1A2, 2B6, 2C9, 2C19, 2D6, 3A4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75407" y="5093208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11983" y="512978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Diğer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0420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40783" y="5129784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688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4428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80863" y="5129784"/>
            <a:ext cx="44988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İnflamatuar, Oksidatif stres vb.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ÇALIŞMA SINIRLARI VE LİMİTASYONLAR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METODOLOJİK SINIRLAR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1. SİMÜLE KATSAYILAR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Gerçek epigenetik saat katsayıları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UCSD lisansı altındadır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Prototip validasyon amaçlı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2. POPÜLASYON TEMSİLİ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Çoğunlukla Avrupa kökenli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Trans-etnik validasyon gerekli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3. TEKNİK VARYASYON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Laboratuvar protokol farklılıkları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Batch effect düzeltme gerekliliği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YORUMLAMA SINIRLARI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4. NEDENSELLİK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Korelasyon ≠ Nedensellik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Mendelian randomizasyon planlanıyor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5. BİREYSEL VARYASYON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Genetik arka plan farklılıkları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 Çevresel faktör etkileşimleri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⚠️ PROTOTIP UYARISI: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Klinik karar için tek başına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kullanılmamalıdır.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UCSD lisansı gereklidir.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GELECEK ARAŞTIRMA YÖNELİMLERİ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KISA VADELİ (6-12 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UCSD lisans anlaşması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Gerçek saat katsayıları için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Prospektif pilot validasyon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n=200, Türkiye popülasyonu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Türkiye referans veritabanı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  başlangıç çalışması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REST API geliştirme (v1.0)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Mobil uygulama (iOS/Android)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ORTA-UZUN VADELİ (1-5+ yıl)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ORTA VADELİ (1-3 yıl):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100,000+ profil veritabanı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5 yıllık longitudinal kohort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Tam multi-omics platform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CE-IVD sertifikasyon hazırlığı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UZUN VADELİ (3-5+ yıl):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FDA 510(k) / CE-IVD onay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Klinik lab entegrasyonu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• Uluslararası RCT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VİZYON: Kişiselleştirilmiş tıp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TEMEL REFERANSLAR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EPİGENETİK SAATLER (UCSD)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Horvath S (2013)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DNA methylation age of human tissues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Genome Biology 14:R115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Hannum G et al (2013)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Genome-wide methylation profiles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Mol Cell 49:359-367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Levine ME et al (2018)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PhenoAge measure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Aging 10:573-591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Lu AT et al (2019)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GrimAge, UCSD License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Aging 11:303-327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BAĞIMLILIK &amp; DİĞER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Belsky DW et al (2022)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DunedinPACE biomarker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eLife 11:e73420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Zillich L et al (2024)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Addiction EWAS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Mol Psychiatry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LİSANS BİLGİSİ: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University of California,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San Diego (UCSD)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innovation@ucsd.edu</a:t>
            </a: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E283C"/>
                </a:solidFill>
                <a:latin typeface="Abadi"/>
              </a:defRPr>
            </a:pPr>
            <a:r>
              <a:t>github.com/horvath-lab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badi"/>
              </a:defRPr>
            </a:pPr>
            <a: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D2F0"/>
                </a:solidFill>
                <a:latin typeface="Abadi"/>
              </a:defRPr>
            </a:pPr>
            <a:r>
              <a:t>Thank You | Gracias | Merci | 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6B4D2"/>
                </a:solidFill>
                <a:latin typeface="Abadi"/>
              </a:defRPr>
            </a:pPr>
            <a:r>
              <a:t>Arş. Gör. Dr. Nurcan Denli Bayır</a:t>
            </a:r>
            <a:br/>
            <a:r>
              <a:t>Adli Tıp Anabilim Dalı</a:t>
            </a:r>
            <a:br/>
            <a:br/>
            <a:r>
              <a:t>EpiClock v4.0 | UCSD Licensed | 36,170 Yapısal Varyant</a:t>
            </a:r>
            <a:br/>
            <a:r>
              <a:t>github.com/mortemdulcem/epi-clock-DNA-mtl-prototype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