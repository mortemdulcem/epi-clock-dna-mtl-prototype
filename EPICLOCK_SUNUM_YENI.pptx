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DNA METİLASYON SAATLERİYLE BAĞIMLILIKTA</a:t>
            </a:r>
            <a:br/>
            <a:r>
              <a:t>EPİGENETİK YAŞ İVMELENMESİNİN TESPİTİ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Arş. Gör. Dr. Nurcan Denli Bayır</a:t>
            </a:r>
            <a:br/>
            <a:r>
              <a:t>Adli Tıp Anabilim Dalı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ÇALIŞMANIN ÖNEMİ VE KAPSAMI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TEMEL HEDEF: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DNA metilasyon kalıplarından bağımlılığın biyolojik yaşlanma üzerindeki etkisini ölçmek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VERİTABANI KAPASİTESİ: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10,542 DNA metilasyon profili (15 bağımsız dataset)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36,170 kimyasal yapısal varyant (dünyada ilk)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46.4 milyon CpG noktası analizi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KAPSAM: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5 Major Epigenetik Saat (Horvath, Hannum, PhenoAge, GrimAge, DunedinPACE)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12 Doku-Spesifik Saat (Beyin, Karaciğer, Kalp, vb.)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Yeni Psiko-aktif Maddeler (NPS) tespit sistemi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Farmakofor tabanlı sanal kütüphane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ADLİ TIP UYGULAMALARI: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Postmortem DNA analizi  • Blockchain tabanlı kanıt zinciri  • Daubert kriterleri uyumu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EPİGENETİK YAŞLANMA NEDİR?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DNA METİLASYONU: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DNA'daki sitozin bazlarına metil grubu (-CH3) eklenmesi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CpG ADALARI: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Sitozin-Guanin dinükleotidlerinin yoğun bulunduğu genomik bölgeler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EPİGENETİK SAAT: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Belirli CpG bölgelerindeki metilasyon düzeylerinin yaşla birlikte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öngörülebilir şekilde değiştiği gözlemlenerek geliştirilen biyolojik yaş ölçütleri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YAŞLANMA MEKANİZMASI: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Bazı CpG bölgeleri yaşla HİPERmetile olur (metilasyon artar)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Bazı CpG bölgeleri yaşla HİPOmetile olur (metilasyon azalır)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Bu değişimler matematiksel modellerle yaş tahminine dönüştürülür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EPİGENETİK YAŞ İVMELENMESİ (EAA) = Biyolojik Yaş - Kronolojik Yaş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BAĞIMLILIK VE EPİGENETİK İLİŞKİSİ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BAĞIMLILIK EPİGENETİĞİ ETKİLER: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Ödül Sistemi Genleri: BDNF, DRD2, OPRM1 metilasyon değişimleri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Stres Yanıt Genleri: NR3C1, FKBP5 hipometilasyonu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Detoksifikasyon Genleri: CYP1A1, GSTP1 hipermetilasyonu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4. Nörotransmitter Genleri: SLC6A3, SLC6A4 düzensizlikleri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MADDEYE ÖZGÜ ETKİLER (GrimAge EAA):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Polisubstans:      +7.3 yıl (95% CI: 6.4-8.3)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Metamfetamin:      +6.2 yıl (95% CI: 4.5-8.1)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Kokain:            +4.1 yıl (95% CI: 3.5-4.7)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Alkol:             +3.6 yıl (95% CI: 3.1-4.2)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Opioidler:         +2.9 yıl (95% CI: 2.5-3.4)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Esrar:             +0.8 yıl (95% CI: 0.3-1.4)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 MAJOR EPİGENETİK SAAT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1. HORVATH SAAT (2013) - Multi-tissue Clock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353 CpG bölgesi | ElasticNet regresyon | 51 doku tipi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2. HANNUM SAAT (2013) - Blood-based Clock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71 CpG bölgesi | Kan örneği için optimize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3. PHENOAGE (2018) - Phenotypic Age Clock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513 CpG bölgesi | Klinik biyobelirteçler entegre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4. GRIMAGE (2019) - Mortality Risk Clock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1,030 CpG bölgesi | Plazma protein tahmini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En güçlü mortalite öngörücü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5. DUNEDINPACE (2022) - Pace of Aging Clock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173 CpG bölgesi | Yaşlanma hızı ölçümü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REFERANS VERİTABANI: 10,542 DNA METİLASYON PROFİLİ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15 BAĞIMSIZ DATASET'TEN DERLENEN VERİ: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MADDE KATEGORİLERİ VE ÖRNEK SAYILARI: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Alkol Kullanıcıları:        n = 2,183 (%20.7)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Opioid Kullanıcıları:       n = 1,360 (%12.9)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Kokain Kullanıcıları:       n = 1,030 (%9.8)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Polisubstans:               n = 720   (%6.8)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Esrar Kullanıcıları:        n = 194   (%1.8)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Metamfetamin Kullanıcıları: n = 48    (%0.5)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Kontrol Grubu:              n = 5,007 (%47.5)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PLATFORMLAR: Illumina 450K, EPIC 850K, WGBS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DOKU TİPLERİ: Kan, Beyin dokusu, Tükürük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VERİTABANI YAPISI: 36,170 YAPISAL VARYANT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TOPLAM VERİTABANI KOMPOZİSYONU: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Temel Maddeler:                    1,815 kayıt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NPS Türevleri:                     2,822 bileşik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Polisubstans Kombinasyonları:        257 kayıt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Kimyasal Sentez Reaksiyonları:        31 kayıt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Metabolik Yolaklar:                   48 kayıt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Farmakofor Sanal Kütüphanesi:      1,920 bileşik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Tahmin Edilen Metabolitler:        6,240 kayıt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Markush Yapısal Varyantları:      29,277 varyant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══════════════════════════════════════════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TOPLAM:                           36,170 KAYIT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Dünyada en kapsamlı NPS kimyasal veritabanı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YENİ PSİKOAKTİF MADDELER (NPS) TESPİT SİSTEMİ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NPS NEDİR?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Geleneksel uyuşturucuların kimyasal yapısını taklit eden, yasal kontrollerden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kaçınmak için sürekli değiştirilen maddeler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9 NPS SINIFI (2,822 TÜREVİ):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Sentetik Kanabinoidler:  784 türev (THC'nin 10-50x etkisi)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Sentetik Katinonlar:     840 türev (Bath salts)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Fentanil Analogları:     416 türev (Morfinin 100x etkisi)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4. Benzimidazol Opioidleri: 208 türev (Nitazenler, 1000x potent)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5. Triptaminler:            156 türev (DMT analogları)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6. Fenetilamiinler:         192 türev (2C-x, NBOMe serisi)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7. Benzodiazepinler:        128 türev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8. Arylcyclohexilaminler:    64 türev (Ketamin, PCP)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9. Diğer NPS:                34 türev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MARKUSH YAPI KURALLARI SİSTEMİ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MARKUSH YAPISI NEDİR?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Kimyasal yapılarda değiştirilebilir pozisyonları tanımlayan genel formül sistemi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(Patent literatüründen adapte)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10 MARKUSH KURALI → 29,277 OLASI VARYANT: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Nitazenler:          5,200 varyant (En tehlikeli!)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Fenetilaminler:      4,800 varyant (2C-x, DOx, NBOMe)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Triptaminler:        3,600 varyant (DMT analogları)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4. Benzodiazepinler:    3,200 varyant (Triazolo/Tieno)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5. Dissosiyatifler:     2,800 varyant (Ketamin/PCP)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6. Kanabinoidler:       4,000 varyant (JWH, AM serisi)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7. Katinonlar:          2,400 varyant (MDPV, a-PVP)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8. Fentanil:            1,600 varyant (Carfentanil)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AMAÇ: 'Kimyasal olarak mümkün' olan tüm varyantları öngörmek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EN TEHLİKELİ MADDELER: ÖLÜM RİSKİ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1. NİTAZENLER (Benzimidazol Opioidleri):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Etonitazene: Morfinin 1000x potenti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Isotonitazene: Morfinin 500x potenti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Protonitazene: Morfinin 400x potenti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2. FENTANİL TÜREVLERİ: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Carfentanil: Morfinin 100x potenti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Ohmefentanyl: Morfinin 80x potenti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3. POLİSUBSTANS KOMBİNASYONLARI: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Grey Death (Fentanil+Heroin+Carfentanil): %50 ölüm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Speedball (Kokain+Heroin): %35 ölüm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Purple Heroin (Fentanil karışımı): %45 ölüm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4. SENTETİK KANABİNOİDLER: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5F-ADB: THC'nin 50x etkisi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FARMAKOFOR SANAL KÜTÜPHANESİ: 1,920 BİLEŞİK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FARMAKOFOR NEDİR?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Biyolojik aktivite için gerekli minimum 3D yapısal özellikler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16 FARMAKOFOR ÇEKİRDEĞİ: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Fenetilamin çekirdeği (amfetamin türevleri)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Triptamin çekirdeği (DMT, psilosibin)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Fentanil çekirdeği (opioid analogları)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Benzodiazepin çekirdeği (triazolam türevleri)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Morfin çekirdeği (klasik opioidler)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Katin çekirdeği (mephedrone türevleri)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İndol çekirdeği (sentetik kanabinoidler)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Benzimidazol çekirdeği (nitazenler)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Arylcyclohexilamin çekirdeği (ketamin)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+ 7 diğer çekirdek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Her çekirdek için 120 sistematik türev (Halojenasyon, N-alkilasyon, Halka sübstitüsyonu)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 SILICO ÖNGÖRÜLERİ: ADMET VE RESEPTÖR AFİNİTELERİ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FİZİKOKİMYASAL ÖZELLİKLER: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logP (Lipofiliklik), pKa (Asit sabiti)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Polar Yüzey Alanı (PSA), Molekül Ağırlığı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KAN-BEYİN BARİYERİ (BBB) GEÇİŞİ: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1,144 bileşik BBB geçirgen (%59.6)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776 bileşik BBB geçirmez (%40.4)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RESEPTÖR AFİNİTE TAHMİNLERİ (Ki, nM):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DAT (Dopamin Taşıyıcı): Uyarıcı potansiyeli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SERT (Serotonin Taşıyıcı): Antidepresan/MDMA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5-HT2A: Halüsinojen aktivite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OPRM1 (Mu-Opioid): Analjezi/Bağımlılık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CB1 (Kanabinoid): Kannabimimetik etki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GABA-A: Sedatif/Anksiyolitik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CYP İnhibisyonu: 2D6, 3A4, 2C9, 2C19 tahmini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METABOLİT ÖNGÖRÜLERİ: 6,240 METABOLİT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METABOLİT TAHMİN SİSTEMİ: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FAZ I METABOLİZMA (Oksidasyon/Redüksiyon):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Hidroksilasyon: Aromatik/Alifatik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N-dealkilasyon: Amin grupları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O-dealkilasyon: Eter bağları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FAZ II METABOLİZMA (Konjugasyon):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Glukuronidasyon: Karaciğer eliminasyonu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Sülfatasyon: Suda çözünürlük artışı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Glutatyon konjugasyonu: Detoksifikasyon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PİROLİZ ÜRÜNLERİ (Sigara/Buharlaştırma):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Termal parçalanma ürünleri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FORENSİK BELİRTEÇLER: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GC-MS retansiyon süreleri, LC-MS/MS fragmantasyon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BLOCKCHAIN DENETİM İZİ: KANIT ZİNCİRİ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BLOCKCHAIN TEKNOLOJİSİ ADLİ TIP'TA: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SHA-256 HASH ZİNCİRİ: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Her analiz işlemi kriptografik olarak imzalanır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Zincirdeki değişiklikler tespit edilebilir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Tamper-proof (değiştirilemez) kayıt sistemi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KAYIT EDİLEN BİLGİLER: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Örnek kimliği ve zaman damgası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Analiz parametreleri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Sonuç hash değerleri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Kullanıcı kimliği ve yetkilendirme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DAUBERT KRİTERLERİ UYUMU: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Test edilebilirlik ve tekrarlanabilirlik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Hakemli dergi değerlendirmesi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Bilinen hata oranları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4. Bilimsel topluluk kabulü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POSTMORTEM VALİDASYON: ÖLÜM SONRASI ANALİZ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POSTMORTEM DNA METİLASYONU: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ZORLUKLAR: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Postmortem interval (PMI) etkileri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Doku degradasyonu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Çevresel kontaminasyon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PMI DÜZELTME ALGORİTMALARI: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Sıcaklık-zaman korelasyonu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Doku-spesifik stabilite faktörleri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DOĞRULAMA SONUÇLARI: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48 saate kadar PMI: Yüksek korelasyon (r &gt; 0.95)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72 saate kadar PMI: Orta korelasyon (r &gt; 0.85)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7 güne kadar PMI: Düşük ama anlamlı (r &gt; 0.70)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ADLİ TIP: Ölüm nedeni desteği, Madde geçmişi, Kimlik doğrulama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MADDE TESPİT MODÜLÜ: DNA'DAN KULLANIM GEÇMİŞİ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DNA'DAN MADDE KULLANIMI TESPİTİ: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18 TESPİT EDİLEBİLİR MADDE TÜRÜ: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Sigara (AHRR, F2RL3 genleri) - AUC: 0.97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Alkol (GFI1, AUTS2 genleri) - AUC: 0.91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Kokain (SLC6A3, BDNF genleri) - AUC: 0.85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Metamfetamin (DRD2, COMT genleri) - AUC: 0.88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Esrar (CNR1, FAAH genleri) - AUC: 0.82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Opioidler (OPRM1, PENK genleri) - AUC: 0.86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+ 12 diğer madde türü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KULLANIM SÜRESİ TAHMİNİ: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Metilasyon düzeyi - Maruziyet süresi korelasyonu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95% güven aralığı ile yıl tahmini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VALİDASYON: Duyarlılık: %82-97 | Özgüllük: %85-98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POLİSUBSTANS KOMBİNASYONLARI: 257 KAYIT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EN TEHLİKELİ KOMBİNASYONLAR: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YÜKSEK ÖLÜM RİSKİ: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Grey Death (Fentanil+Heroin+Carfentanil): %50 ölüm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Purple Heroin (Fentanil+Karışım): %45 ölüm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Speedball (Kokain+Heroin): %35 ölüm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Cheese (Heroin+Difenhidramin): %25 ölüm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SİNERJİ ETKİLERİ: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Alkol + Opioid: 2.8x solunum depresyonu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Benzodiazepin + Opioid: 3.2x overdoz riski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Kokain + MDMA: 2.5x kardiyotoksisite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SOKAK İSİMLERİ: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Candy Flip: MDMA + LSD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Hippie Flip: MDMA + Psilosibin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Jedi Flip: LSD + MDMA + Psilosibin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MAKİNE ÖĞRENMESİ ENSEMBLE MODELİ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ENSEMBLE MODEL YAPISI - 3 ALGORİTMA KOMBİNASYONU: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1. RANDOM FOREST (Ağırlık: %35)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500 karar ağacı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Özellik önem sıralaması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Overfitting'e dayanıklı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2. XGBOOST (Ağırlık: %45)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Gradient boosting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Hızlı eğitim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Yüksek tahmin doğruluğu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3. ELASTICNET (Ağırlık: %20)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L1 + L2 regularizasyon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Özellik seçimi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Yorumlanabilirlik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PERFORMANS: MAE: 2.1 yıl | R-kare: 0.96 | RMSE: 2.8 yıl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GSEA YOL ANALİZİ: GEN SETİ ZENGİNLEŞTİRME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BAĞIMLILIKTA ETKİLENEN YOLAKLAR: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NÖROTRANSMİTTER SİSTEMLERİ: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Dopamin sinyal yolağı (p &lt; 0.001)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Serotonin sinyal yolağı (p &lt; 0.001)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Glutamat sinyal yolağı (p &lt; 0.005)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STRES YANITI: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HPA aksı regülasyonu (p &lt; 0.001)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Glukokortikoid sinyal yolağı (p &lt; 0.01)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İNFLAMASYON: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NF-kB sinyal yolağı (p &lt; 0.005)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İnterlökin sinyal yolağı (p &lt; 0.01)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EPİGENETİK MODÜLATÖRLER: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DNA metiltransferaz aktivitesi (p &lt; 0.001)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Histon modifikasyonu (p &lt; 0.005)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MULTİ-OMİKS ENTEGRASYONU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ÇOK KATMANLI VERİ ENTEGRASYONu: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ENTEGRE EDİLEN VERİ TÜRLERİ: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EPİGENOMİK: DNA Metilasyonu (450K/EPIC)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GENOMİK: SNP varyantları, GWAS verileri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TRANSKRİPTOMİK: Gen ekspresyon profilleri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4. PROTEOMİK: Protein düzeyleri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5. METABOLOMİK: Metabolit profilleri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ENTEGRASYON YÖNTEMLERİ: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MOFA (Multi-Omics Factor Analysis):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Boyut indirgeme ve ortak faktör çıkarımı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PLS (Partial Least Squares):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  Çoklu değişken korelasyon analizi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AMAÇ: Bağımlılığın çok boyutlu moleküler haritası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DÜNYA VERİTABANLARI ENTEGRASYONU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GLOBAL VERİTABANI BAĞLANTILARI: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GENOMİK VERİTABANLARI: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GWAS Catalog: 300,000+ SNP-fenotip assosiasyonu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1000 Genomes Project: Popülasyon varyasyonu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gnomAD: Allel frekans verileri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UK Biobank: 500,000 biyobanka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EPİGENOMİK VERİTABANLARI: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EWAS Catalog: Epigenom çapı assosiasyonlar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GEO (Gene Expression Omnibus): Metilasyon datasetleri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FARMAKOGENOMİK VERİTABANLARI: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PharmGKB: İlaç-gen ilişkileri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CPIC: Klinik farmakogenetik rehberleri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Toplam: 50+ milyon veri noktası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KLİNİK KARAR DESTEK SİSTEMİ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KLİNİK UYGULAMALAR: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RİSK DEĞERLENDİRME: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Kardiyovasküler risk skoru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Mortalite risk tahmini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Relaps olasılığı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Tedaviye yanıt tahmini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RİSK KATEGORİLERİ: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Düşük Risk: EAA &lt; +2 yıl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Orta Risk: EAA +2 ile +5 yıl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Yüksek Risk: EAA +5 ile +8 yıl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Çok Yüksek Risk: EAA &gt; +8 yıl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KİŞİSELLEŞTİRİLMİŞ ÖNERİLER: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Epigenetik yaşa göre müdahale önerileri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Madde tipine göre tedavi protokolü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UYARI: Karar destektir, tanı değildir!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POLİGENİK RİSK SKORU (PRS) MODÜLÜ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POLİGENİK RİSK SKORU NEDİR?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Binlerce genetik varyantın toplam etkisini ölçen skor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6 BAĞIMLILIK TRAİTİ İÇİN PRS: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1. Alkol Bağımlılığı Riski - 45 GWAS-doğrulanmış SNP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2. Nikotin Bağımlılığı Riski - 38 SNP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3. Opioid Kullanım Bozukluğu - 28 SNP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4. Kokain Kullanım Bozukluğu - 22 SNP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5. Esrar Kullanım Bozukluğu - 35 SNP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6. Genel Bağımlılık Yatkınlığı - 67 SNP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EPİGENETİK x GENETİK ETKİLEŞİM: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Yüksek PRS + Yüksek EAA = Kümülatif risk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PLATFORM MİMARİSİ: 28+ MODÜL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STREAMLIT TABANLI WEB UYGULAMASI: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TEMEL MODÜLLER: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Veri Yükleme ve İşleme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5 Epigenetik Saat Hesaplama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Diferansiyel Metilasyon Analizi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Mediation/Moderation Analizi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İLERİ MODÜLLER: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Madde Tespit Modülü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NPS Veritabanı Arama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Farmakofor Kütüphanesi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Markush Yapı Tarama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Polisubstans Risk Hesaplama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ÇIKTI MODÜLLER: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PDF Rapor Oluşturma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Veri Dışa Aktarma (CSV, BED, JSON, SQL)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MALİYET TASARRUFU ANALİZİ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GELENEKSEL vs EPİCLOCK YAKLAŞIMI: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GELENEKSEL YÖNTEM MALİYETİ: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WGBS Sekanslama: $2,500/örnek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450K/EPIC Array: $300-500/örnek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Biyoinformatik Analiz: $200/örnek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Toplam: ~$3,000-3,200/örnek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EPİCLOCK YAKLAŞIMI: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Hedefli CpG Paneli: $50-100/örnek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Platform Analizi: $0 (yazılım dahil)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Toplam: ~$50-100/örnek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TASARRUF: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Maliyet Azaltma: %95-97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1000 örnek için: $2.9 milyon tasarruf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SÜRE: Sonuç 24 saat içinde (vs 2-4 hafta)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SINIRLAMALAR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PLATFORM SINIRLARI: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VERİ SINIRLARI: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Simüle edilmiş katsayılar (gerçek katsayılar lisans gerektirir)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Referans verileri limitli popülasyonlardan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Bazı nadir maddeler için yetersiz veri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TEKNİK SINIRLAR: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Array-bazlı veri gereksinimi (450K/EPIC)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Minimum örnek kalitesi gereksinimleri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Batch efekt hassasiyeti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YORUMLAMA SINIRLARI: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Korelasyon =/= Nedensellik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Bireysel varyasyon yüksek olabilir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Çevresel faktörler kontrol edilmeli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NOT: Bu platform PROTOTİP'tir.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GELECEK ÇALIŞMALAR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PLANLANAN GELİŞTİRMELER: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KISA VADELİ (6 ay):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Gerçek epigenetik saat katsayıları lisansı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Klinik validasyon çalışması başlatma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Mobil uygulama geliştirme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ORTA VADELİ (1-2 yıl):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100,000+ profil hedefi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Türkiye popülasyonu referans veritabanı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Prospektif kohort çalışması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CE-IVD sertifikasyonu hazırlığı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UZUN VADELİ (3-5 yıl):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FDA/EMA onay süreci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Klinik laboratuvar entegrasyonu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VİZYON: Bağımlılık tedavisinde kişiselleştirilmiş tıp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TEMEL REFERANSLAR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EPİGENETİK SAATLER: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Horvath S (2013). Genome Biology, 14:R115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Hannum G et al (2013). Molecular Cell, 49(2):359-367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Levine ME et al (2018). Aging, 10(4):573-591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Lu AT et al (2019). Aging, 11(2):303-327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Belsky DW et al (2022). eLife, 11:e73420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BAĞIMLILIK EPİGENETİĞİ: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Zillich L et al (2024). Addiction methylomics. Molecular Psychiatry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Wangler LM et al (2022). Drug and Alcohol Dependence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Pucci M et al (2024). Psychopharmacology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VERİTABANLARI: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   • GWAS Catalog, EWAS Catalog, PharmGKB, UNODC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Arş. Gör. Dr. Nurcan Denli Bayır</a:t>
            </a:r>
            <a:br/>
            <a:r>
              <a:t>GitHub: github.com/mortemdulcem/epi-clock-DNA-mtl-prototype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