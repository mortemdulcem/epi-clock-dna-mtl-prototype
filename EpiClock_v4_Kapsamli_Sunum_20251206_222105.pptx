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EpiClock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DNA Metilasyon Saatleriyle Bagimlilikta Epigenetik Yas Ivmelenmesi:</a:t>
            </a:r>
            <a:br/>
            <a:r>
              <a:t>10,542 Profilik Kapsamli Arastirma</a:t>
            </a:r>
            <a:br/>
            <a:br/>
            <a:r>
              <a:t>Dr. Nurcan Denli Bayir (nrcdnl94)</a:t>
            </a:r>
            <a:br/>
            <a:r>
              <a:t>UNODC Araştirma Platformu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Sunum Icerigi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1: Giris ve Teorik Cerceve (Slayt 3-15)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DNA Metilasyonu Biyolojisi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Epigenetik Saatler ve Biyolojik Yaslanma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Bagimlilik ve Epigenetik Degisiklikler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2: Metodoloji (Slayt 16-28)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Veri Setleri ve Orneklem (n=10,542)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Istatistiksel Analizler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Makine Ogrenmesi Pipeline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3: Arastirma Bulgulari (Slayt 29-60)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Epigenetik Yas Ivmelenmesi Sonuclari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Maddeye Ozgu CpG Imzalari (1,847 CpG)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Mediyasyon ve Moderasyon Analizleri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4: Klinik ve Adli Uygulamalar (Slayt 61-85)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Postmortem Validasyon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Tersine Cevrilebilirlik Kanitlari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Platform Ozellikleri ve GNN Analizi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5: Tartisma ve Sonuc (Slayt 86-100)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GIRIS VE TEORIK CERCEVE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DNA Metilasyonu: Temel Kavramlar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TANIM: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 metilasyonu, sitozin bazlarinin 5' pozisyonuna metil grubu (-CH3) eklenmesiyle olusan kimyasal modifikasyondur (Bird, 2002). Bu modifikasyon, CpG dinukleotidlerinde yogunlasir ve gen ekspresyonunun epigenetik regulasyonunda kritik rol oynar.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BIYOLOJIK ONEMI: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 susturulmesi: Promotor bolgelerde hipermetilasyon transkripsiyon baskilar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Genomik stabilite: Tekrar dizilerin metilasyonu transpozon aktivitesini engeller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X kromozom inaktivasyonu: Disilerde tek X'in susturulmesi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Imprinting: Ebeveyn-spesifik gen ekspresyonu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Gelisimsel programlama: Doku-spesifik gen ekspresyon paternleri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ENZIMLER: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DNMT3A/DNMT3B: De novo metilasyon (yeni metil gruplarinin eklenmesi)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DNMT1: Metilasyon bakimi (replikasyon sonrasi hemimetile DNA'nin metilasyonu)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TET1/TET2/TET3: 5mC'nin 5hmC'ye oksidasyonu (aktif demetilasyon yolagi)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REFERANSLAR: Bird, 2002; Lister et al., 2009; Okano et al., 1999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CpG Adalari ve Genomik Dagilim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CPG ADALARI: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Genomda CpG dinukleotidlerinin beklenenden daha yogun bulundugu bolgelerdir (&gt;200 bp, GC icerigi &gt;%50, observed/expected CpG orani &gt;0.6). Yaklasik 28,000 CpG adasi insan genomunda tanimlanmistir.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GENOMIK DAGILIM: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Promotor CpG adalari: Gen baslangic bolgelerinde, genellikle metillenmemis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body metilasyonu: Aktif transkribe genlerde yuksek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Intergenik bolgeler: Degisken metilasyon, tekrar dizilerde yuksek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Shore/Shelf bolgeleri: CpG adasi kenarlarinda, daha degisken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FONKSIYONEL SONUCLAR: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Promotor hipermetilasyonu → Gen susturulmesi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body hipermetilasyonu → Artan transkripsiyon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Global hipometilasyon → Genomik instabilite, kanser riski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ILLUMINA EPIC ARRAY: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- 850,000+ CpG sitesi kapsami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Enhancer ve regulatuvar bolgelerde genisletilmis kapsam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Cross-reactive problar icin kalite kontrol gereksinimi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Epigenetik Yaslanma: Biyolojik Saat Kavrami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Kronolojik yas ilerledikce, spesifik CpG sitelerinde sistematik metilasyon degisiklikleri meydana gelir. Bu 'epigenetik drift' hem stokastik hem de deterministik bilesenler icerir (Teschendorff et al., 2010).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BIYOLOJIK YASLANMA VS KRONOLOJIK YAS: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Kronolojik yas: Dogumdan itibaren gecen zaman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Biyolojik yas: Organizma durumunu yansitan fizyolojik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yas: DNA metilasyonundan tahmin edilen biyolojik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YAS IVMELENMESI (EAA):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EAA = Epigenetik Yas - Kronolojik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Pozitif EAA: Biyolojik olarak 'daha yasli' → Artan mortalite ve morbidite riski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Negatif EAA: Biyolojik olarak 'daha genc' → Daha iyi saglik sonuclari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KORELASYONLAR: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EAA, all-cause mortalite ile iliskili (HR=1.09 per yil, Marioni et al., 2015)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Kardiyovaskuler hastalik, kanser, Alzheimer riski ile korelasyon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Yasam tarzi faktorleri (obezite, sigara, stres) EAA'yi etkiler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 Major Epigenetik Saat: Karsilastirmali Analiz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Yil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CpG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Doku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Olcum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Pan-tissue (51 doku)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Kronolojik yas tahmini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Hannum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Kronolojik yas tahmini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PhenoAge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Fenotipik yas/mortalite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Mortalite/yasam suresi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DunedinPACE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Yaslanma hizi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N/A (pace)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Horvath Pan-Tissue Epigenetik Saat (2013)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GELISTIRME: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Steve Horvath, 51 farkli doku/hucre tipi ve 8,000'den fazla ornekte ElasticNet regresyon kullanarak 353 CpG sitesini secmistir. Bu saat, doku-bagimsiz kronolojik yas tahmini yapabilmektedir.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MATEMATIKSEL MODEL: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DNAm Age = anti.F(sum(w_i * beta_i) + intercept)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F: Transformasyon fonksiyonu (cocuk vs eriskin farkliligi)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w_i: CpG-spesifik agirliklar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beta_i: Metilasyon beta degerleri (0-1 arasi)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PERFORMANS METRIKLERI: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Median Absolute Error: 3.6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Korelasyon: r = 0.96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- 51 farkli doku/hucre tipinde gecerli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AVANTAJLAR VE LIMITASYONLAR: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+ Doku-bagimsiz, genis uygulama alani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+ Iyi karakterize edilmis, binlerce calismada kullanilmis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Mortalite tahmini icin optimize edilmemis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Kan-spesifik saatlerden daha az hassas (kan icin)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Ikinci Nesil Saatler: PhenoAge ve GrimAge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PHENOAGE (Levine et al., 2018):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- 513 CpG sitesi, Gompertz mortalite modeli ile egitilmis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- 9 klinik biyomarker ile korelasyon: albumin, kreatinin, glukoz, CRP, lenfosit yuzdesi, ortalama hucre hacmi, RDW, ALP, beyaz kure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Kronolojik yastan bagimsiz mortalite tahmini yapar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'Fenotipik yas': Klinik durumu yansitir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GRIMAGE (Lu et al., 2019):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- 1030 CpG sitesi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DNAm-bazli plazma protein surrogatlari: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GDF-15 (growth differentiation factor 15)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PAI-1 (plasminogen activator inhibitor 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ADM (adrenomedullin)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B2M (beta-2 microglobulin)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TIMP-1, Cystatin C, Leptin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Sigara paket-yili dahil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'En iyi mortalite tahmincisi' olarak kabul edilir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REFERANS: Levine et al., 2018 (Aging); Lu et al., 2019 (Aging)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DunedinPACE: Yaslanma Hizi Olcumu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FARKLI YAKLAŞIM: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DunedinPACE, diger saatlerden farkli olarak 'yaslanma hizi' (pace of aging) olcer. 'Ne kadar yaslisin' yerine 'ne kadar hizli yaslaniyorsun' sorusunu yanitlar.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GELISTIRME KOHORTU: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 Multidisciplinary Health and Development Study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- 1972-1973'te Yeni Zelanda'da dogan 1,037 birey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- 45 yillik longitudinal takip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- 19 organ sistemi biyomarkeri (kardiyovaskuler, metabolik, renal, hepatik, immun, periodontal)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METRIK YORUMU: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DunedinPACE = 1.0: Normal yaslanma hizi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DunedinPACE &gt; 1.0: Hizlanmis yaslanma (ornegin 1.2 = %20 daha hizli)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DunedinPACE &lt; 1.0: Yavaslamis yaslanma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AVANTAJLAR: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Mudahale calisnmalarinda degisime duyarli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Genc eriskinde bile yorumlanabilir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Yasam tarzi faktorlerine hassas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REFERANS: Belsky et al., 2022 (eLife)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Madde Bagimliligi ve Epigenetik Degisiklikler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GLOBAL YUKUMLULUK: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Dunya genelinde 296 milyon kisi illicit madde kullanimaktadir (UNODC, 2021). Alkol kullanimina bagli yillik olum: 3 milyon (WHO, 2018). Madde kullanim bozukluklari, ciddi saglik, sosyal ve ekonomik yukluluk olusturmaktadir.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NOROBIYOLOJIK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Bagimlilik, beyin odul sisteminin kronik modifikasyonu ile karakterize bir beyin hastaligidir (Volkow et al., 2016). Mezolimbik dopamin sistemi, prefrontal korteks ve amigdala kritik bolgelerdir.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MEKANIZMALAR: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Odul yolagi genleri: OPRM1, DRD2, DAT1, COMT metilasyon degisiklikleri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Stres yanit genleri: NR3C1, FKBP5 modifikasyonlari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Norotransmitter sentez genleri: TH, TPH2 degisiklikleri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Sinaptik plastisite genleri: BDNF, ARC metilasyonu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HIPOTEZ: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Madde kullanimi, DNA metilasyon paternlerini degistirerek epigenetik yaslanmayi hizlandirir ve bu 'biyolojik yas ivmelenmesi' klinik sonuclarla iliskilidir.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Onceki Arastirmalar: Madde ve Epigenetik Yas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Calisma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Rosen et al., 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Liu et al.,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+3.1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Cheng et al., 2023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+2.9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Monick et al.,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Liang et al., 2020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Schrott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+0.5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Arastirma Boslugu ve Calismanin Amaci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MEVCUT LITERATURUN LIMITASYONLARI: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Kucuk ornek boyutlari (cogu n&lt;500)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 madde kategorisi odakli calismalar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Sinirli epigenetik saat karsilastirmasi (genellikle 1-2 saat)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Mekanistik yolaklar icin yetersiz analiz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Postmortem validasyon eksikligi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CALISMANIN AMACLARI: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Kapsamli kohort: 10,542 DNA metilasyon profili entegrasyonu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Coklu madde kategorisi: Alkol, kokain, opioid, metamfetamin, kannabis, coklu madde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5 epigenetik saat sistematik karsilastirmasi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Maddeye ozgu CpG imzalarinin tanimlanmasi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Fizyolojik mediyasyon yolaklarinin nicellestirilmesi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Psikolojik moderatorlerin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7. Postmortem beyin dokusu validasyonu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HIPOTEZLER: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H1: Madde kullanimi anlamli EAA ile iliskilidir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H2: Farkli maddeler farkli EAA paternleri gosterir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H3: Fizyolojik faktorler bu iliskiyi mediye eder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H4: Psikolojik dayaniklilik etkileri modere eder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Teorik Cerceve: Entegre Etki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KAVRAMSAL MODEL: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Fizyolojik Mediyatorler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(Insulin Direnci: %34)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(HPA Eksen: %29)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(Inflamasyon: %37)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       |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       v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MADDE KULLANIMI ---------&gt; EPIGENETIK YAS IVMELENMESI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|                           ^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|                           |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+--------------------------&gt;+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Direkt Etki (%39)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Psikolojik Moderatorler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(Duygu Duzenleme)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(Oz-Kontrol)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MODEL ACIKLAMASI: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kullanimi hem direkt hem de indirekt yollarla EAA'yi etkiler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Fizyolojik mediyatorler toplam etkinin %61'ini aciklar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 faktorleri etki buyuklugunu modere eder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Calisma Tasarimi: Genel Bakis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CALISMA TIPI: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Retrospektif, kesitsel, multi-kohort meta-analiz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KAYNAKLARI: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- 15 bagimsiz calismanin entegrasyonu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Public veritabanlari: GEO, ArrayExpress, EWAS Data Hub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n = 10,542 birey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DAHIL ETME KRITERLERI: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- 18 yas ustu eriskin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Illumina 450K veya EPIC array verisi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kullanim durumu bilgisi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Demografik veriler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ETIK ONAY: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dahil edilen calismalar orijinal etik onayli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Ikincil analiz icin ayri onay gerekmemektedir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PAYLAŞIMI: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analiz kodlari GitHub'da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github.com/mortemdulcem/epi-clock-DNA-mtl-prototype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METODOLOJI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Orneklem Ozellikleri: Temel Istatistikler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Toplam Orneklem Boyutu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10,542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Madde Kullanici Grubu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5,535 (%52.5)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Kontrol Grubu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5,007 (%47.5)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Ortalama Yas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42.3 yil (SS: 12.8)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Erkek Orani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%58.2 (n = 6,135)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Avrupa Kokeni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%78.3 (n = 8,254)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 Kategorisi Dagilimi ve Demografik Ozellikler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Yas (ort)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Erkek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Kullanim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47.5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41.2 (13.4)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54.3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46.8 (11.2)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18.4 (9.7)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38.7 (9.4)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63.5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12.3 (7.8)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42.1 (10.8)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8.7 (6.4)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35.2 (8.1)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58.3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6.2 (4.1)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32.4 (10.2)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9.8 (6.3)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39.5 (10.6)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61.4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14.2 (8.9)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DNA Metilasyon Olcumu ve Kalite Kontrolu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ILLUMINA PLATFORMLARI: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Illumina HumanMethylation450 BeadChip (n=7,234; %68.6)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Illumina EPIC BeadChip (n=3,308; %31.4)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Ortak CpG seti: n=452,626 probe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ORNEK SEVIYESI KALITE KONTROLU: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Bisulfit donusum orani &gt;%95 gereksinimi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Ornek cinsiyet tahmini ve dogrulama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Genetik kimlik kontrolu (SNP problari)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Cikartilan ornekler: n=312 (%2.9)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PROBE SEVIYESI KALITE KONTROLU: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Deteksiyon p-degeri &gt; 0.01 olan problar cikartildi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Cross-reactive problar ve SNP-overlapping problar kaldirildi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X ve Y kromozomu problari cikartildi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Final probe seti: n=438,457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NORMALIZASYON: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Background subtraction ve dye-bias correction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Beta-Mixture Quantile (BMIQ) normalizasyonu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ComBat batch etkisi duzeltmesi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Epigenetik Saat Hesaplama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CLOCK CALCULATOR IMPLEMENTASYONU: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Orijinal yayinlardan elde edilen CpG agirliklari ve katsayilari kullanilarak her ornekte 5 epigenetik saat hesaplanmistir.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HORVATH SAATI: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DNAm Age = anti.F(sum(353 CpG * w_i) + intercept)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- 110 CpG yasla pozitif korelasyon (hipermetilasyon)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- 243 CpG yasla negatif korelasyon (hipometilasyon)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PHENOAGE VE GRIMAGE: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PhenoAge: Levine coefficients (doi:10.18632/aging.101414)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GrimAge: Lu coefficients (doi:10.18632/aging.101684)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DNAm-based plasma protein surrogates hesaplandi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DUNEDINPACE: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- 173 CpG ile yaslanma hizi (pace) hesabi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Cikti: Yillik yaslanma orani (1.0 = normal)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YAS IVMELENMESI (EAA):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EAA = Epigenetik Yas - Kronolojik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Residual EAA (rEAA): Yas ve diger kovaryatlar icin duzeltilmis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Istatistiksel Analiz Yontemleri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TANIMI LAYICI ISTATISTIKLER: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Surekli degiskenler: Ortalama (SS), medyan (IQR)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Kategorik degiskenler: Frekans (%)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Grup karsilastirmalari: t-test, ANOVA, Ki-kare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YAS IVMELENMESI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Lineer regresyon: EAA ~ Madde Durumu + Kovaryatlar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Kovaryatlar: Yas, cinsiyet, etnisite, BMI, sigara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Coklu test duzeltmesi: Bonferroni ve FDR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ETKI BUYUKLUGU: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Cohen's d = (M1 - M2) / pooled SD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 &lt; 0.2: Kucuk, 0.2-0.8: Orta, &gt; 0.8: Buyuk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DIFERANSIYEL METILASYON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Lineer model (limma paketi)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beta_delta threshold: |Delta beta| &gt; 0.05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p-deger thresholdu: FDR &lt; 0.05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YAZILIM: R 4.2.0, Python 3.10, scikit-learn, statsmodels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Mediyasyon Analizi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Mediyasyon analizi, bagimsiz degiskenin (X: madde kullanimi) bagimli degisken (Y: EAA) uzerindeki etkisinin bir kismininin bir mediyator degisken (M) araciligiyla gerceklesip gerceklesmedegini test eder.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BARON VE KENNY YAKLASIMI: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X -&gt; Y anlamli olmali (c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X -&gt; M anlamli olmali (a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M -&gt; Y (X kontrol edildiginde) anlamli olmali (b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X -&gt; Y (M kontrol edildiginde) azalmali (c'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INDIREKT ETKI HESABI: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Indirect Effect = a * 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Bootstrap (10,000 resampling) ile %95 guven araligi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Sobel test ile istatistiksel anlamlilik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MEDIYATORLER: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Insulin Direnci (HOMA-IR)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HPA Eksen (Kortizol/ACTH orani)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Sistemik Inflamasyon (CRP, IL-6)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YAZILIM: Hayes PROCESS macro, lavaan R paketi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Moderasyon Analizi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Moderasyon analizi, bagimsiz degiskenin (X) bagimli degisken (Y) uzerindeki etkisinin bir moderator degisken (W) tarafindan etkilenip etkilenmedegini test eder.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ETKILESIM MODELI: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 = b0 + b1*X + b2*W + b3*X*W + 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b3: Etkilesim terimi (moderasyon etkisi)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Anlamli b3: Moderasyon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SIMPLE SLOPES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 dusuk seviyede (-1 SD): Etki buyuklugu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 ortalama seviyede: Etki buyuklugu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 yuksek seviyede (+1 SD): Etki buyuklugu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JOHNSON-NEYMAN TEKNIGI: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Moderatorun hangi degerinde etki anlamli hale gelir?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'Region of significance' tanimlanir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MODERATORLER: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Duygu Duzenleme (DERS - Difficulties in Emotion Regulation Scale)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Oz-Kontrol (SCS-B - Brief Self-Control Scale)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Makine Ogrenmesi: Siniflandirma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AMAÇ: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 metilasyon profillerinden madde turu siniflandirmasi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OZELLIK SECIMI: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Diferansiyel metilasyon analizinden top 500 CpG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Variance-based filtreleme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Recursive Feature Elimination (RFE)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MODEL ARSITEKTURISI: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Random Forest Siniflandirici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n_estimators = 500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max_depth = 20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class_weight = 'balanced' (dengesiz siniflar icin)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VALIDASYON STRATEJISI: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- 10-fold stratified cross-validation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Holdout test seti (%20)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PERFORMANS METRIKLERI: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Precision, Recall, F1-Score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ROC-AUC (multiclass)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Confusion matrix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Postmortem Validasyon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BEYIN DOKUSU ORNEKLERI: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n = 108 postmortem ornek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PMI (Postmortem Interval) araligi: 6-48 saat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 pH araligi: 5.2-7.1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BEYIN BOLGELERI: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Prefrontal Korteks (n=48): Karar verme, durtü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Nucleus Accumbens (n=36): Odul sistemi, bagimlilik merkezi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Hippokampus (n=24): Bellek, ogrenme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PMI DUZELTME ALGORITMASI: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PMI-bagli metilasyon drift modellemesi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Lineer regresyon: Error = 0.08 * PMI + 0.12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Her 10 saat PMI icin ~0.8 yil ek hata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DOKU KALITESI DEGERLENDIRMESI: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pH-bazli kategorizasyon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RIN (RNA Integrity Number)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 &gt; 6.0 ornekler optimal olarak kabul edildi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Gen Ontology ve Pathway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AMAÇ: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Diferansiyel metile CpG sitelerinin iliskilendigi genlerin fonksiyonel zenginlestirme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METODOLOJI: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CpG -&gt; Gen haritalama (Illumina annotation)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Hypergeometric test ile overrepresentation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Background: Tum array problarinin gen seti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Ontology (GO): Biological Process, Molecular Function, Cellular Component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KEGG Pathway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Reactome Pathway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COK LU TEST DUZELTMESI: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FDR (Benjamini-Hochberg) &lt; 0.05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clusterProfiler R paketi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g:Profiler web arac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DAVID Functional Annotation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Duyarlilik ve Robustluk Analizleri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KOVARYAT SETLERI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1: Yas + Cinsiyet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2: + Madde kullanim suresi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3: + Fizyolojik mediyatorler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4: + Psikolojik moderatorler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Sonuclarin kovaryat seciminden etkilenmedigi dogrulandi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PLATFORM DUZELTMESI: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- 450K vs EPIC ayri analizler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Meta-analiz ile sonuc birlestirilmesi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Platform-spesifik batch efekti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OUTLIER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IQR-bazli outlier tespiti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Outlier cikartilmis analizler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Sonuclarin robust oldugu dogrulandi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BOOTSTRAP VALIDASYONU: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- 10,000 bootstrap resampling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Bias-corrected accelerated (BCa) guven araliklari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Yazilim Ortami ve Tekrarlanabilirlik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PROGRAMLAMA DILLERI: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 4.2.0: Istatistiksel analizler, epigenetik saat hesaplama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Python 3.10: Makine ogrenmesi, veri isleme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 PAKETLERI: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minfi, ChAMP: DNA metilasyon preprocessing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limma: Diferansiyel metilasyon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sva: Batch etkisi duzeltmesi (ComBat)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lavaan: Mediyasyon/moderasyon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ggplot2, plotly: Gorsellestirme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PYTHON KUTUPHANELERI: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pandas, numpy, scipy: Veri manipulasyonu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scikit-learn, xgboost: Makine ogrenmesi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pytorch: Graph Neural Network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rdkit: Molekul islemleri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KOD PAYLAŞIMI: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GitHub: github.com/mortemdulcem/epi-clock-DNA-mtl-prototype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Tam analiz pipeline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Docker containerization ile reproducibility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ARASTIRMA BULGULARI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 Bulgular: Kritik Istatistikler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Epigenetik Yas Ivmelenmesi (Kontrol vs Madde)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+3.4 yil (p&lt;0.001)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En Yuksek EAA (Coklu Madde - GrimAge)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+7.3 yil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Tanimlanan Maddeye Ozgu CpG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1,847 CpG sitesi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Siniflandirma Dogrulugu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%87.3 (95% CI: 85.6-89.1)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Toplam Mediyasyon Yuzdesi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%61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Moderasyon Etki Azaltimi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%50-70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Epigenetik Yas Ivmelenmesi: Horvath Saati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-0.1 - 0.7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2.3 - 3.4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2.5 - 3.9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1.9 - 3.0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3.1 - 6.4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0.6 - 2.1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4.9 - 6.8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Epigenetik Yas Ivmelenmesi: GrimAge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-0.2 - 0.6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3.0 - 4.2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3.3 - 4.9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2.3 - 3.6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+6.2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4.1 - 8.4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0.8 - 2.5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+7.3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6.2 - 8.5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Yaslanma Hizi: DunedinPACE Sonuclari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PACE (oran)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1.00-1.04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1.11-1.17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+%14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1.14-1.22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+%18 hizli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1.08-1.14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+%11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1.16-1.37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+%26 hizli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1.02-1.11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+%6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1.26-1.38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+%32 hizli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 Epigenetik Saat Karsilastirmasi: Performans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ETKI BUYUKLUGU SIRALAMASI (Cohen's d):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GrimAge: En yuksek ayirt edicilik (d = 0.32-1.28)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DunedinPACE: Yuksek hassasiyet (d = 0.27-1.18)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PhenoAge: Orta-yuksek performans (d = 0.25-1.05)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Horvath: Pan-tissue guclu performans (d = 0.27-1.08)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Hannum: En dusuk ayirt edicilik (d = 0.18-0.76)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SAAT KORELASYONLARI: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Horvath-Hannum: r = 0.94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PhenoAge-GrimAge: r = 0.89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GrimAge-DunedinPACE: r = 0.82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ONERI: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uygulama: GrimAge (en iyi mortalite tahmini)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Mudahale izleme: DunedinPACE (degisime duyarli)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Doku-spesifik analiz: Horvath (pan-tissue)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Ensemble yaklasim: Coklu saat kombinasyonu superiordur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Maddeye Ozgu Diferansiyel Metile CpG Sayilari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Toplam CpG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Hipermetile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Hipometile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Core Signature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Paylasilmis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TOPLAM BENZERSIZ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 Yuksek Istatistiksel Anlamlilik Gosteren CpG Siteleri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CpG ID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Gen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 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cg05575921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AHRR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1.2x10^-48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cg21566642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ALPPL2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3.4x10^-36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cg05951221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ANKRD34B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5.7x10^-24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cg26963277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LRFN2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8.1x10^-19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cg01940273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OPRM1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2.1x10^-12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cg11554391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PDYN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4.3x10^-9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cg23193759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SLC6A3/DAT1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1.8x10^-7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Gen Ontology Enrichment: Maddeye Ozgu Yolaklar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 Term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 ID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FDR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Xenobiotic metabolic process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GO:0006805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1.2x10^-8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Response to oxidative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3.4x10^-7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Inflammatory response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GO:0006954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8.1x10^-6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Chemical synaptic 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GO:0007268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2.3x10^-9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GO:0007612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5.7x10^-7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 protein-coupled receptor signaling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GO:0007186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1.8x10^-7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DNA repair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GO:0006281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1.5x10^-12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Cellular response to DNA damage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3.2x10^-11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Chromatin organization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GO:0006325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7.8x10^-10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 Siniflandirma Performans Metrikleri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Turu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Siniflandirma: En Ayirt Edici CpG Siteleri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RANDOM FOREST FEATURE IMPORTANCE: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TOP 10 CPG MARKERI: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cg05575921 (AHRR): Importance = 0.089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cg21566642 (ALPPL2): Importance = 0.076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cg05951221 (ANKRD34B): Importance = 0.072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cg01940273 (OPRM1): Importance = 0.068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cg23193759 (SLC6A3): Importance = 0.061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cg26963277 (LRFN2): Importance = 0.054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7. cg11554391 (PDYN): Importance = 0.048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8. cg14976642 (DRD2): Importance = 0.043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9. cg06500161 (COMT): Importance = 0.039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10. cg21161138 (GABRA1): Importance = 0.035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YORUM: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AHRR (aryl hydrocarbon receptor repressor) en ayirt edici marker olup, xenobiotic metabolizma ve inflamasyonla iliskilidir. Bu bulgu, alkol ve sigara arastirmalarindaki literatur ile tutarlidir.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Siniflandirma Performansi: Yorum ve Limitasyonlar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GENEL DOGRULUK: %87.3 (95% CI: 85.6-89.1)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GUCLU PERFORMANS: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Kontrol grubu: F1=0.98, ROC-AUC=0.99 - Neredeyse mukemmel ayirim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Alkol: F1=0.88, ROC-AUC=0.94 - Yuksek ayirt edicilik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Kokain: F1=0.86, ROC-AUC=0.96 - Cok yuksek ROC-AUC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Opioid: F1=0.87, ROC-AUC=0.95 - Tutarli performans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ZAYIF PERFORMANS: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Metamfetamin: F1=0.40, Precision=0.29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Neden? Kucuk ornek boyutu (n=48)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Diger stimulanlarla karismasi (ozellikle kokain)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ADLI UYGULAMA POTANSIYELI: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ROC-AUC degerleri (0.88-0.99) screening icin uygun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Kontrol-madde kullanici ayrimi icin mukemmel performans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Spesifik madde turu icin destekleyici kanit olarak kullanilabilir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Mediyasyon Analizi: Fizyolojik Yolaklar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Mediyator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Toplam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Mediyasyon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Insulin Direnci (HOMA-IR)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2,847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0.21 (p&lt;0.001)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HPA Eksen (Kortizol/ACTH)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0.17 (p=0.003)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Sistemik Inflamasyon (CRP/IL-6)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0.24 (p&lt;0.001)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Mediyasyon Analizi: Path Katsayilari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Mediyator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Path a (Madde-&gt;M)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Path b (M-&gt;EAA)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Insulin Direnci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0.48 (0.05)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0.44 (0.04)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HPA Eksen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0.39 (0.06)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0.43 (0.05)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Sistemik Inflamasyon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 (0.05)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0.46 (0.04)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Maddeye Ozgu Mediyasyon: Insulin Direnci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Turu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Mediyasyon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31-46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28-44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18-68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HPA Eksen Disregulasyonu: Madde Turleri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Turu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Kortizol/ACTH Artis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Inflamatuar Marker Seviyeleri: Madde Turune Gore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CRP (mg/L)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IL-6 (pg/mL)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 (0.8)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2.1 (1.3)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3.8 (2.1)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5.7 (2.9)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4.2 (2.4)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6.3 (3.2)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3.4 (1.9)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 (2.6)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5.1 (2.8)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7.8 (4.1)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6.3 (3.2)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9.2 (4.7)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Coklu Mediyator Modeli Sonuclari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Mediyator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Bagimsiz Med.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Insulin Direnci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0.09-0.19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HPA Eksen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0.05-0.14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Sistemik Inflamasyon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0.11-0.21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Toplam Indirekt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0.32-0.46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Direkt Etki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0.17-0.33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Moderasyon Analizi: Duygu Duzenleme (DERS)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Terimi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Kullanim Suresi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0.30-0.54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DERS Skoru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0.18-0.38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x DERS Etkilesimi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0.24-0.52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Etkilesim Delta R-squared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Simple Slopes Analizi: Duygu Duzenleme Seviyeleri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DERS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DERS (-1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0.08-0.28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duygu duzenleme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Ortalama 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0.30-0.54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duzenleme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DERS (+1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0.52-0.80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duygu duzenleme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Kategorik Duygu Duzenleme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DERS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Kontrol 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Fark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(DERS&lt;60)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+1.8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(DERS 60-90)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+3.9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+0.1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(DERS&gt;90)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+6.2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Moderasyon Analizi: Oz-Kontrol (SCS-B)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Terimi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Kullanim Suresi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0.34-0.62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SCS-B Skoru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-0.34 - 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x SCS-B Etkilesimi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-0.42 - -0.10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Etkilesim Delta R-squared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Simple Slopes Analizi: Oz-Kontrol Seviyeleri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SCS-B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Oz-Kontrol (-1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0.58-0.90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oz-kontrol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Ortalama Oz-Kontrol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0.34-0.62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oz-kontrol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Oz-Kontrol (+1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0.08-0.36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oz-kontrol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Kategorik Oz-Kontrol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SCS-B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Fark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(SCS-B&lt;30)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4.9-6.6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(SCS-B 30-40)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2.8-4.1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(SCS-B&gt;40)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1.3-2.6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Moderated Mediation: Oz-Kontrol -&gt; Insulin Direnci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Oz-Kontrol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(-1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0.26-0.43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0.16-0.27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(+1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0.03-0.16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Moderasyon Bulgulari: Ozet ve Yorum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DUYGU DUZENLEME (DERS) ETKILERI: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Zayif duygu duzenleme, EAA etkisini ~3.7 kat artirmaktadir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Iyi duygu duzenleme: +1.8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Zayif duygu duzenleme: +6.2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Johnson-Neyman threshold: DERS &gt; 68 (orneklemin %42'si)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OZ-KONTROL (SCS-B) ETKILERI: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oz-kontrol, EAA etkisini %54 azaltmaktadir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Dusuk oz-kontrol: +5.7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oz-kontrol: +1.9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IMPLIKASYONLAR: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Duygu duzenleme becerileri (DBT gibi terapiler) koruyucu olabilir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Oz-kontrol gelistirme mudahaleleri (CBT) epigenetik yaslanmayi yavaşlatabilir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dayaniklilik, biyolojik yaslanma uzerinde olculebilir etki gosterir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Doz-Yanit Iliskileri: Kullanim Suresi ve EAA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LINEER REGRESYON SONUCLARI: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ALKOL: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+0.8 yil EAA (95% CI: 0.6-1.0, p&lt;0.001)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KOKAIN: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+1.2 yil EAA (95% CI: 0.9-1.5, p&lt;0.001)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OPIOID: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+0.9 yil EAA (95% CI: 0.7-1.2, p&lt;0.001)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METAMFETAMIN: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+1.6 yil EAA (95% CI: 0.8-2.4, p=0.002)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KANNABIS: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+0.4 yil EAA (95% CI: 0.1-0.7, p=0.018)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YORUM: Kullanim suresi ile EAA arasinda net doz-yanit iliskisi vardir. Stimulanlar (kokain, metamfetamin) en yuksek slope gostermektedir.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Baslangic Yasina Gore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Baslangic Yas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ANOVA Trend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&lt;30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4.1-5.6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30-50 yas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2.8-3.7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(Lineer azalma)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&gt;50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1,454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1.6-2.7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Body Mass Index ve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BMI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BMI Araligi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18.5-25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2,347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2.3-3.4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Fazla Kilolu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3.1-4.2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Obez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&gt;30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4.4-5.9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Egitim Seviyesi ve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Egitim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ANOVA Trend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&lt;Lise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4.1-5.4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2.9-4.0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(Lineer azalma)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Universite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1,516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1.6-2.7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Beta = -1.3 yil/seviye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Egzersiz Sikligi ve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Egzersiz Sikligi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ANOVA Trend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Duzenli (&gt;=3x/hafta)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1,124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1.6-2.7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Ara Sira (1-2x/hafta)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2.9-4.0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(Lineer azalma)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Hic Yok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2,724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4.3-5.6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Hiyerarsik Cok Degiskenli Regresyon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Eklenen Degiskenler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R-sq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 R-sq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 + Cinsiyet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 Madde kullanim suresi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 Fizyolojik mediyatorler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 Psikolojik moderatorler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KLINIK VE ADLI UYGULAMALAR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Postmortem Validasyon: Kritik Bulgular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Postmortem Ornek Sayisi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PMI Araligi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6-48 saat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Doku pH Araligi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5.2-7.1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PMI Duzeltme Sonrasi MAE Iyilesmesi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%47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Optimal pH Esigi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&gt;6.0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PMI Duzeltme Algoritmasi Performans Karsilastirmasi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Duzeltme Oncesi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Duzeltme Sonrasi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Iyilesme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MAE (yil)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7.2 (6.4-8.1)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3.8 (3.2-4.5)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RMSE (yil)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9.1 (8.1-10.2)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 (4.2-5.7)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R-squared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0.72 (0.67-0.77)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 (0.83-0.91)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Kalibrasyon Egimi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0.81 (0.76-0.86)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0.94 (0.90-0.98)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Doku pH'sina Gore Performans Degerlendirmesi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 Araligi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R-sq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Mukemmel Kalite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&gt;6.5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Kalite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6.0-6.5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Kalite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5.5-6.0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Dikkatli Kullanim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Kalite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Onerilmez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Beyin Bolgesine Gore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Beyin Bolgesi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Horvath 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Fonksiyonel Onemi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Prefrontal Korteks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4.2-6.5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Karar verme, durtü kontrolu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Nucleus Accumbens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+4.1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3.2-5.1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Odul sistemi, bagimlilik merkezi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Hippokampus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2.3-4.2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Bellek, ogrenme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Beyin Bolgeleri Post-hoc Karsilastirmalari (Tukey HSD)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Karsilastirma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Ortalama Fark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Anlamlilik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Prefrontal Korteks vs Nucleus Accumbens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Prefrontal Korteks vs Hippokampus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Nucleus Accumbens vs Hippokampus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Adli Uygulamalar: Potansiyel ve Sinirlamalar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POTANSIYEL UYGULAMALAR: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Kronik madde kullanim gecmisinin postmortem tespiti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Antemortem gecmisi bilinmeyen vakalarda madde turu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Olum sebebi belirlemede destekleyici kanit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toksikolojinin kronik maruziyet boyutunu genisletme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METODOLOJIK AVANTAJLAR: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Geleneksel toksikoloji: Akut maruziyet (saatler-haftalar)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analiz: Kronik maruziyet (aylar-yillar)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Siniflandirma dogrulugu: %87.3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SINIRLAMALAR: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Coklu madde kullanimi siniflandirmayi zorlastirir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Populasyon-spesifik farkliliklar (etnisite, yas)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Cevresel ve yasam tarzi faktorleri confounding etkisi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 kalitesi (pH&lt;6.0) performansi duşürür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ONERI: Destekleyici kanit olarak kullanim (tek basina degil)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Mahkeme Kabul Edilebilirligi: Daubert Kriterleri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DAUBERT KRITERLERI DEGERLENDIRMESI: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1. TESTEDILEBILIRLIK: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Epigenetik saatler yuz ustu cevre calismada test edilmistir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2. PEER REVIEW VE YAYIN: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- 100'den fazla peer-reviewed yayin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Nature, Cell, Genome Biology gibi saygın dergiler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3. HATA ORANI: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MAE = 2-4 yil (saat ve doku tipine gore)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Iyi karakterize edilmis belirsizlik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4. STANDARTLAR: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Illumina platformlari standart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5. GENEL KABUL: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Arastirma toplulugunda yaygin kabul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Adli toplulukta henüz sinirli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KISMEN KARSILANIYOR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Tersine Cevrilebilirlik: Literatur Kanitlari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TEMEL SORU: Epigenetik yas ivmelenmesi tersine cevrilebilir mi?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LITERATUR SENTEZI: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- 6 randomize kontrollu calişma meta-analizi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n = 473 katilimci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Ortalama epigenetik yas azalmasi: -2.73 yil (95% CI: -3.4 - -2.1)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MUDAHALE TURLERI: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Yasam tarzi (diyet + egzersiz): -2.90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(mindfulness/yoga): -1.96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Kombine mudahale: -4.60 yil (en etkili)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birakma (5 yil): -3.18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IMPLIKASYONLAR: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Kisa vadeli mudahaleler (8-12 hafta) bile anlamli azalma saglar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Kombine yaklasimlar tek mudahalelerden superiordur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birakmanin uzun vadeli faydasi kanıtlanmistir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REFERANSLAR: Fitzgerald et al., 2021; Quach et al., 2017; Epel et al., 2016; Ambatipudi et al., 2017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Mudahale Calismalari: Epigenetik Yas Degisimi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Calisma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Mudahale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Degisimi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Fitzgerald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Diyet + Egzersiz + Uyku + Stres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 hafta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-3.23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Quach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Diyet + Egzersiz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-2.17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Epel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Mindfulness + Yoga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 hafta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-1.96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Fitzgerald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Mudahale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-4.60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Ambatipudi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Birakma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-1.52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Ambatipudi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Birakma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-3.18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Klinik Oneriler: Mudahale Secimi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Onerilen Mudahale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Beklenen Etki (8-12 hafta)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Uzun Vadeli Strateji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Hafif (+1-3 yil)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Egzersiz + Diyet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-2.5 ila -3.0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Yasam tarzi surdurmesi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(+3-5 yil)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Mudahale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-3.5 ila -4.5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+ psikolojik destek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Siddetli (&gt;5 yil)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+ Madde Birakma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-4.0 ila -5.0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Yogun multidisipliner yaklasim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EpiClock v4.0: Platform Ozellikleri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ANA MODÜLLER: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EPIGENETIK SAAT HESAPLAMA: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 major saat (Horvath, Hannum, PhenoAge, GrimAge, DunedinPACE)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- 12 doku-spesifik saat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Ensemble model (RF + XGBoost + ElasticNet)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MADDE TESPIT VE SINIFLANDIRMA: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- 1,847 maddeye ozgu CpG imzasi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%87.3 siniflandirma dogrulugu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- 6 madde kategorisi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MOLEKULER ANALIZ: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Graph Neural Network (MPNN + Attention)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- 36,000+ madde veritabani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- 55+ reseptor hedefi profili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ADLI MODÜLLER: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PMI duzeltme algoritmasi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Blockchain audit trail (SHA-256)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PDF rapor uretimi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Graph Neural Network: Teknik Detaylar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MODEL PARAMETRELERI: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Tip: Message Passing Neural Network (MPNN) + Multi-head Attention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Katman Sayisi: 4 message passing 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Gizli Boyut: 256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Attention Heads: 8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Parametre: ~1.2 milyon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ATOM OZELLIKLERI (146 boyut):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Atom numarasi (one-hot), derece, formal yuk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Hibridizasyon (sp, sp2, sp3), aromatiklik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Halka uyeligi, implicit hidrojenler, radikallik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BAG OZELLIKLERI (12 boyut):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Bag tipi (tek, cift, uc, aromatik)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Konjugasyon, halka icinde olma, stereo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CIKIS KATMANLARI: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Bagimlilik potansiyeli + Belirsizlik (Gaussian)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Toksisite siniflandirmasi (5 sinif)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CYP inhibisyonu (1A2, 2C9, 2C19, 2D6, 3A4)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55+ Reseptor Hedefi: Kategori ve Agirliklar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Reseptorler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Bagimlilik Agirligi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UniProt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MOR, DOR, KOR, NOP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%25-95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P35372, P41143, P41145, P41146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Dopaminerjik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DAT, D1-D5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%50-92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Q01959, P21728, P14416...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Serotonerjik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SERT, 5-HT1A/1B/2A/2C/3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P31645, P08908...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GABAerjik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GABA-A subunits, GABA-B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%45-75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P14867, Q9UBS5...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Glutamaterjik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NMDA, AMPA, mGluR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Q05586, Q13224...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CB1, CB2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P21554, P34972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Kolinerjik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nAChR, mAChR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%30-85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P43681, P08172...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Stres/Neuropeptid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CRF1/2, OX1/2, NK1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P34998, O43613...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Enzimler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MAO-A/B, COMT, FAAH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P21397, P21964, O43866...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Sinyal Yolagi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CREB, DeltaFosB, mTOR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%35-55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P16220, P15408, P42345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Gelismis Ozellik Muhendisligi: Kimyasal Descriptorler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MORGAN/ECFP FINGERPRINTS: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- 2048-bit dairesel fingerprint (ECFP4)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Radius = 2, yapısal benzerlik hesabi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FIZIKOKIMYASAL DESCRIPTORLER: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Molekul Agirligi (MW): Optimal 200-500 Da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cLogP (lipofili): BBB gecisi icin kritik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TPSA (polar yuzey alani): &lt;70 A^2 yuksek BBB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HBD/HBA (hidrojen bag verici/alici)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Rotatable bonds, aromatik halka sayisi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LIPINSKI KURALLARI: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MW &lt; 500, LogP &lt; 5, HBD &lt;= 5, HBA &lt;= 10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Ihlal sayisi: 0-1 ideal oral biyoyararlanim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FARMAKOKINETIK PROFIL: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BBB gecirgenlik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Plazma protein baglama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Yari omur (t1/2)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CYP enzim inhibisyonu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UN/WHO/EMCDDA Schedule Siniflandirmasi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Tanim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Istismar Skoru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Ornekler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tibbi kullanim yok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Heroin, LSD, MDMA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sinirli tibbi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Morfin, Fentanil, Kokain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istismar, tibbi kullanim var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Buprenorfin, Ketamin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Dusuk-orta istismar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Benzodiazepinler, Tramadol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istismar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Pregabalin, Kodein (dusuk doz)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Unscheduled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Kontrolsuz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Kafein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Blockchain Audit Trail: Adli Butunluk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BLOCKCHAIN OZELLIKLERI: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Hash Algoritmasi: SHA-256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Degistirilemez (immutable) kayit zinciri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Her islem zaman damgali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AUDIT KAYIT TURLERI: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Ornek girisi ve kimlik dogrulama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Analiz baslangic/bitis zamanlari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Parametre degisiklikleri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Sonuc uretimi ve onaylama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Kullanici erisim loglari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TAMPER DETECTION: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Hash zinciri butunluk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Herhangi bir degisiklik aninda tespit edilir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delil kabul edilebilirligi desteklenir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CHAIN OF CUSTODY: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Ornek transferi takibi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Sorumluluk zinciri dokumantasyonu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Dijital imza destegi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Mahkeme sunumu icin export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Otomatik PDF Rapor Uretimi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RAPOR BILEŞENLERI: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HASTA/ORNEK BILGILERI: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Demografik veriler (anonim ID, yas, cinsiyet)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Ornek tipi ve toplama tarihi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EPIGENETIK SAAT SONUCLARI: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 saat ile hesaplanan epigenetik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EAA degerleri ve referans populasyonla karsilastirma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Gorsellestirme (radar grafik, bar chart)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RISK DEGERLENDIRMESI: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Mortalite risk skoru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Yasam tarzi faktor etkileri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ONERI VE YORUM: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Klinik oneri (mudahale secimleri)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Takip plani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TEKNIK DETAYLAR: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Kalite kontrol metrikleri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Metodoloji referanslari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PostgreSQL Veritabani Semasi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ANA TABLOLAR: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cpg_markers: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marker_id (PK), chromosome, position, gene_symbol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island_relation, clock_membership, mean_methylation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substance_panels: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substance_id (PK), name, smiles, schedule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abuse_potential, receptor_targets (JSONB)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analysis_results: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result_id (PK), sample_id, analysis_date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clock_results (JSONB), eaa_values, ml_predictions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audit_logs: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log_id (PK), timestamp, user_id, action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previous_hash, current_hash, data_payload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INDEKSLER: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cpg_markers: gene_symbol, chromosome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audit_logs: timestamp, user_id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Harici Veritabani Entegrasyonlari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GENOMIK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Expression Omnibus (GEO): DNA metilasyon veri setleri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ArrayExpress: Avrupa mikrodizi verisi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EWAS Data Hub: Epigenom-capinda calisma verileri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FARMAKOGENOMIK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PharmGKB: Ilac-gen iliskileri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CPIC: Klinik farmakogenetik rehberleri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DrugBank 6.0: Kapsamli ilac bilgisi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KIMYASAL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PubChem: Kimyasal yapilar ve biyoaktivite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ChEMBL: Biyoaktif molekuller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UniProt: Protein hedef bilgisi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REGULATUVAR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UNODC Early Warning Advisory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EMCDDA Yeni Psikoaktif Maddeler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DEA Schedule listesi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Streamlit Kullanici Arayuzu: Ozellikler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UNODC KURUMSAL TEMA: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 Renk: #0050A0 (UNODC Blue)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Koyu: #003366 (Navy)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Vurgu: #00A7D8 (Turquoise)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Emoji YASAK (UNODC standartlari)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ROL TABANLI ARAYUZ: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Klinisyen Modu: Hasta odakli, basitleştirilmiş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Arastirmaci Modu: Detayli istatistik ve veri erisimi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Mod: Audit trail, zincir takibi, rapor uretimi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INTERAKTIF GORSELLESTIRME: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Plotly interaktif grafikler (zoom, hover, export)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Matplotlib statik grafikler (yayın kalitesi)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Radar grafikleri (coklu saat karsilastirmasi)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MOBIL UYUMLULUK: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Responsive tasarim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Touch-friendly kontroller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Guvenlik ve Gizlilik Onlemleri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GUVENLIGI: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HTTPS zorunlu baglanti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Veritabani sifreleme (AES-256)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API key rotasyonu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KIMLIK DOGRULAMA: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Rol tabanli erisim kontrolu (RBAC)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Oturum zaman asimi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Cok faktorlu kimlik dogrulama (MFA) secenegi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DENETIM: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islemler loglanir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Blockchain audit trail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Anormallik tespiti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YASAL UYUMLULUK: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GDPR uyumluluk (AB)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HIPAA uyumluluk (ABD saglik verisi)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Veri anonimizasyon araclari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YEDEKLEME: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Gunluk otomatik yedekleme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Cografi olarak dagitik depolama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Platform Performans Metrikleri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HESAPLAMA SURESI: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 ornek epigenetik saat hesabi: &lt;5 saniye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GNN molekul analizi: &lt;2 saniye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Batch analiz (100 ornek): &lt;3 dakika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OLCEKLENEBILIRLIK: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 sunucu: 100 eszamanli kullanici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Yatay olcekleme: Kubernetes destegi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UPTIME HEDEFI: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%99.9 kullanilabilirlik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Otomatik failover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VERITABANI PERFORMANSI: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CpG sorgu: &lt;100ms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arama: &lt;50ms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API RESPONSE: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Ortalama yanit suresi: &lt;200ms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Maksimum yuk altinda: &lt;1 saniye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Yol Haritasi: Gelecek Gelistirmeler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KISA VADELI (6 AY):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Multi-omics entegrasyonu (transkriptomiks, proteomiks)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CRISPR-bazli epigenetik editörleme hedef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Mobil uygulama (iOS/Android)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ORTA VADELI (12 AY):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Maddeye ozgu epigenetik saat gelistirme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Uluslararasi referans veritabani (populasyon-spesifik)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Transformer-bazli model (attention mechanism)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UZUN VADELI (24 AY):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validasyon calismalari (RCT)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FDA/EMA regulatuvar onay sureci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laboratuvar sertifikasyonu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Tedavi izleme modulu (longitudinal tracking)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ISBIRLIKLERI: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UNODC arastirma ortakligi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Akademik konsorsiyum olusturma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Endüstri lisanslama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Lisanslama ve Yasal Hususlar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SAAT LISANSLARI: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Horvath, GrimAge, PhenoAge, DunedinPACE: UCSD lisansi gerektirir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Ticari kullanim icin ayri lisans anlasmasi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Akademik arastirma icin ucretsiz erisim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 LISANSI: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Platform kodu: Proprietary (sirket mulkiyeti)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Analiz pipeline: GitHub'da acik kaynak (MIT lisansi)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Metodoloji dokumantasyonu: Creative Commons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KULLANIMI: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Public veri setleri: Orijinal lisans sartlari gecerli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Kullanici verisi: GDPR/HIPAA uyumlu islem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SORUMLULUK REDDI: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PROTOTIP: Gercek klinik karar vermede kullanilmamalidir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Simule edilmis katsayilar: Demonstrasyon amacli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uygulama oncesi validasyon gereklidir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TARTISMA VE SONUC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 Bulgular Ozeti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EPIGENETIK YAS IVMELENMESI: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Tum madde kategorileri anlamli EAA gosterdi (d=0.27-1.28)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En yuksek: Coklu madde (+7.3 yil GrimAge)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En dusuk: Kannabis (+1.6 yil)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MADDEYE OZGU CPG IMZALARI: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- 1,847 diferansiyel metile CpG sitesi tanimlandi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%87.3 siniflandirma dogrulugu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Core addiction signature: 436 paylasilan CpG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MEKANISTIK YOLAKLAR: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Insulin direnci: %34 mediyasyon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HPA eksen: %29 mediyasyon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Inflamasyon: %37 mediyasyon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Toplam indirekt etki: %61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PSIKOLOJIK MODERASYON: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Duygu duzenleme: 3.7 kat etki farki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Oz-kontrol: %54 etki azaltimi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Mevcut Literaturle Karsilastirma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Ozellik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Onceki Calismalar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Mevcut Calisma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Ornek Boyutu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En buyuk: n=1,234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n=10,542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8.5 kat buyuk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Cesitliligi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Genellikle tek madde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 kategori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Kapsamli karsilastirma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Epigenetik Saat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1-2 saat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 saat + ensemble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Sistematik karsilastirma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CpG Imza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Sinirli/yok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1,847 CpG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Adli potansiyel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Mediyasyon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Sinirli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 fizyolojik yolak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Mekanistik anlayis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Postmortem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Nadir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n=108 + PMI duzeltme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Adli uygulanabilirlik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Mekanistik Icgoruler: Biyolojik Yolaklar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INSULIN DIRENCI (%34 MEDIYASYON):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Kronik madde kullanimi → Glukoz homeostazi bozulmasi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Hiperglisemi → AGE olusumu → Oksidatif stres → DNA hasari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Insulin sinyali → DNMT enzim regulasyonu → Epigenetik degisim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HPA EKSEN DISREGULASYONU (%29 MEDIYASYON):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Kronik stres → Kortizol/ACTH artisi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Glukokortikoid reseptor (NR3C1) metilasyon degisiklikleri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Opioid kullanicilarinda en yuksek HPA disregulasyonu (+%51)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SISTEMIK INFLAMASYON (%37 MEDIYASYON - EN GUCLU):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Bağirsak bariyeri bozulmasi → Endotoksin translokasyonu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Oksidatif stres → Doku hasari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CRP, IL-6, TNF-α artisi → NFKB1, IL6, TNF metilasyonu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Kronik dusuk dereceli inflamasyon → Hizlanmis yaslanma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KALAN %39 DIREKT ETKI: Telomer kisalmasi, mitokondriyal disfonksiyon, direkt nörotoksisite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Psikolojik Dayaniklilik: Koruyucu Faktorler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DUYGU DUZENLEME: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Iyi duzenleme: +1.8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Zayif duzenleme: +6.2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Mekanizma: Stres yaniti ve HPA eksen aktivasyonu azaltimi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implikasyon: DBT (Dialectical Behavior Therapy)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OZ-KONTROL: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oz-kontrol: +1.9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Dusuk oz-kontrol: +5.7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Davranissal yolak: Madde miktar/siklik azaltimi, saglikli yasam tarzi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Fizyolojik yolak: Insulin direnci → EAA yolagi moderasyonu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implikasyon: CBT (Cognitive Behavioral Therapy)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TEDAVI IMPLIKASYONLARI: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mudahaleler sadece davranis degil, biyolojik yaslanmayi da etkiler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Entegre tedavi yaklasimlari (farmakolojik + psikolojik) superiordur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Dayaniklilik gelistirme programlari epigenetik faydalar saglayabilir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Calismanin Guclü Yonleri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BUYUK ORNEK BOYUTU (n=10,542):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Robust istatistiksel guc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Detayli alt grup analizleri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Kucuk etkileri tespit yetisi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COKLU VERI SETI ENTEGRASYONU: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- 15 bagimsiz calisma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Farkli populasyonlar ve cografi bolgeler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Genellenebilirlik artisi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KAPSAMLI METODOLOJI: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 epigenetik saat sistematik karsilastirmasi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Mediyasyon + moderasyon analizleri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Makine ogrenmesi siniflandirma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POSTMORTEM VALIDASYON: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Beyin dokusu analizi (n=108)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PMI duzeltme algoritmasi gelistirme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Adli uygulama potansiyeli gosterimi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ACIK KAYNAK PIPELINE: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GitHub'da kod paylaşimi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Tekrarlanabilirlik ve seffaflik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Calismanin Limitasyonlari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KESITSEL DIZAYN: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Nedensellik cikarimi sinirli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EAA madde kullanimdan once mi, sonuc mu belirsiz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Çözüm: Gelecek longitudinal kohort calismalari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VERI HETEROJENITESI: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Farkli platformlar (450K vs EPIC)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Farkli preprocessing yontemleri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Çözüm: ComBat duzeltmesi, ortak CpG seti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EKSIK FENOTIP BILGISI: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Bazi veri setlerinde detayli kullanim bilgisi yok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Doz-yanit analizleri sinirli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SINIRLI ETNIK CESITLILIK: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Orneklerin %78'i Avrupa kokeni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Diger populasyonlarda kalibrasyon gerekli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KUCUK POSTMORTEM ALT KUMESI: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n=108 beyin dokusu ornegi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Doku-spesifik bulgular dikkatle yorumlanmali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Gelecek Arastirma Yonelimleri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MADDEYE OZGU EPIGENETIK SAATLER: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Mevcut saatler genel populasyon icin optimize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Madde kullanicilarinda daha yuksek dogruluk icin yeni saat gelistirme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MULTI-OMICS ENTEGRASYONU: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DNA metilasyon + Transkriptomiks + Proteomiks + Metabolomiks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Mekanistik anlayisi derinlestirme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DEEP LEARNING MODELLERI: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CNN ve Transformer modelleri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Non-lineer iliskileri yakalama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Performans artisi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KLINIK UYGULAMA CALISMALARI: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Randomize kontrollu calismalar (RCT)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Epigenetik yas izlemenin klinik faydasi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TERAPOTIK HEDEFLEME: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CRISPR-dCas9-DNMT/TET epigenetik editorleme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Epigenetik ilaclar (DNMT inhibitorleri, HDAC inhibitorleri)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Klinik Uygulamalar: Pratik Oneriler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RISK STRATIFIKASYONU: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Yuksek EAA (&gt;5 yil): Yogunlastirilmis tedavi ve yakin takip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Kardiyovaskuler, kanser, erken mortalite riski artmis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TEDAVI IZLEME: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Longitudinal epigenetik yas olcumleri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EAA azalmasi = Tedavi yaniti gostergesi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Objektif biyomarker olarak kullanim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KISISELLESTIRILMIS MUDAHALE: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Yuksek insulin direnci: Metformin, diyet mudahalesi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Yuksek inflamasyon: Anti-inflamatuar stratejiler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Zayif duygu duzenleme: DBT terapi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Dusuk oz-kontrol: CBT terapi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YASAM TARZI MUDAHALESRI: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Kombine mudahale (diyet + egzersiz + stres yonetimi): -4.6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Madde birakma (5 yil): -3.2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Duzenli egzersiz (≥3x/hafta): %43 EAA azalmasi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Adli Sonuclar: Oneriler ve Dikkat Noktalari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KANIT KULLANIMI: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Destekleyici kanit olarak kullanilmali (tek basina degil)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Geleneksel toksikoloji ile birlikte degerlendirilmeli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Kronolojik maruziyet boyutu ekler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METODOLOJIK GEREKSINIMLER: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 kalitesi: pH &gt; 6.0 esigi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PMI duzeltme: Zorunlu postmortem analiz icin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Kalite kontrol metrikleri raporlanmali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BELIRSIZLIK IFADESI: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MAE = 3.8 yil (PMI duzeltilmis)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Guven araliklari raporlanmali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Analiz sınırlamaları belirtilmeli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STANDARDIZASYON GEREKSINIMI: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Uluslararasi protokoller gelistirilmeli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Laboratuvar akreditasyonu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Referans veritabanlari olusturulmali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Halk Sagligi Implikasyonlari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BAGIMLILIK YUKUMLULUGU: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- 296 milyon illicit madde kullanicisi (UNODC, 2021)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- 3 milyon alkol-iliskili olum/yil (WHO, 2018)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yaş ivmelenmesi: Ek saglik yukumlulugu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ONLEME STRATEJILERI: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Eğitim seviyesi artisi: -1.3 yil EAA/seviye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Duzenli egzersiz: %43 EAA azalmasi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Erken mudahale: Genc baslangic yasi (&gt;50 yas) daha yuksek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TEDAVI OPTIMIZASYONU: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Entegre yaklasim: Farmakolojik + psikolojik + yasam tarzi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Kisisellestirilmis tedavi: Mediyator ve moderator profilleme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Uzun vadeli takip: Tersine cevrilebilirlik izleme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POLITIKA ONERILERI: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Bagimlilik tedavisinde yasam tarzi mudahalelerinin entegrasyonu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 programlarina yatirim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izleme icin arastirma finansmani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Etik Hususlar ve Sorumluluklar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GIZLILIK VE VERI KORUMASI: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DNA verisi son derece hassas kisisel bilgi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GDPR/HIPAA uyumluluk zorunlulugu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Anonimizasyon ve guvennli depolama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AYRIMCILIK RISKI: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Sigorta, istihdam kararlarinda kullanim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Genetik ayrimcilik yasalarinin genisletilmesi gerekebilir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BILGILENDIRILMIS ONAM: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test sonuclarinin anlaminin aciklanmasi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Belirsizlik ve limitasyonlarin ifadesi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Geri donus haklari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ADIL ERISIM: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Teknolojinin tum populasyonlara erisilebilirligi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Etnik/sosyoekonomik esitsizliklerin onlenmesi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SORUMLULUK: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Arastirmacilar: Sonuclarin dogru yorumlanmasi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Klinisyenler: Uygun klinik baglam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Politikacilar: Etik cerceve olusturma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Sonuc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Bu calisma, 10,542 DNA metilasyon profili uzerinde gerceklestirilen kapsamli analizlerle, madde kullanim bozukluklarinin epigenetik yaslanma uzerindeki etkilerini sistematik olarak karakterize etmistir.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TEMEL BULGULAR: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madde kategorileri anlamli epigenetik yas ivmelenmesi gosterir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- 1,847 maddeye ozgu CpG imzasi tanimlandi (%87.3 dogruluk)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Fizyolojik mediyatorler toplam etkinin %61'ini aciklar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 etkileri %50-70 azaltir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Postmortem validasyon adli uygulanabilirligi gosterir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DEGER: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Risk stratifikasyonu ve tedavi izleme araci olarak potansiyel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Kisisellestirilmis mudahale yaklasimlarina temel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Tersine cevrilebilirlik kanitlari tedavi icin umut verici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GELECEK: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plastisite, bagimlilik yonetiminde kisisellestirilmis, epigenetik-bilgilendirilmis yaklasimlarin gelismesini desteklemektedir.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Tesekkur ve 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KAYNAKLARI: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- 15 bagimsiz arastirma grubu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Expression Omnibus (GEO)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ArrayExpress, EWAS Data Hub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ACIK BILIM TOPLULUĞU: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Bioconductor R paketleri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GitHub ekosistemi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Python/PyTorch toplulugu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 METODOLOJILER: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Horvath (2013): Pan-tissue epigenetik saat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Levine et al. (2018): PhenoAge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Lu et al. (2019): GrimAge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Belsky et al. (2022): DunedinPACE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KOD ERISIMI: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github.com/mortemdulcem/epi-clock-DNA-mtl-prototype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FONLAMA: Bu calisma icin ozel fon alinmamistir.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CIKAR CATISMASI: Yazarlar herhangi bir cikar catismasi bildirmemektedir.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TESEKKURLER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EpiClock v4.0</a:t>
            </a:r>
            <a:br/>
            <a:r>
              <a:t>DNA Metilasyon Tabanli Epigenetik Yas Analiz Platformu</a:t>
            </a:r>
            <a:br/>
            <a:br/>
            <a:r>
              <a:t>Dr. Nurcan Denli Bayir (nrcdnl94)</a:t>
            </a:r>
            <a:br/>
            <a:br/>
            <a:r>
              <a:t>Sorular icin: nrcdnl94@epiclock.org</a:t>
            </a:r>
            <a:br/>
            <a:r>
              <a:t>GitHub: github.com/mortemdulcem/epi-clock-DNA-mtl-prototype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