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371600"/>
            <a:ext cx="6705295" cy="50292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846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badi"/>
              </a:defRPr>
            </a:pPr>
            <a:r>
              <a:t>DNA METİLASYON SAATLERİYLE BAĞIMLILIKTA</a:t>
            </a:r>
            <a:br/>
            <a:r>
              <a:t>EPİGENETİK YAŞ İVMELENMESİNİN TESPİTİ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B4D2F0"/>
                </a:solidFill>
                <a:latin typeface="Abadi"/>
              </a:defRPr>
            </a:pPr>
            <a:r>
              <a:t>Detection of Epigenetic Age Acceleration in Addiction Using DNA Methylation Clocks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03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8CB4DC"/>
                </a:solidFill>
                <a:latin typeface="Abadi"/>
              </a:defRPr>
            </a:pPr>
            <a:r>
              <a:t>Arş. Gör. Dr. Nurcan Denli Bayır | Adli Tıp | EpiClock v4.0 | 36,170 Yapısal Varyant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3657600"/>
            <a:ext cx="5029200" cy="36576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3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badi"/>
              </a:defRPr>
            </a:pPr>
            <a:r>
              <a:t>EPİCLOCK PLATFORM GENEL BAKIŞ: 35+ ANALİZ MODÜLÜ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1188720"/>
            <a:ext cx="36576" cy="493776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188720"/>
            <a:ext cx="5394960" cy="457200"/>
          </a:xfrm>
          <a:prstGeom prst="round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3444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badi"/>
              </a:defRPr>
            </a:pPr>
            <a:r>
              <a:t>PLATFORM ÖZELLİKLERİ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78308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• 35+ Analiz Modülü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• 36,170 Kimyasal Varyant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• 10,542 DNA Metilasyon Profili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• 5 Epigenetik Saat (Horvath,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  Hannum, PhenoAge, GrimAge,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  DunedinPACE)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• 12 Doku-Spesifik Saat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• Blockchain Denetim İzi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• PDF Rapor Üretimi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• Multi-Omics Entegrasyon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5394960" cy="457200"/>
          </a:xfrm>
          <a:prstGeom prst="round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23444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badi"/>
              </a:defRPr>
            </a:pPr>
            <a:r>
              <a:t>MODÜL KATEGORİLERİ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78308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1. Epigenetik Saat Analizi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2. Madde Tespiti (18 madde)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3. NPS Veritabanı (2,822 türev)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4. Markush Yapı (29,277 var.)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5. Farmakofor Kütüphanesi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6. Polisubstans Kombinasyonları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7. Kemoinformatik Araçlar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8. GWAS/EWAS Entegrasyonu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9. PRS (Poligenik Risk Skoru)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10. Adli Tıp Uygulamaları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3657600"/>
            <a:ext cx="5029200" cy="36576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3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badi"/>
              </a:defRPr>
            </a:pPr>
            <a:r>
              <a:t>5 MAJOR EPİGENETİK SAAT: KARŞILAŞTIRMA</a:t>
            </a:r>
          </a:p>
        </p:txBody>
      </p:sp>
      <p:sp>
        <p:nvSpPr>
          <p:cNvPr id="8" name="Rectangle 7"/>
          <p:cNvSpPr/>
          <p:nvPr/>
        </p:nvSpPr>
        <p:spPr>
          <a:xfrm>
            <a:off x="2529687" y="1280160"/>
            <a:ext cx="7132320" cy="2084832"/>
          </a:xfrm>
          <a:prstGeom prst="rect">
            <a:avLst/>
          </a:prstGeom>
          <a:solidFill>
            <a:srgbClr val="FFFFFF"/>
          </a:solidFill>
          <a:ln w="2540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29687" y="1280160"/>
            <a:ext cx="7132320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75407" y="132588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badi"/>
              </a:defRPr>
            </a:pPr>
            <a:r>
              <a:t>SAAT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5848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04207" y="132588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YIL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9000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35727" y="132588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CpG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2152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67247" y="1325880"/>
            <a:ext cx="1005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DOKU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1880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64527" y="132588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MAE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3320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78927" y="132588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ÖZELLİK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29687" y="1627631"/>
            <a:ext cx="713232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75407" y="1673351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Horvath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5848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04207" y="1673351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2013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9000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35727" y="1673351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353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2152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67247" y="1673351"/>
            <a:ext cx="1005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51 doku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1880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64527" y="1673351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3.6 yıl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3320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78927" y="1673351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Pan-tissue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29687" y="1975104"/>
            <a:ext cx="713232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75407" y="202082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Hannum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5848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04207" y="2020824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2013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9000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35727" y="2020824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71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2152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67247" y="2020824"/>
            <a:ext cx="1005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Kan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91880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64527" y="202082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3.9 yıl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83320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78927" y="202082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Kan optimize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529687" y="2322576"/>
            <a:ext cx="713232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575407" y="236829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PhenoAge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5848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04207" y="2368296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2018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9000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135727" y="2368296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513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82152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867247" y="2368296"/>
            <a:ext cx="1005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Çoklu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91880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964527" y="236829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2.5 yıl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83320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878927" y="236829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9 biyobelirteç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529687" y="2670048"/>
            <a:ext cx="713232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575407" y="271576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GrimAge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358487" y="267004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404207" y="271576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2019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90007" y="267004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135727" y="271576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1,030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21527" y="267004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867247" y="2715768"/>
            <a:ext cx="1005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Kan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918807" y="267004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964527" y="271576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2.1 yıl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833207" y="267004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878927" y="271576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Mortalite pred.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529687" y="3017520"/>
            <a:ext cx="713232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575407" y="3063239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DunedinPACE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358487" y="301752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404207" y="3063239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2022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090007" y="301752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135727" y="3063239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173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821527" y="301752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867247" y="3063239"/>
            <a:ext cx="1005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Kan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918807" y="301752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964527" y="3063239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N/A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833207" y="301752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878927" y="3063239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Yaşlanma hızı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57200" y="3639312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83750"/>
                </a:solidFill>
                <a:latin typeface="Abadi"/>
              </a:defRPr>
            </a:pPr>
            <a:r>
              <a:t>• GrimAge: En güçlü mortalite prediktörü (HR: 1.10 per yıl EAA)</a:t>
            </a:r>
          </a:p>
          <a:p>
            <a:pPr>
              <a:defRPr sz="1400">
                <a:solidFill>
                  <a:srgbClr val="283750"/>
                </a:solidFill>
                <a:latin typeface="Abadi"/>
              </a:defRPr>
            </a:pPr>
            <a:r>
              <a:t>• DunedinPACE: 20 yıllık longitudinal veri, yaşlanma hızı ölçümü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3657600"/>
            <a:ext cx="5029200" cy="36576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3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badi"/>
              </a:defRPr>
            </a:pPr>
            <a:r>
              <a:t>MADDEYE ÖZGÜ EPİGENETİK YAŞ İVMELENMESİ (GrimAge)</a:t>
            </a:r>
          </a:p>
        </p:txBody>
      </p:sp>
      <p:sp>
        <p:nvSpPr>
          <p:cNvPr id="8" name="Rectangle 7"/>
          <p:cNvSpPr/>
          <p:nvPr/>
        </p:nvSpPr>
        <p:spPr>
          <a:xfrm>
            <a:off x="2895447" y="1280160"/>
            <a:ext cx="6400800" cy="2779776"/>
          </a:xfrm>
          <a:prstGeom prst="rect">
            <a:avLst/>
          </a:prstGeom>
          <a:solidFill>
            <a:srgbClr val="FFFFFF"/>
          </a:solidFill>
          <a:ln w="2540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95447" y="1280160"/>
            <a:ext cx="6400800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41167" y="132588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badi"/>
              </a:defRPr>
            </a:pPr>
            <a:r>
              <a:t>MADDE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424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69967" y="13258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EAA (yıl)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1296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58687" y="132588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95% CI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8456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30287" y="13258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p-değeri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9040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6127" y="13258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Cohen's 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95447" y="1627631"/>
            <a:ext cx="640080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41167" y="1673351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Polisubstans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2424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69967" y="1673351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+7.3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1296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58687" y="1673351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6.4 - 8.3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8456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30287" y="1673351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&lt;0.001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9040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6127" y="1673351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1.42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95447" y="1975104"/>
            <a:ext cx="640080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41167" y="202082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Metamfetamin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2424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69967" y="202082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+6.2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1296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58687" y="202082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4.5 - 8.1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8456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30287" y="202082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&lt;0.001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9040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6127" y="202082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1.21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95447" y="2322576"/>
            <a:ext cx="640080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41167" y="236829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Kokain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72424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69967" y="236829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+4.1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1296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58687" y="236829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3.5 - 4.7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8456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30287" y="236829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&lt;0.001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9040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36127" y="236829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0.89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895447" y="2670048"/>
            <a:ext cx="640080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941167" y="271576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Alkol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24247" y="267004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69967" y="271576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+3.6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912967" y="267004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58687" y="27157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3.1 - 4.2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284567" y="267004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30287" y="27157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&lt;0.001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290407" y="267004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336127" y="27157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0.78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895447" y="3017520"/>
            <a:ext cx="640080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941167" y="3063239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Opioidler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724247" y="301752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769967" y="3063239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+2.9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912967" y="301752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958687" y="3063239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2.5 - 3.4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284567" y="301752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30287" y="3063239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&lt;0.001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290407" y="301752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336127" y="3063239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0.65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895447" y="3364992"/>
            <a:ext cx="640080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941167" y="3410712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Esrar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724247" y="3364992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769967" y="341071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+0.8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912967" y="3364992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958687" y="341071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0.3 - 1.4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284567" y="3364992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330287" y="341071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0.008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290407" y="3364992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336127" y="341071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0.18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895447" y="3712464"/>
            <a:ext cx="640080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941167" y="375818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Kontrol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724247" y="371246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769967" y="375818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0.0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912967" y="371246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958687" y="375818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-0.3 - 0.3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284567" y="371246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330287" y="375818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ref.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290407" y="371246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336127" y="375818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-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57200" y="4334256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83750"/>
                </a:solidFill>
                <a:latin typeface="Abadi"/>
              </a:defRPr>
            </a:pPr>
            <a:r>
              <a:t>• Doz-yanıt ilişkisi: r = 0.67 (kullanım yılı × EAA)</a:t>
            </a:r>
          </a:p>
          <a:p>
            <a:pPr>
              <a:defRPr sz="1400">
                <a:solidFill>
                  <a:srgbClr val="283750"/>
                </a:solidFill>
                <a:latin typeface="Abadi"/>
              </a:defRPr>
            </a:pPr>
            <a:r>
              <a:t>• Meta-analiz: 15 bağımsız kohort, N = 10,542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3657600"/>
            <a:ext cx="5029200" cy="36576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3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badi"/>
              </a:defRPr>
            </a:pPr>
            <a:r>
              <a:t>YENİ PSİKOAKTİF MADDELER (NPS): 9 KİMYASAL SINIF</a:t>
            </a:r>
          </a:p>
        </p:txBody>
      </p:sp>
      <p:sp>
        <p:nvSpPr>
          <p:cNvPr id="8" name="Rectangle 7"/>
          <p:cNvSpPr/>
          <p:nvPr/>
        </p:nvSpPr>
        <p:spPr>
          <a:xfrm>
            <a:off x="2483967" y="1280160"/>
            <a:ext cx="7223759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483967" y="1280160"/>
            <a:ext cx="7223759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29687" y="132588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badi"/>
              </a:defRPr>
            </a:pPr>
            <a:r>
              <a:t>SINIF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6996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15687" y="132588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TÜREV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9292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38647" y="1325880"/>
            <a:ext cx="1463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ÖRNEK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4740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93127" y="13258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HEDEF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5324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98967" y="1325880"/>
            <a:ext cx="1463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POTENS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83967" y="1627631"/>
            <a:ext cx="7223759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29687" y="1673351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Sentetik Kanabinoid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6996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15687" y="1673351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784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9292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38647" y="1673351"/>
            <a:ext cx="1463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JWH-018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4740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93127" y="1673351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CB1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5324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98967" y="1673351"/>
            <a:ext cx="1463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THC 10-50x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83967" y="1975104"/>
            <a:ext cx="7223759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29687" y="202082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Sentetik Katinon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6996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15687" y="202082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840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9292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38647" y="2020824"/>
            <a:ext cx="1463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α-PVP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4740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93127" y="202082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DAT/NET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5324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98967" y="2020824"/>
            <a:ext cx="1463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Amfetamin-tipi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83967" y="2322576"/>
            <a:ext cx="7223759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29687" y="236829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Fentanil Analog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76996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15687" y="236829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416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9292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38647" y="2368296"/>
            <a:ext cx="1463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Carfentanil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4740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93127" y="236829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μ-Opioid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5324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98967" y="2368296"/>
            <a:ext cx="1463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Morfin 100x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483967" y="2670048"/>
            <a:ext cx="7223759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529687" y="271576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Nitazenler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69967" y="267004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815687" y="27157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208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592927" y="267004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638647" y="2715768"/>
            <a:ext cx="1463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Etonitazene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147407" y="267004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193127" y="27157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μ-Opioid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153247" y="267004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198967" y="2715768"/>
            <a:ext cx="1463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Morfin 1000x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83967" y="3017520"/>
            <a:ext cx="7223759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29687" y="3063239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Triptaminler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769967" y="301752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815687" y="3063239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156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592927" y="301752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638647" y="3063239"/>
            <a:ext cx="1463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5-MeO-DMT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147407" y="301752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193127" y="3063239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5-HT2A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153247" y="301752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198967" y="3063239"/>
            <a:ext cx="1463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Halüsinojenik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483967" y="3364992"/>
            <a:ext cx="7223759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529687" y="341071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Fenetilaminler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769967" y="3364992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815687" y="341071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192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592927" y="3364992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638647" y="3410712"/>
            <a:ext cx="1463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25I-NBOMe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147407" y="3364992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193127" y="341071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5-HT2A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153247" y="3364992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198967" y="3410712"/>
            <a:ext cx="1463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LSD-tipi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483967" y="3712464"/>
            <a:ext cx="7223759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529687" y="375818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Dizayner Benzolar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769967" y="371246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815687" y="375818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128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592927" y="371246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638647" y="3758184"/>
            <a:ext cx="1463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Flualprazolam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147407" y="371246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193127" y="375818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GABA-A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153247" y="371246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198967" y="3758184"/>
            <a:ext cx="1463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Alprazolam 4x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483967" y="4059935"/>
            <a:ext cx="7223759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529687" y="4105655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Disosiyatifler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769967" y="4059935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815687" y="4105655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64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592927" y="4059935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638647" y="4105655"/>
            <a:ext cx="1463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3-MeO-PCP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147407" y="4059935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193127" y="4105655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NMDA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153247" y="4059935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198967" y="4105655"/>
            <a:ext cx="1463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Ketamin-tipi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483967" y="4407408"/>
            <a:ext cx="7223759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529687" y="445312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Diğer NPS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769967" y="440740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815687" y="445312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34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592927" y="440740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638647" y="4453128"/>
            <a:ext cx="1463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GHB analog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7147407" y="440740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7193127" y="445312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GABA-B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153247" y="440740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198967" y="4453128"/>
            <a:ext cx="1463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Değişken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57200" y="50292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83750"/>
                </a:solidFill>
                <a:latin typeface="Abadi"/>
              </a:defRPr>
            </a:pPr>
            <a:r>
              <a:t>• TOPLAM: 2,822 türev | UNODC Early Warning Advisory sistemine entegre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3657600"/>
            <a:ext cx="5029200" cy="36576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3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badi"/>
              </a:defRPr>
            </a:pPr>
            <a:r>
              <a:t>EPİCLOCK VERİTABANI MODÜLLERİ: 36,170 YAPISAL VARYANT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12567" y="1280160"/>
            <a:ext cx="676656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12567" y="1280160"/>
            <a:ext cx="6766560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58287" y="132588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badi"/>
              </a:defRPr>
            </a:pPr>
            <a:r>
              <a:t>MODÜL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9856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44287" y="132588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KAYIT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1296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58687" y="1325880"/>
            <a:ext cx="16459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VERİ TİPİ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5032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6047" y="132588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KAYNAK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12567" y="1627631"/>
            <a:ext cx="676656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58287" y="1673351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Temel Madde DB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9856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44287" y="1673351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1,815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1296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58687" y="1673351"/>
            <a:ext cx="16459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SMILES, CAS, Sınıf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5032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96047" y="1673351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PubChem, ChEMBL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12567" y="1975104"/>
            <a:ext cx="676656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58287" y="202082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NPS Türev DB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9856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44287" y="202082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2,822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1296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58687" y="2020824"/>
            <a:ext cx="16459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Türev, Potens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5032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96047" y="202082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UNODC, EMCDDA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12567" y="2322576"/>
            <a:ext cx="676656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58287" y="236829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Polisubstans Komb.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9856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44287" y="236829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257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1296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58687" y="2368296"/>
            <a:ext cx="16459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Sinerji, Risk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5032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96047" y="236829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Literatür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12567" y="2670048"/>
            <a:ext cx="676656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58287" y="271576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Kimyasal Sentez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98567" y="267004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44287" y="271576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31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12967" y="267004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58687" y="2715768"/>
            <a:ext cx="16459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Prekursor → Ürün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650327" y="267004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96047" y="271576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DEA, INCB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12567" y="3017520"/>
            <a:ext cx="676656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58287" y="3063239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Metabolik Yolaklar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998567" y="301752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44287" y="3063239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48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912967" y="301752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58687" y="3063239"/>
            <a:ext cx="16459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CYP450, Faz I/II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650327" y="301752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696047" y="3063239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PharmGKB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12567" y="3364992"/>
            <a:ext cx="676656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58287" y="341071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Farmakofor Lib.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998567" y="3364992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44287" y="341071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1,920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912967" y="3364992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958687" y="3410712"/>
            <a:ext cx="16459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In silico pred.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650327" y="3364992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96047" y="3410712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Hesaplamalı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12567" y="3712464"/>
            <a:ext cx="676656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758287" y="375818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Metabolit Tahmin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998567" y="371246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44287" y="375818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6,240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912967" y="371246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958687" y="3758184"/>
            <a:ext cx="16459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Faz I, II, Piroliz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650327" y="371246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696047" y="375818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BioTransformer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712567" y="4059935"/>
            <a:ext cx="676656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758287" y="4105655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Markush Varyant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998567" y="4059935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044287" y="4105655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29,277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912967" y="4059935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958687" y="4105655"/>
            <a:ext cx="16459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R-grup komb.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650327" y="4059935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696047" y="4105655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Patent analizi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712567" y="4407408"/>
            <a:ext cx="676656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758287" y="445312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TOPLAM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998567" y="440740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044287" y="445312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36,170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912967" y="440740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958687" y="4453128"/>
            <a:ext cx="16459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-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650327" y="440740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696047" y="445312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-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3657600"/>
            <a:ext cx="5029200" cy="36576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3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badi"/>
              </a:defRPr>
            </a:pPr>
            <a:r>
              <a:t>DNA METİLASYON REFERANS VERİTABANI: 10,542 PROFİL</a:t>
            </a:r>
          </a:p>
        </p:txBody>
      </p:sp>
      <p:sp>
        <p:nvSpPr>
          <p:cNvPr id="8" name="Rectangle 7"/>
          <p:cNvSpPr/>
          <p:nvPr/>
        </p:nvSpPr>
        <p:spPr>
          <a:xfrm>
            <a:off x="2804007" y="1280160"/>
            <a:ext cx="6583679" cy="3127248"/>
          </a:xfrm>
          <a:prstGeom prst="rect">
            <a:avLst/>
          </a:prstGeom>
          <a:solidFill>
            <a:srgbClr val="FFFFFF"/>
          </a:solidFill>
          <a:ln w="2540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04007" y="1280160"/>
            <a:ext cx="6583679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49727" y="13258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badi"/>
              </a:defRPr>
            </a:pPr>
            <a:r>
              <a:t>KATEGORİ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8144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27167" y="132588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0440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50127" y="132588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4448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90207" y="1325880"/>
            <a:ext cx="1188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PLATFORM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2464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70367" y="132588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CpG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04007" y="1627631"/>
            <a:ext cx="6583679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49727" y="1673351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Alkol Kullanım Boz.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8144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27167" y="1673351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2,183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0440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50127" y="1673351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20.7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4448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90207" y="1673351"/>
            <a:ext cx="1188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450K/EPIC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2464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70367" y="1673351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485K-866K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04007" y="1975104"/>
            <a:ext cx="6583679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49727" y="202082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Opioid Kullanım Boz.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8144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27167" y="202082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1,360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0440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50127" y="2020824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12.9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4448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90207" y="2020824"/>
            <a:ext cx="1188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450K/EPIC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2464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70367" y="202082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485K-866K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04007" y="2322576"/>
            <a:ext cx="6583679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849727" y="236829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Kokain Kullanım Boz.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8144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27167" y="236829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1,030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0440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50127" y="236829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9.8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64448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90207" y="2368296"/>
            <a:ext cx="1188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450K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92464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70367" y="236829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485,577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804007" y="2670048"/>
            <a:ext cx="6583679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849727" y="271576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Polisubstans Kullanım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181447" y="267004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227167" y="27157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720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04407" y="267004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50127" y="271576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6.8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644487" y="267004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90207" y="2715768"/>
            <a:ext cx="1188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EPIC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924647" y="267004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970367" y="271576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866,895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804007" y="3017520"/>
            <a:ext cx="6583679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849727" y="306323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Esrar Kullanım Boz.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181447" y="301752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227167" y="3063239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194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04407" y="301752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050127" y="3063239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1.8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644487" y="301752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90207" y="3063239"/>
            <a:ext cx="1188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450K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924647" y="301752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970367" y="3063239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485,577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804007" y="3364992"/>
            <a:ext cx="6583679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849727" y="341071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Metamfetamin Kullanım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181447" y="3364992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227167" y="341071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48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004407" y="3364992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050127" y="3410712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0.5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644487" y="3364992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90207" y="3410712"/>
            <a:ext cx="1188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450K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924647" y="3364992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970367" y="341071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485,577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804007" y="3712464"/>
            <a:ext cx="6583679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849727" y="375818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Sağlıklı Kontrol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181447" y="371246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227167" y="375818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5,007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004407" y="371246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050127" y="3758184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47.5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644487" y="371246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690207" y="3758184"/>
            <a:ext cx="1188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Karma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924647" y="371246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970367" y="375818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Değişken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804007" y="4059935"/>
            <a:ext cx="6583679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849727" y="410565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TOPLAM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181447" y="4059935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227167" y="4105655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10,542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004407" y="4059935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050127" y="4105655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100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644487" y="4059935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690207" y="4105655"/>
            <a:ext cx="1188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-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924647" y="4059935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970367" y="4105655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-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57200" y="4681728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83750"/>
                </a:solidFill>
                <a:latin typeface="Abadi"/>
              </a:defRPr>
            </a:pPr>
            <a:r>
              <a:t>• 15 Bağımsız Kohort: GEO (GSE veri setleri), TCGA, Blueprint Epigenome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3657600"/>
            <a:ext cx="5029200" cy="36576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3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badi"/>
              </a:defRPr>
            </a:pPr>
            <a:r>
              <a:t>MARKUSH YAPI KURALLARI: 29,277 KİMYASAL VARYANT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804007" y="1280160"/>
            <a:ext cx="6583680" cy="3822191"/>
          </a:xfrm>
          <a:prstGeom prst="rect">
            <a:avLst/>
          </a:prstGeom>
          <a:solidFill>
            <a:srgbClr val="FFFFFF"/>
          </a:solidFill>
          <a:ln w="2540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04007" y="1280160"/>
            <a:ext cx="6583680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49727" y="132588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badi"/>
              </a:defRPr>
            </a:pPr>
            <a:r>
              <a:t>KURAL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4408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89807" y="132588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SINIF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7288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18607" y="132588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ÇEKİRDEK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9312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8847" y="13258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R-GRUP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8184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27567" y="13258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VARYANT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04007" y="1627631"/>
            <a:ext cx="658368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49727" y="1673351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4408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89807" y="1673351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Nitazenler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7288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18607" y="1673351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Benzimidazol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9312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38847" y="1673351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R1-R5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8184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27567" y="1673351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5,200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04007" y="1975104"/>
            <a:ext cx="658368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49727" y="2020824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4408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89807" y="202082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Fenetilaminler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7288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18607" y="202082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Fenilpropilamin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9312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38847" y="202082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R1-R4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8184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27567" y="202082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4,800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04007" y="2322576"/>
            <a:ext cx="658368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849727" y="236829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44408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89807" y="236829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Triptaminler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27288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18607" y="236829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İndoletilamin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9312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38847" y="236829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R1-R4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38184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27567" y="236829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3,600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804007" y="2670048"/>
            <a:ext cx="658368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849727" y="271576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444087" y="267004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489807" y="271576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Benzodiazepinler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272887" y="267004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318607" y="271576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1,4-Benzodiazepin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193127" y="267004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38847" y="271576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R1-R3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381847" y="267004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27567" y="27157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3,200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804007" y="3017520"/>
            <a:ext cx="658368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849727" y="3063239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444087" y="301752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489807" y="3063239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Kanabinoidler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272887" y="301752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318607" y="3063239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İndol/İndazol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193127" y="301752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238847" y="3063239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R1-R4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381847" y="301752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427567" y="3063239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3,800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804007" y="3364992"/>
            <a:ext cx="658368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849727" y="3410712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6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444087" y="3364992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489807" y="3410712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Katinonlar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272887" y="3364992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318607" y="341071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β-keto fenilamin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193127" y="3364992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238847" y="341071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R1-R3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381847" y="3364992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427567" y="341071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2,800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804007" y="3712464"/>
            <a:ext cx="658368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849727" y="3758184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7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444087" y="371246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489807" y="375818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Fentaniller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272887" y="371246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318607" y="375818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4-Anilinpiperidin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193127" y="371246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238847" y="375818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R1-R4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381847" y="371246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427567" y="375818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2,400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804007" y="4059935"/>
            <a:ext cx="658368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849727" y="4105655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8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444087" y="4059935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489807" y="4105655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Disosiyatifler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272887" y="4059935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318607" y="4105655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Arilsikloheksilamin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193127" y="4059935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238847" y="4105655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R1-R3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381847" y="4059935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427567" y="4105655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1,600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804007" y="4407408"/>
            <a:ext cx="658368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849727" y="445312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9-10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444087" y="440740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489807" y="445312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Diğer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272887" y="440740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318607" y="445312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Çeşitli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7193127" y="440740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7238847" y="44531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Değişken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381847" y="440740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427567" y="445312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1,877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804007" y="4754879"/>
            <a:ext cx="658368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849727" y="4800599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</a:p>
        </p:txBody>
      </p:sp>
      <p:sp>
        <p:nvSpPr>
          <p:cNvPr id="111" name="Rectangle 110"/>
          <p:cNvSpPr/>
          <p:nvPr/>
        </p:nvSpPr>
        <p:spPr>
          <a:xfrm>
            <a:off x="3444087" y="4754879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3489807" y="4800599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TOPLAM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272887" y="4754879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5318607" y="4800599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-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193127" y="4754879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7238847" y="4800599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-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381847" y="4754879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427567" y="4800599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29,277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57200" y="5376672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83750"/>
                </a:solidFill>
                <a:latin typeface="Abadi"/>
              </a:defRPr>
            </a:pPr>
            <a:r>
              <a:t>• 'Kimyasal olarak mümkün' bileşiklerin sistematik üretimi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3657600"/>
            <a:ext cx="5029200" cy="36576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3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badi"/>
              </a:defRPr>
            </a:pPr>
            <a:r>
              <a:t>POLİSUBSTANS KOMBİNASYONLARI: RİSK MATRİSİ (n=257)</a:t>
            </a:r>
          </a:p>
        </p:txBody>
      </p:sp>
      <p:sp>
        <p:nvSpPr>
          <p:cNvPr id="8" name="Rectangle 7"/>
          <p:cNvSpPr/>
          <p:nvPr/>
        </p:nvSpPr>
        <p:spPr>
          <a:xfrm>
            <a:off x="2666847" y="1280160"/>
            <a:ext cx="6858000" cy="3127248"/>
          </a:xfrm>
          <a:prstGeom prst="rect">
            <a:avLst/>
          </a:prstGeom>
          <a:solidFill>
            <a:srgbClr val="FFFFFF"/>
          </a:solidFill>
          <a:ln w="2540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66847" y="1280160"/>
            <a:ext cx="6858000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12567" y="132588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badi"/>
              </a:defRPr>
            </a:pPr>
            <a:r>
              <a:t>KOMBİNASYON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6140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07127" y="132588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SOKAK ADI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300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8727" y="132588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SİNERJİ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5596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01687" y="132588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ÖLÜM 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8748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33207" y="1325880"/>
            <a:ext cx="16459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MEKANİZMA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66847" y="1627631"/>
            <a:ext cx="685800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12567" y="1673351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Fent+Heroin+Carfent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6140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07127" y="1673351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Grey Death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300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78727" y="1673351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4.2x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5596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01687" y="1673351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50%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8748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33207" y="1673351"/>
            <a:ext cx="16459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Resp. depresyon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66847" y="1975104"/>
            <a:ext cx="685800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12567" y="202082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Fentanil+Heroin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6140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07127" y="202082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Purple Dope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3300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78727" y="202082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3.5x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5596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01687" y="2020824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45%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8748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33207" y="2020824"/>
            <a:ext cx="16459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Opioid toksisitesi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66847" y="2322576"/>
            <a:ext cx="685800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12567" y="236829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Kokain+Heroin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6140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07127" y="236829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Speedball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3300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78727" y="236829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2.8x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05596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01687" y="2368296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35%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8748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833207" y="2368296"/>
            <a:ext cx="16459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Kardiyovasküler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66847" y="2670048"/>
            <a:ext cx="685800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12567" y="271576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Benzodiazepin+Opioid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861407" y="267004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907127" y="27157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-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33007" y="267004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78727" y="27157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3.2x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055967" y="267004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101687" y="271576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30%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787487" y="267004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833207" y="2715768"/>
            <a:ext cx="16459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Resp. depresyon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666847" y="3017520"/>
            <a:ext cx="685800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12567" y="3063239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Alkol+Opioid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861407" y="301752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907127" y="3063239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-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233007" y="301752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278727" y="3063239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2.8x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055967" y="301752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101687" y="3063239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28%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787487" y="301752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833207" y="3063239"/>
            <a:ext cx="16459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CNS depresyon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666847" y="3364992"/>
            <a:ext cx="685800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712567" y="341071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MDMA+Amfetamin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861407" y="3364992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907127" y="341071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-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233007" y="3364992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278727" y="341071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2.4x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055967" y="3364992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101687" y="341071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15%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787487" y="3364992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833207" y="3410712"/>
            <a:ext cx="16459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Hipertermi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666847" y="3712464"/>
            <a:ext cx="685800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712567" y="375818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Kokain+Alkol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861407" y="371246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907127" y="375818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Cocaethylene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233007" y="371246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278727" y="375818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1.9x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055967" y="371246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101687" y="3758184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12%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787487" y="371246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833207" y="3758184"/>
            <a:ext cx="16459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Hepatotoksisite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666847" y="4059935"/>
            <a:ext cx="685800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712567" y="4105655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MDMA+LSD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861407" y="4059935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907127" y="4105655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Candy Flip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233007" y="4059935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278727" y="4105655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1.8x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055967" y="4059935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101687" y="4105655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5%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787487" y="4059935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833207" y="4105655"/>
            <a:ext cx="16459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Serotonerjik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57200" y="4681728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83750"/>
                </a:solidFill>
                <a:latin typeface="Abadi"/>
              </a:defRPr>
            </a:pPr>
            <a:r>
              <a:t>• SF (Sinergy Factor) = Gözlenen etki / Beklenen aditif etki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3657600"/>
            <a:ext cx="5029200" cy="36576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3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badi"/>
              </a:defRPr>
            </a:pPr>
            <a:r>
              <a:t>FARMAKOFOR SANAL KÜTÜPHANESİ: 1,920 BİLEŞİK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1167" y="1280160"/>
            <a:ext cx="6309359" cy="3822191"/>
          </a:xfrm>
          <a:prstGeom prst="rect">
            <a:avLst/>
          </a:prstGeom>
          <a:solidFill>
            <a:srgbClr val="FFFFFF"/>
          </a:solidFill>
          <a:ln w="2540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41167" y="1280160"/>
            <a:ext cx="6309359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86887" y="13258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badi"/>
              </a:defRPr>
            </a:pPr>
            <a:r>
              <a:t>ÇEKİRDEK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1860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64327" y="132588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6724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12967" y="132588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HEDEF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1316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58887" y="13258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logP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1900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64727" y="132588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BBB 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41167" y="1627631"/>
            <a:ext cx="6309359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86887" y="1673351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Fenetilamin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1860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64327" y="1673351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180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6724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12967" y="1673351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DAT/SERT/5-HT2A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1316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58887" y="1673351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1.5-3.5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1900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64727" y="1673351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75%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41167" y="1975104"/>
            <a:ext cx="6309359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86887" y="202082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Triptamin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1860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64327" y="202082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150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6724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12967" y="202082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5-HT2A/5-HT1A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1316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58887" y="202082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1.0-3.0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1900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64727" y="2020824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80%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941167" y="2322576"/>
            <a:ext cx="6309359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86887" y="236829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Fentanil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1860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64327" y="2368296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140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86724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12967" y="2368296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μ-Opioid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1316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58887" y="236829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3.0-5.0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1900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64727" y="2368296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90%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941167" y="2670048"/>
            <a:ext cx="6309359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986887" y="271576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Benzodiazepin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318607" y="267004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364327" y="2715768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130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867247" y="267004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12967" y="271576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GABA-A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513167" y="267004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558887" y="27157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2.0-4.0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519007" y="267004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64727" y="271576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70%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941167" y="3017520"/>
            <a:ext cx="6309359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986887" y="306323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Arilsikloheksilamin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318607" y="301752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64327" y="3063239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100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67247" y="301752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912967" y="3063239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NMDA/σ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513167" y="301752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558887" y="3063239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2.5-4.5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519007" y="301752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564727" y="3063239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85%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941167" y="3364992"/>
            <a:ext cx="6309359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986887" y="341071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Katinon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318607" y="3364992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364327" y="341071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120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867247" y="3364992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912967" y="341071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DAT/NET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513167" y="3364992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558887" y="341071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1.0-2.5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519007" y="3364992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564727" y="341071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65%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941167" y="3712464"/>
            <a:ext cx="6309359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986887" y="375818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Kanabinoid (İndol)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318607" y="371246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364327" y="375818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160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867247" y="371246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912967" y="375818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CB1/CB2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513167" y="371246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558887" y="375818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4.0-7.0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519007" y="371246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564727" y="3758184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55%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941167" y="4059935"/>
            <a:ext cx="6309359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986887" y="410565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Kanabinoid (İndazol)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318607" y="4059935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364327" y="4105655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140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867247" y="4059935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912967" y="4105655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CB1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513167" y="4059935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558887" y="4105655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4.5-7.5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519007" y="4059935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564727" y="4105655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50%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941167" y="4407408"/>
            <a:ext cx="6309359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986887" y="44531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Opioid (Morfin-tipi)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318607" y="440740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364327" y="4453128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100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867247" y="440740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912967" y="445312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μ/κ/δ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7513167" y="440740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7558887" y="445312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0.5-2.5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519007" y="440740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564727" y="445312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40%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941167" y="4754879"/>
            <a:ext cx="6309359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986887" y="480059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Diğer (8 çekirdek)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318607" y="4754879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364327" y="4800599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700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867247" y="4754879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5912967" y="4800599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Çeşitli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513167" y="4754879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7558887" y="4800599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Değişken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519007" y="4754879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564727" y="4800599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60%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57200" y="5376672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83750"/>
                </a:solidFill>
                <a:latin typeface="Abadi"/>
              </a:defRPr>
            </a:pPr>
            <a:r>
              <a:t>• 16 farmakofor çekirdeği × ortalama 120 türev = 1,920 sanal bileşik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3657600"/>
            <a:ext cx="5029200" cy="36576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3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badi"/>
              </a:defRPr>
            </a:pPr>
            <a:r>
              <a:t>IN SILICO ADMET TAHMİNLERİ: 1,920 BİLEŞİK ANALİZİ</a:t>
            </a:r>
          </a:p>
        </p:txBody>
      </p:sp>
      <p:sp>
        <p:nvSpPr>
          <p:cNvPr id="8" name="Rectangle 7"/>
          <p:cNvSpPr/>
          <p:nvPr/>
        </p:nvSpPr>
        <p:spPr>
          <a:xfrm>
            <a:off x="2575407" y="1280160"/>
            <a:ext cx="7040880" cy="3127248"/>
          </a:xfrm>
          <a:prstGeom prst="rect">
            <a:avLst/>
          </a:prstGeom>
          <a:solidFill>
            <a:srgbClr val="FFFFFF"/>
          </a:solidFill>
          <a:ln w="2540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75407" y="1280160"/>
            <a:ext cx="7040880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21127" y="1325880"/>
            <a:ext cx="16459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badi"/>
              </a:defRPr>
            </a:pPr>
            <a:r>
              <a:t>PARAMETRE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1276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8487" y="132588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YÖNTEM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7580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21527" y="1325880"/>
            <a:ext cx="1188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SONUÇ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5596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01687" y="13258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EŞİK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4468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132588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YORUM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75407" y="1627631"/>
            <a:ext cx="704088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21127" y="1673351"/>
            <a:ext cx="16459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BBB Geçirgenliği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1276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58487" y="1673351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QSAR (logBB)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7580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21527" y="1673351"/>
            <a:ext cx="1188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1,144 (%59.6)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5596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01687" y="1673351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&gt;0.3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4468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90407" y="1673351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CNS aktif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75407" y="1975104"/>
            <a:ext cx="704088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21127" y="2020824"/>
            <a:ext cx="16459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Caco-2 Permeabilite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1276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58487" y="202082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PAMPA model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7580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21527" y="2020824"/>
            <a:ext cx="1188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1,456 (%75.8)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5596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01687" y="202082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&gt;1×10⁻⁶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4468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90407" y="202082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İyi absorpsiyon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75407" y="2322576"/>
            <a:ext cx="704088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21127" y="2368296"/>
            <a:ext cx="16459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P-gp Substrat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1276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58487" y="236829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ML classifier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7580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21527" y="2368296"/>
            <a:ext cx="1188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768 (%40.0)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05596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01687" y="236829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Prob &gt;0.5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4468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90407" y="236829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Efflux riski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575407" y="2670048"/>
            <a:ext cx="704088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21127" y="2715768"/>
            <a:ext cx="16459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CYP3A4 İnhibisyon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312767" y="267004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358487" y="271576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Docking+QSAR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775807" y="267004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821527" y="2715768"/>
            <a:ext cx="1188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624 (%32.5)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055967" y="267004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101687" y="271576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IC50&lt;10μM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244687" y="267004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90407" y="27157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DDI riski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575407" y="3017520"/>
            <a:ext cx="704088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621127" y="3063239"/>
            <a:ext cx="16459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CYP2D6 İnhibisyon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12767" y="301752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58487" y="3063239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Docking+QSAR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775807" y="301752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821527" y="3063239"/>
            <a:ext cx="1188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512 (%26.7)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055967" y="301752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101687" y="3063239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IC50&lt;10μM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244687" y="301752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290407" y="3063239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DDI riski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575407" y="3364992"/>
            <a:ext cx="704088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621127" y="3410712"/>
            <a:ext cx="16459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hERG İnhibisyon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312767" y="3364992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358487" y="341071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QSAR (pIC50)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775807" y="3364992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821527" y="3410712"/>
            <a:ext cx="1188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384 (%20.0)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055967" y="3364992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101687" y="341071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IC50&lt;10μM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244687" y="3364992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290407" y="341071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QT uzaması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575407" y="3712464"/>
            <a:ext cx="704088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621127" y="3758184"/>
            <a:ext cx="16459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Hepatotoksisite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312767" y="371246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358487" y="375818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DILI classifier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775807" y="371246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821527" y="3758184"/>
            <a:ext cx="1188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288 (%15.0)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055967" y="371246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101687" y="375818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Prob &gt;0.5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244687" y="371246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290407" y="375818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KC riski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575407" y="4059935"/>
            <a:ext cx="704088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621127" y="4105655"/>
            <a:ext cx="16459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AMES Mutajenite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312767" y="4059935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358487" y="4105655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Derek/Sarah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775807" y="4059935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821527" y="4105655"/>
            <a:ext cx="1188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192 (%10.0)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055967" y="4059935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101687" y="4105655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Pozitif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244687" y="4059935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290407" y="4105655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Genotoksik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3657600"/>
            <a:ext cx="5029200" cy="36576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3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badi"/>
              </a:defRPr>
            </a:pPr>
            <a:r>
              <a:t>RESEPTÖR AFİNİTE TAHMİN PANELİ (Ki, nM)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58287" y="1280160"/>
            <a:ext cx="6675120" cy="3822191"/>
          </a:xfrm>
          <a:prstGeom prst="rect">
            <a:avLst/>
          </a:prstGeom>
          <a:solidFill>
            <a:srgbClr val="FFFFFF"/>
          </a:solidFill>
          <a:ln w="2540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58287" y="1280160"/>
            <a:ext cx="6675120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04007" y="132588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badi"/>
              </a:defRPr>
            </a:pPr>
            <a:r>
              <a:t>RESEPTÖR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2988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75607" y="1325880"/>
            <a:ext cx="1005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GEN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2716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72887" y="132588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FONKSİYON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5596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01687" y="132588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REF. LİGAND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1900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64727" y="132588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Ki (nM)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58287" y="1627631"/>
            <a:ext cx="667512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04007" y="1673351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DAT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2988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75607" y="1673351"/>
            <a:ext cx="1005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SLC6A3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2716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72887" y="1673351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Dopamin taşıyıcı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5596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01687" y="1673351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Kokain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1900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64727" y="1673351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230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58287" y="1975104"/>
            <a:ext cx="667512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04007" y="202082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SERT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2988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75607" y="2020824"/>
            <a:ext cx="1005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SLC6A4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2716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72887" y="202082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Serotonin taşıyıcı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5596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01687" y="202082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Fluoksetin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1900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64727" y="202082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0.8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58287" y="2322576"/>
            <a:ext cx="667512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804007" y="236829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NET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2988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75607" y="2368296"/>
            <a:ext cx="1005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SLC6A2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22716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272887" y="236829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Norepinefrin taşıyıcı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05596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01687" y="236829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Atomoksetin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1900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64727" y="236829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5.0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58287" y="2670048"/>
            <a:ext cx="667512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804007" y="27157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5-HT2A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29887" y="267004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75607" y="2715768"/>
            <a:ext cx="1005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HTR2A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227167" y="267004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272887" y="271576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Serotonin 2A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055967" y="267004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101687" y="271576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LSD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519007" y="267004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64727" y="271576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1.1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58287" y="3017520"/>
            <a:ext cx="667512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804007" y="3063239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5-HT1A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29887" y="301752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75607" y="3063239"/>
            <a:ext cx="1005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HTR1A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227167" y="301752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272887" y="3063239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Serotonin 1A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055967" y="301752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101687" y="3063239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Buspiron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519007" y="301752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564727" y="3063239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15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58287" y="3364992"/>
            <a:ext cx="667512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804007" y="341071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μ-Opioid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129887" y="3364992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175607" y="3410712"/>
            <a:ext cx="1005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OPRM1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227167" y="3364992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272887" y="3410712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Opioid reseptör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055967" y="3364992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101687" y="341071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Morfin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519007" y="3364992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564727" y="341071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1.8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58287" y="3712464"/>
            <a:ext cx="667512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804007" y="375818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κ-Opioid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129887" y="371246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175607" y="3758184"/>
            <a:ext cx="1005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OPRK1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227167" y="371246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272887" y="375818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Opioid reseptör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055967" y="371246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101687" y="375818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Salvinorin A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519007" y="371246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564727" y="375818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1.9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58287" y="4059935"/>
            <a:ext cx="667512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804007" y="4105655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CB1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129887" y="4059935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175607" y="4105655"/>
            <a:ext cx="1005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CNR1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227167" y="4059935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272887" y="4105655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Kanabinoid 1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055967" y="4059935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101687" y="4105655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THC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519007" y="4059935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564727" y="4105655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41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758287" y="4407408"/>
            <a:ext cx="667512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804007" y="445312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NMDA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129887" y="440740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175607" y="4453128"/>
            <a:ext cx="1005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GRIN2B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227167" y="440740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272887" y="445312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Glutamat reseptör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7055967" y="440740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7101687" y="44531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Ketamin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519007" y="440740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564727" y="445312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2,200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758287" y="4754879"/>
            <a:ext cx="667512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804007" y="4800599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GABA-A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129887" y="4754879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175607" y="4800599"/>
            <a:ext cx="1005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GABRA1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227167" y="4754879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5272887" y="4800599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GABA reseptör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055967" y="4754879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7101687" y="4800599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Diazepam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519007" y="4754879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564727" y="4800599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14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57200" y="5376672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83750"/>
                </a:solidFill>
                <a:latin typeface="Abadi"/>
              </a:defRPr>
            </a:pPr>
            <a:r>
              <a:t>• QSAR + Molecular Docking ile tahmin | Doğrulama: ChEMBL verisi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3657600"/>
            <a:ext cx="5029200" cy="36576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3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badi"/>
              </a:defRPr>
            </a:pPr>
            <a:r>
              <a:t>METABOLİT TAHMİN SİSTEMİ: 6,240 METABOLİT</a:t>
            </a:r>
          </a:p>
        </p:txBody>
      </p:sp>
      <p:sp>
        <p:nvSpPr>
          <p:cNvPr id="8" name="Rectangle 7"/>
          <p:cNvSpPr/>
          <p:nvPr/>
        </p:nvSpPr>
        <p:spPr>
          <a:xfrm>
            <a:off x="2575407" y="1280160"/>
            <a:ext cx="7040880" cy="3127248"/>
          </a:xfrm>
          <a:prstGeom prst="rect">
            <a:avLst/>
          </a:prstGeom>
          <a:solidFill>
            <a:srgbClr val="FFFFFF"/>
          </a:solidFill>
          <a:ln w="2540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75407" y="1280160"/>
            <a:ext cx="7040880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21127" y="132588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badi"/>
              </a:defRPr>
            </a:pPr>
            <a:r>
              <a:t>REAKSİYON TİPİ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8708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2807" y="132588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ENZİM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5012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5847" y="13258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ÜRÜN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3884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84567" y="132588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8748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33207" y="132588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ÖRNEK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75407" y="1627631"/>
            <a:ext cx="704088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21127" y="1673351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Aromatik Hidroksilasyon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8708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32807" y="1673351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CYP1A2, 3A4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5012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5847" y="1673351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Ar-OH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3884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84567" y="1673351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1,840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8748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33207" y="1673351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4-OH-amfetamin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75407" y="1975104"/>
            <a:ext cx="704088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21127" y="202082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Alifatik Hidroksilasyon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8708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32807" y="202082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CYP3A4, 2D6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5012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95847" y="202082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R-CH₂-OH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3884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84567" y="202082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1,120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8748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33207" y="202082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ω-OH-THC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75407" y="2322576"/>
            <a:ext cx="704088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21127" y="2368296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N-Dealkilasyon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8708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32807" y="236829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CYP3A4, 2B6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5012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95847" y="236829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R-NH₂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3884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84567" y="2368296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980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8748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833207" y="236829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Norfentanil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575407" y="2670048"/>
            <a:ext cx="704088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21127" y="271576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O-Dealkilasyon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87087" y="267004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632807" y="271576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CYP2D6, 3A4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50127" y="267004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95847" y="271576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R-OH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238847" y="267004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84567" y="2715768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640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787487" y="267004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833207" y="271576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O-desmetil-tram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575407" y="3017520"/>
            <a:ext cx="704088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621127" y="3063239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N-Oksidasyon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87087" y="301752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632807" y="3063239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FMO3, CYP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50127" y="301752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095847" y="3063239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R₃N→O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238847" y="301752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284567" y="3063239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420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787487" y="301752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833207" y="3063239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Meth N-oksit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575407" y="3364992"/>
            <a:ext cx="704088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621127" y="341071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Glukuronidasyon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87087" y="3364992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632807" y="341071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UGT1A1, 2B7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050127" y="3364992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095847" y="341071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R-O-Gluk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238847" y="3364992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284567" y="341071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580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787487" y="3364992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833207" y="3410712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M-6-glukuronid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575407" y="3712464"/>
            <a:ext cx="704088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621127" y="375818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Sülfatasyon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587087" y="371246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632807" y="375818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SULT1A1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050127" y="371246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095847" y="375818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R-O-SO₃H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238847" y="371246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284567" y="375818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340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787487" y="371246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833207" y="375818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MDMA-4-sülfat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575407" y="4059935"/>
            <a:ext cx="704088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621127" y="4105655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Piroliz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587087" y="4059935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632807" y="4105655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Termal &gt;200°C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050127" y="4059935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095847" y="4105655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Dekomp.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238847" y="4059935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284567" y="4105655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320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787487" y="4059935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833207" y="4105655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Crack metabolit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57200" y="4681728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83750"/>
                </a:solidFill>
                <a:latin typeface="Abadi"/>
              </a:defRPr>
            </a:pPr>
            <a:r>
              <a:t>• BioTransformer + literatür tabanlı | GC-MS/LC-MS retention time tahminleri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3657600"/>
            <a:ext cx="5029200" cy="36576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3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badi"/>
              </a:defRPr>
            </a:pPr>
            <a:r>
              <a:t>DNA'DAN MADDE TESPİTİ: 18 TESPİT EDİLEBİLİR MADDE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32607" y="1280160"/>
            <a:ext cx="6126479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032607" y="1280160"/>
            <a:ext cx="6126479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78327" y="132588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badi"/>
              </a:defRPr>
            </a:pPr>
            <a:r>
              <a:t>MADDE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6140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07127" y="132588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GEN/CpG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0732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3047" y="132588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AUC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4740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93127" y="13258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DUYARLILIK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5324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98967" y="13258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ÖZGÜLLÜK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32607" y="1627631"/>
            <a:ext cx="6126479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78327" y="1673351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Sigara (Aktif)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6140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07127" y="1673351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AHRR, F2RL3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0732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3047" y="1673351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0.98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4740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93127" y="1673351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96%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5324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98967" y="1673351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95%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32607" y="1975104"/>
            <a:ext cx="6126479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78327" y="202082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Sigara (Eski)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6140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07127" y="202082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AHRR, GFI1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0732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53047" y="2020824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0.92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4740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93127" y="202082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88%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5324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98967" y="202082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90%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32607" y="2322576"/>
            <a:ext cx="6126479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78327" y="236829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Alkol (Kronik)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6140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07127" y="2368296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HECW2, SLC7A11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0732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53047" y="236829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0.89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4740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93127" y="236829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85%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5324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98967" y="236829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88%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032607" y="2670048"/>
            <a:ext cx="6126479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078327" y="271576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Kokain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861407" y="267004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907127" y="271576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DDR1, SMPD3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07327" y="267004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53047" y="271576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0.86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147407" y="267004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193127" y="27157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82%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153247" y="267004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198967" y="27157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85%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032607" y="3017520"/>
            <a:ext cx="6126479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078327" y="3063239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Opioidler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861407" y="301752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907127" y="3063239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OPRM1, PENK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07327" y="301752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553047" y="3063239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0.84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147407" y="301752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193127" y="3063239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80%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153247" y="301752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198967" y="3063239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83%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032607" y="3364992"/>
            <a:ext cx="6126479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078327" y="3410712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Metamfetamin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861407" y="3364992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907127" y="341071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DAT1, DRD2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507327" y="3364992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553047" y="3410712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0.83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147407" y="3364992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193127" y="341071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79%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153247" y="3364992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198967" y="341071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82%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32607" y="3712464"/>
            <a:ext cx="6126479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78327" y="375818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Esrar (THC)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861407" y="371246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907127" y="375818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CNR1, MGLL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507327" y="371246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553047" y="3758184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0.81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147407" y="371246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193127" y="375818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77%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153247" y="371246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198967" y="375818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80%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032607" y="4059935"/>
            <a:ext cx="6126479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078327" y="4105655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MDMA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861407" y="4059935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907127" y="4105655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SLC6A4, HTR2A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507327" y="4059935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553047" y="4105655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0.80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147407" y="4059935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193127" y="4105655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75%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153247" y="4059935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198967" y="4105655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79%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032607" y="4407408"/>
            <a:ext cx="6126479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078327" y="445312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Benzodiazepin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861407" y="440740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907127" y="445312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GABRA1, GABRA2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507327" y="440740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553047" y="445312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0.78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7147407" y="440740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7193127" y="445312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74%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153247" y="440740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198967" y="445312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77%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57200" y="50292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83750"/>
                </a:solidFill>
                <a:latin typeface="Abadi"/>
              </a:defRPr>
            </a:pPr>
            <a:r>
              <a:t>• 100+ CpG marker | Kullanım süresi tahmini (yıl, 95% CI)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3657600"/>
            <a:ext cx="5029200" cy="36576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3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badi"/>
              </a:defRPr>
            </a:pPr>
            <a:r>
              <a:t>DOKU-SPESİFİK EPİGENETİK SAATLER: 12 DOKU TİPİ</a:t>
            </a:r>
          </a:p>
        </p:txBody>
      </p:sp>
      <p:sp>
        <p:nvSpPr>
          <p:cNvPr id="8" name="Rectangle 7"/>
          <p:cNvSpPr/>
          <p:nvPr/>
        </p:nvSpPr>
        <p:spPr>
          <a:xfrm>
            <a:off x="3169767" y="1280160"/>
            <a:ext cx="5852159" cy="4517136"/>
          </a:xfrm>
          <a:prstGeom prst="rect">
            <a:avLst/>
          </a:prstGeom>
          <a:solidFill>
            <a:srgbClr val="FFFFFF"/>
          </a:solidFill>
          <a:ln w="2540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169767" y="1280160"/>
            <a:ext cx="5852159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15487" y="132588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badi"/>
              </a:defRPr>
            </a:pPr>
            <a:r>
              <a:t>DOKU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8144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27167" y="132588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CpG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2152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67247" y="13258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MAE (yıl)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2736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73087" y="132588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r²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7600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21727" y="132588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KAYNAK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69767" y="1627631"/>
            <a:ext cx="5852159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15487" y="1673351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Beyin - Prefrontal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8144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27167" y="1673351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347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2152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67247" y="1673351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2.8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2736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73087" y="1673351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0.94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7600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21727" y="1673351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Horvath Lab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69767" y="1975104"/>
            <a:ext cx="5852159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15487" y="202082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Beyin - Hipokampus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8144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27167" y="2020824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312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2152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67247" y="202082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3.1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2736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73087" y="202082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0.92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7600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21727" y="202082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Horvath Lab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69767" y="2322576"/>
            <a:ext cx="5852159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15487" y="2368296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Beyin - Serebellum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8144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27167" y="236829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298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82152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67247" y="236829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2.9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2736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73087" y="2368296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0.93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7600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21727" y="2368296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Horvath Lab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69767" y="2670048"/>
            <a:ext cx="5852159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15487" y="271576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Karaciğer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181447" y="267004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227167" y="271576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421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821527" y="267004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867247" y="27157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3.4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827367" y="267004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73087" y="2715768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0.91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76007" y="267004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21727" y="271576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Multi-tissue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169767" y="3017520"/>
            <a:ext cx="5852159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15487" y="3063239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Böbrek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181447" y="301752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227167" y="3063239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387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21527" y="301752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867247" y="3063239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3.6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827367" y="301752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873087" y="3063239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0.90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376007" y="301752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421727" y="3063239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Multi-tissue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169767" y="3364992"/>
            <a:ext cx="5852159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215487" y="341071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Kalp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181447" y="3364992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227167" y="3410712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356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821527" y="3364992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867247" y="341071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3.8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827367" y="3364992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873087" y="341071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0.88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76007" y="3364992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421727" y="341071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Multi-tissue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169767" y="3712464"/>
            <a:ext cx="5852159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215487" y="375818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Akciğer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181447" y="371246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227167" y="3758184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334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821527" y="371246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867247" y="375818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3.5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827367" y="371246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873087" y="375818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0.89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376007" y="371246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421727" y="375818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Multi-tissue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169767" y="4059935"/>
            <a:ext cx="5852159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215487" y="4105655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Kas (İskelet)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181447" y="4059935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227167" y="4105655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289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821527" y="4059935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867247" y="4105655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3.2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827367" y="4059935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873087" y="4105655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0.91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376007" y="4059935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421727" y="4105655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Multi-tissue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169767" y="4407408"/>
            <a:ext cx="5852159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215487" y="445312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Kan (Periferik)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181447" y="440740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227167" y="445312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353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821527" y="440740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867247" y="445312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3.6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827367" y="440740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873087" y="4453128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0.96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376007" y="440740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421727" y="445312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Horvath (2013)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169767" y="4754879"/>
            <a:ext cx="5852159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215487" y="4800599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Tükürük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181447" y="4754879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227167" y="4800599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340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821527" y="4754879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5867247" y="4800599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4.1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827367" y="4754879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873087" y="4800599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0.93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7376007" y="4754879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7421727" y="4800599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Bocklandt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169767" y="5102352"/>
            <a:ext cx="5852159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215487" y="514807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Deri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5181447" y="5102352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5227167" y="5148072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315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5821527" y="5102352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5867247" y="514807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4.5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6827367" y="5102352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873087" y="514807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0.87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7376007" y="5102352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7421727" y="514807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Skin clock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3169767" y="5449824"/>
            <a:ext cx="5852159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3215487" y="549554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Yağ Dokusu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5181447" y="544982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5227167" y="5495544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328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5821527" y="544982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5867247" y="549554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3.9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827367" y="544982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873087" y="549554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0.86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7376007" y="544982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7421727" y="549554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Adipose clock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57200" y="6071616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83750"/>
                </a:solidFill>
                <a:latin typeface="Abadi"/>
              </a:defRPr>
            </a:pPr>
            <a:r>
              <a:t>• Çapraz-doku normalizasyon algoritmaları mevcut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3657600"/>
            <a:ext cx="5029200" cy="36576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3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badi"/>
              </a:defRPr>
            </a:pPr>
            <a:r>
              <a:t>GWAS/EWAS VERİTABANI ENTEGRASYONU</a:t>
            </a:r>
          </a:p>
        </p:txBody>
      </p:sp>
      <p:sp>
        <p:nvSpPr>
          <p:cNvPr id="8" name="Rectangle 7"/>
          <p:cNvSpPr/>
          <p:nvPr/>
        </p:nvSpPr>
        <p:spPr>
          <a:xfrm>
            <a:off x="2621127" y="1280160"/>
            <a:ext cx="694944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21127" y="1280160"/>
            <a:ext cx="6949440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66847" y="1325880"/>
            <a:ext cx="16459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badi"/>
              </a:defRPr>
            </a:pPr>
            <a:r>
              <a:t>VERİTABANI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5848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04207" y="132588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VERİ TİPİ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7016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5887" y="132588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KAYIT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4176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87487" y="132588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ENTEGRASYON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21127" y="1627631"/>
            <a:ext cx="694944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66847" y="1673351"/>
            <a:ext cx="16459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GWAS Catalog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5848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04207" y="1673351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SNP-trait ilişkileri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7016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5887" y="1673351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550,000+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4176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87487" y="1673351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API entegre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21127" y="1975104"/>
            <a:ext cx="694944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66847" y="2020824"/>
            <a:ext cx="16459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EWAS Catalog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5848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04207" y="202082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CpG-trait ilişkileri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7016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5887" y="202082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1,200,000+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4176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87487" y="202082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Lokal kopya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21127" y="2322576"/>
            <a:ext cx="694944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66847" y="2368296"/>
            <a:ext cx="16459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PharmGKB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5848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04207" y="2368296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Farmakogenomik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7016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15887" y="236829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45,000+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4176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87487" y="236829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API entegre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621127" y="2670048"/>
            <a:ext cx="694944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66847" y="2715768"/>
            <a:ext cx="16459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CPIC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58487" y="267004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04207" y="271576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Klinik PGx kılavuzları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70167" y="267004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15887" y="27157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450+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41767" y="267004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87487" y="271576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Manuel güncelleme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21127" y="3017520"/>
            <a:ext cx="694944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66847" y="3063239"/>
            <a:ext cx="16459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GEO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358487" y="301752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404207" y="3063239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Gen ekspresyon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70167" y="301752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15887" y="3063239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4,000,000+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41767" y="301752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787487" y="3063239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GEOquery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621127" y="3364992"/>
            <a:ext cx="694944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66847" y="3410712"/>
            <a:ext cx="16459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1000 Genomes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358487" y="3364992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404207" y="341071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Popülasyon genetiği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70167" y="3364992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15887" y="341071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2,504 birey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741767" y="3364992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787487" y="3410712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VCF dosyaları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621127" y="3712464"/>
            <a:ext cx="694944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666847" y="3758184"/>
            <a:ext cx="16459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gnomAD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358487" y="371246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404207" y="375818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Varyant frekansları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370167" y="371246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15887" y="375818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76,000+ birey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741767" y="371246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787487" y="375818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API entegre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621127" y="4059935"/>
            <a:ext cx="694944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666847" y="4105655"/>
            <a:ext cx="16459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UK Biobank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358487" y="4059935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404207" y="4105655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Biyobanka verileri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370167" y="4059935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15887" y="4105655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500,000 birey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741767" y="4059935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787487" y="4105655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Özet istatistik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621127" y="4407408"/>
            <a:ext cx="694944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666847" y="4453128"/>
            <a:ext cx="16459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TOPMed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358487" y="440740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404207" y="445312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WGS verileri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370167" y="440740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415887" y="445312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180,000+ birey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741767" y="440740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787487" y="445312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Özet istatistik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57200" y="50292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83750"/>
                </a:solidFill>
                <a:latin typeface="Abadi"/>
              </a:defRPr>
            </a:pPr>
            <a:r>
              <a:t>• Gerçek zamanlı sorgu | Otomatik veri güncelleme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3657600"/>
            <a:ext cx="5029200" cy="36576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3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badi"/>
              </a:defRPr>
            </a:pPr>
            <a:r>
              <a:t>POLİGENİK RİSK SKORU (PRS): 6 BAĞIMLILIK TRAİTİ</a:t>
            </a:r>
          </a:p>
        </p:txBody>
      </p:sp>
      <p:sp>
        <p:nvSpPr>
          <p:cNvPr id="8" name="Rectangle 7"/>
          <p:cNvSpPr/>
          <p:nvPr/>
        </p:nvSpPr>
        <p:spPr>
          <a:xfrm>
            <a:off x="2895447" y="1280160"/>
            <a:ext cx="6400800" cy="2432304"/>
          </a:xfrm>
          <a:prstGeom prst="rect">
            <a:avLst/>
          </a:prstGeom>
          <a:solidFill>
            <a:srgbClr val="FFFFFF"/>
          </a:solidFill>
          <a:ln w="2540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95447" y="1280160"/>
            <a:ext cx="6400800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41167" y="13258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badi"/>
              </a:defRPr>
            </a:pPr>
            <a:r>
              <a:t>TRAİT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7288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18607" y="1325880"/>
            <a:ext cx="1188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SNP SAYISI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5304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98767" y="132588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h²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9312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8847" y="1325880"/>
            <a:ext cx="1188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GWAS 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7328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19007" y="132588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AUC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95447" y="1627631"/>
            <a:ext cx="640080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41167" y="1673351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Alkol Kullanım Boz.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7288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18607" y="1673351"/>
            <a:ext cx="1188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1,200,000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5304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98767" y="1673351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0.49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9312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38847" y="1673351"/>
            <a:ext cx="1188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435,563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7328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19007" y="1673351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0.63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95447" y="1975104"/>
            <a:ext cx="640080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41167" y="202082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Nikotin Bağımlılığı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7288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18607" y="2020824"/>
            <a:ext cx="1188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980,000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5304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98767" y="2020824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0.56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9312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38847" y="2020824"/>
            <a:ext cx="1188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1,232,091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7328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19007" y="202082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0.68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95447" y="2322576"/>
            <a:ext cx="640080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41167" y="236829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Esrar Kullanımı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7288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18607" y="2368296"/>
            <a:ext cx="1188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850,000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5304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98767" y="236829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0.51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9312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38847" y="2368296"/>
            <a:ext cx="1188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184,765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47328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19007" y="236829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0.59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895447" y="2670048"/>
            <a:ext cx="640080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941167" y="271576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Opioid Kullanım Boz.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272887" y="267004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318607" y="2715768"/>
            <a:ext cx="1188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720,000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53047" y="267004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98767" y="271576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0.38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193127" y="267004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38847" y="2715768"/>
            <a:ext cx="1188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82,707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473287" y="267004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19007" y="27157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0.55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895447" y="3017520"/>
            <a:ext cx="640080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941167" y="306323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Genel Madde Kullanımı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272887" y="301752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18607" y="3063239"/>
            <a:ext cx="1188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1,100,000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53047" y="301752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598767" y="3063239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0.44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193127" y="301752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238847" y="3063239"/>
            <a:ext cx="1188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1,025,550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473287" y="301752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519007" y="3063239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0.61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895447" y="3364992"/>
            <a:ext cx="640080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941167" y="341071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Risk Alma Davranışı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272887" y="3364992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318607" y="3410712"/>
            <a:ext cx="1188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890,000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553047" y="3364992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598767" y="3410712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0.35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193127" y="3364992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238847" y="3410712"/>
            <a:ext cx="1188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466,571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473287" y="3364992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519007" y="341071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0.57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7200" y="3986784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83750"/>
                </a:solidFill>
                <a:latin typeface="Abadi"/>
              </a:defRPr>
            </a:pPr>
            <a:r>
              <a:t>• GWAS-validated weights | LD-pruning + clumping | Ancestry-corrected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3657600"/>
            <a:ext cx="5029200" cy="36576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3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badi"/>
              </a:defRPr>
            </a:pPr>
            <a:r>
              <a:t>MEDİASYON ANALİZİ: YOLAK SONUÇLARI</a:t>
            </a:r>
          </a:p>
        </p:txBody>
      </p:sp>
      <p:sp>
        <p:nvSpPr>
          <p:cNvPr id="8" name="Rectangle 7"/>
          <p:cNvSpPr/>
          <p:nvPr/>
        </p:nvSpPr>
        <p:spPr>
          <a:xfrm>
            <a:off x="2895447" y="1280160"/>
            <a:ext cx="6400799" cy="2432304"/>
          </a:xfrm>
          <a:prstGeom prst="rect">
            <a:avLst/>
          </a:prstGeom>
          <a:solidFill>
            <a:srgbClr val="FFFFFF"/>
          </a:solidFill>
          <a:ln w="2540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95447" y="1280160"/>
            <a:ext cx="6400799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41167" y="132588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badi"/>
              </a:defRPr>
            </a:pPr>
            <a:r>
              <a:t>YOLAK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5848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04207" y="132588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AÇIKLAMA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0168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47407" y="132588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3320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78927" y="132588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8184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27567" y="132588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p-değeri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95447" y="1627631"/>
            <a:ext cx="6400799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41167" y="1673351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c (Total)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5848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04207" y="1673351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Madde → EAA (toplam)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0168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47407" y="1673351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4.30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3320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78927" y="1673351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0.42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8184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27567" y="1673351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&lt;0.001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95447" y="1975104"/>
            <a:ext cx="6400799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41167" y="202082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5848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04207" y="2020824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Madde → DNA Metilasyonu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0168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47407" y="2020824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-0.15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3320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78927" y="202082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0.02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8184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27567" y="202082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&lt;0.001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95447" y="2322576"/>
            <a:ext cx="6400799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41167" y="236829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b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5848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04207" y="2368296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DNA Metilasyonu → EAA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0168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47407" y="2368296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-12.40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83320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78927" y="2368296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1.80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38184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27567" y="236829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&lt;0.001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895447" y="2670048"/>
            <a:ext cx="6400799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941167" y="271576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c' (Direct)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358487" y="267004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404207" y="271576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Madde → EAA (direkt)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01687" y="267004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147407" y="271576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2.44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833207" y="267004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878927" y="2715768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0.38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381847" y="267004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27567" y="271576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&lt;0.001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895447" y="3017520"/>
            <a:ext cx="6400799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941167" y="3063239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ab (Indirect)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58487" y="301752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404207" y="3063239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Mediasyon etkisi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101687" y="301752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147407" y="3063239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1.86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33207" y="301752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878927" y="3063239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0.22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381847" y="301752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427567" y="3063239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&lt;0.001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895447" y="3364992"/>
            <a:ext cx="6400799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941167" y="341071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ab/c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358487" y="3364992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404207" y="341071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Mediasyon oranı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101687" y="3364992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147407" y="341071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43.3%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833207" y="3364992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878927" y="341071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-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381847" y="3364992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427567" y="341071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-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7200" y="3986784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83750"/>
                </a:solidFill>
                <a:latin typeface="Abadi"/>
              </a:defRPr>
            </a:pPr>
            <a:r>
              <a:t>• Bootstrap 10,000 rep: 95% CI (1.42 - 2.31) → Anlamlı kısmi mediasyon</a:t>
            </a:r>
          </a:p>
          <a:p>
            <a:pPr>
              <a:defRPr sz="1400">
                <a:solidFill>
                  <a:srgbClr val="283750"/>
                </a:solidFill>
                <a:latin typeface="Abadi"/>
              </a:defRPr>
            </a:pPr>
            <a:r>
              <a:t>• DNA metilasyonu, madde kullanımı-EAA ilişkisini kısmen açıklar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3657600"/>
            <a:ext cx="5029200" cy="36576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3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badi"/>
              </a:defRPr>
            </a:pPr>
            <a:r>
              <a:t>MAKİNE ÖĞRENMESİ ENSEMBLE: PERFORMANS METRİKLERİ</a:t>
            </a:r>
          </a:p>
        </p:txBody>
      </p:sp>
      <p:sp>
        <p:nvSpPr>
          <p:cNvPr id="8" name="Rectangle 7"/>
          <p:cNvSpPr/>
          <p:nvPr/>
        </p:nvSpPr>
        <p:spPr>
          <a:xfrm>
            <a:off x="2986887" y="1280160"/>
            <a:ext cx="621792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86887" y="1280160"/>
            <a:ext cx="6217920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32607" y="132588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badi"/>
              </a:defRPr>
            </a:pPr>
            <a:r>
              <a:t>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1568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1407" y="13258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AĞIRLIK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2152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67247" y="13258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MAE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2736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73087" y="13258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RMSE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3320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8927" y="132588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R²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6472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10447" y="132588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86887" y="1627631"/>
            <a:ext cx="621792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32607" y="1673351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Random Forest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1568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61407" y="1673351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0.35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2152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67247" y="1673351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2.4 yıl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2736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73087" y="1673351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3.1 yıl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3320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78927" y="1673351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0.94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6472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10447" y="1673351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0.97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86887" y="1975104"/>
            <a:ext cx="621792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32607" y="202082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XGBoost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1568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61407" y="202082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0.45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2152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67247" y="202082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2.0 yıl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2736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73087" y="202082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2.6 yıl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3320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78927" y="2020824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0.96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6472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10447" y="2020824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0.98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986887" y="2322576"/>
            <a:ext cx="621792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032607" y="236829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ElasticNet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81568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861407" y="236829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0.20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82152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867247" y="236829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2.8 yıl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2736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73087" y="236829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3.5 yıl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3320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878927" y="2368296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0.92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56472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10447" y="236829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0.96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986887" y="2670048"/>
            <a:ext cx="621792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032607" y="271576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ENSEMBLE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815687" y="267004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861407" y="27157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1.00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821527" y="267004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867247" y="27157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2.1 yıl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827367" y="267004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873087" y="27157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2.8 yıl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33207" y="267004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878927" y="271576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0.96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564727" y="267004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610447" y="271576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0.98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329184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83750"/>
                </a:solidFill>
                <a:latin typeface="Abadi"/>
              </a:defRPr>
            </a:pPr>
            <a:r>
              <a:t>• 10-fold cross-validation | Hyperparameter tuning: GridSearchCV</a:t>
            </a:r>
          </a:p>
          <a:p>
            <a:pPr>
              <a:defRPr sz="1400">
                <a:solidFill>
                  <a:srgbClr val="283750"/>
                </a:solidFill>
                <a:latin typeface="Abadi"/>
              </a:defRPr>
            </a:pPr>
            <a:r>
              <a:t>• Feature importance: Top 20 CpG = %65 varyans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3657600"/>
            <a:ext cx="5029200" cy="36576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3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badi"/>
              </a:defRPr>
            </a:pPr>
            <a:r>
              <a:t>BLOCKCHAIN DENETİM İZİ: SHA-256 HASH ZİNCİRİ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1188720"/>
            <a:ext cx="36576" cy="493776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188720"/>
            <a:ext cx="5394960" cy="457200"/>
          </a:xfrm>
          <a:prstGeom prst="round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3444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badi"/>
              </a:defRPr>
            </a:pPr>
            <a:r>
              <a:t>BLOCK YAPISI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78308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Block[n] = {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  timestamp: ISO 8601,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  sample_id: UUID,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  analysis_type: string,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  parameters: JSON,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  result_hash: SHA-256,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  prev_hash: Block[n-1],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  nonce: PoW solution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}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Hash = SHA256(prev || data)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Değişiklik → Zincir kırılır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5394960" cy="457200"/>
          </a:xfrm>
          <a:prstGeom prst="round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23444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badi"/>
              </a:defRPr>
            </a:pPr>
            <a:r>
              <a:t>ADLİ GEÇERLİLİK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78308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NIST FIPS 180-4: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• 256-bit digest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• Collision: O(2¹²⁸)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• Preimage: O(2²⁵⁶)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ÖZELLİKLER: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• Tamper-evident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• Immutable kayıt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• Zaman damgası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STANDART: Daubert/Frye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3657600"/>
            <a:ext cx="5029200" cy="36576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3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badi"/>
              </a:defRPr>
            </a:pPr>
            <a:r>
              <a:t>POSTMORTEM DNA METİLASYON: PMI DÜZELTME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2647" y="1280160"/>
            <a:ext cx="5486400" cy="2432304"/>
          </a:xfrm>
          <a:prstGeom prst="rect">
            <a:avLst/>
          </a:prstGeom>
          <a:solidFill>
            <a:srgbClr val="FFFFFF"/>
          </a:solidFill>
          <a:ln w="2540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52647" y="1280160"/>
            <a:ext cx="5486400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8367" y="13258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badi"/>
              </a:defRPr>
            </a:pPr>
            <a:r>
              <a:t>PMI (saat)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4136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7087" y="132588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r²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7288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18607" y="13258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MAE (yıl)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872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4447" y="13258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DÜZELTME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6744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13167" y="132588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GÜVENİLİRLİK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52647" y="1627631"/>
            <a:ext cx="548640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98367" y="1673351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0-12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4136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87087" y="1673351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&gt;0.98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7288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18607" y="1673351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2.0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7872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24447" y="1673351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Minimal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6744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13167" y="1673351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Çok Yüksek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52647" y="1975104"/>
            <a:ext cx="548640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98367" y="202082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12-24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4136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87087" y="2020824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&gt;0.96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7288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18607" y="202082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2.3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7872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24447" y="202082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Düşük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6744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13167" y="202082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Yüksek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52647" y="2322576"/>
            <a:ext cx="548640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98367" y="236829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24-48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4136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87087" y="2368296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&gt;0.95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27288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18607" y="236829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2.5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7872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24447" y="236829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Orta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6744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13167" y="236829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Yüksek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352647" y="2670048"/>
            <a:ext cx="548640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98367" y="271576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48-72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41367" y="267004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87087" y="271576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&gt;0.85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272887" y="267004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318607" y="27157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4.2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78727" y="267004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24447" y="271576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Yüksek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467447" y="267004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13167" y="27157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Orta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352647" y="3017520"/>
            <a:ext cx="548640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398367" y="3063239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72-120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41367" y="301752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87087" y="3063239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&gt;0.75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272887" y="301752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318607" y="3063239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5.5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278727" y="301752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24447" y="3063239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Çok Yüksek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467447" y="301752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513167" y="3063239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Düşük-Orta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352647" y="3364992"/>
            <a:ext cx="548640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398367" y="341071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120-168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41367" y="3364992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87087" y="341071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&gt;0.70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272887" y="3364992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318607" y="341071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6.8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278727" y="3364992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324447" y="341071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Maksimum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467447" y="3364992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513167" y="341071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Düşük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7200" y="3986784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83750"/>
                </a:solidFill>
                <a:latin typeface="Abadi"/>
              </a:defRPr>
            </a:pPr>
            <a:r>
              <a:t>• DNAmAge_corr = DNAmAge_raw - f(PMI, Sıcaklık, Doku tipi)</a:t>
            </a:r>
          </a:p>
          <a:p>
            <a:pPr>
              <a:defRPr sz="1400">
                <a:solidFill>
                  <a:srgbClr val="283750"/>
                </a:solidFill>
                <a:latin typeface="Abadi"/>
              </a:defRPr>
            </a:pPr>
            <a:r>
              <a:t>• Bakteriyel kontaminasyon ve DNA degradasyon düzeltmesi dahil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3657600"/>
            <a:ext cx="5029200" cy="36576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3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badi"/>
              </a:defRPr>
            </a:pPr>
            <a:r>
              <a:t>KLİNİK KARAR DESTEK: RİSK STRATİFİKASYONU</a:t>
            </a:r>
          </a:p>
        </p:txBody>
      </p:sp>
      <p:sp>
        <p:nvSpPr>
          <p:cNvPr id="8" name="Rectangle 7"/>
          <p:cNvSpPr/>
          <p:nvPr/>
        </p:nvSpPr>
        <p:spPr>
          <a:xfrm>
            <a:off x="2529687" y="1280160"/>
            <a:ext cx="7132320" cy="2084832"/>
          </a:xfrm>
          <a:prstGeom prst="rect">
            <a:avLst/>
          </a:prstGeom>
          <a:solidFill>
            <a:srgbClr val="FFFFFF"/>
          </a:solidFill>
          <a:ln w="2540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29687" y="1280160"/>
            <a:ext cx="7132320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75407" y="132588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badi"/>
              </a:defRPr>
            </a:pPr>
            <a:r>
              <a:t>RİSK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0128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47007" y="132588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EAA (yıl)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7288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18607" y="13258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DunedinPACE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6160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07327" y="132588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KLİNİK AKSİYON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29687" y="1627631"/>
            <a:ext cx="713232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75407" y="1673351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Minimal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0128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47007" y="1673351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&lt; +1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7288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18607" y="1673351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&lt; 1.0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6160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07327" y="1673351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Rutin takip, yıllık değerlendirme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29687" y="1975104"/>
            <a:ext cx="713232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75407" y="202082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Düşük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0128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47007" y="202082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+1 ≤ EAA &lt; +3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7288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18607" y="202082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1.0-1.1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6160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07327" y="2020824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Yaşam tarzı önerileri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29687" y="2322576"/>
            <a:ext cx="713232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75407" y="236829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Orta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90128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47007" y="236829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+3 ≤ EAA &lt; +5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7288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18607" y="236829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1.1-1.2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6160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07327" y="2368296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Aktif izlem, 6 aylık kontrol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29687" y="2670048"/>
            <a:ext cx="713232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75407" y="27157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Yüksek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901287" y="267004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47007" y="27157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+5 ≤ EAA &lt; +8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272887" y="267004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18607" y="271576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1.2-1.3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61607" y="267004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07327" y="2715768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Yoğun tedavi, 3 aylık kontrol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529687" y="3017520"/>
            <a:ext cx="713232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575407" y="3063239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Çok Yüksek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901287" y="301752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947007" y="3063239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≥ +8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272887" y="301752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318607" y="3063239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&gt; 1.3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61607" y="301752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07327" y="3063239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Acil müdahale, multidisipliner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3639312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83750"/>
                </a:solidFill>
                <a:latin typeface="Abadi"/>
              </a:defRPr>
            </a:pPr>
            <a:r>
              <a:t>• GrimAge HR: 1.10 per yıl EAA | Bu araç klinik değerlendirme yerini almaz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3657600"/>
            <a:ext cx="5029200" cy="36576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3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badi"/>
              </a:defRPr>
            </a:pPr>
            <a:r>
              <a:t>MALİYET-ETKİNLİK ANALİZİ: %97 TASARRUF</a:t>
            </a:r>
          </a:p>
        </p:txBody>
      </p:sp>
      <p:sp>
        <p:nvSpPr>
          <p:cNvPr id="8" name="Rectangle 7"/>
          <p:cNvSpPr/>
          <p:nvPr/>
        </p:nvSpPr>
        <p:spPr>
          <a:xfrm>
            <a:off x="2666847" y="1280160"/>
            <a:ext cx="6858000" cy="1389888"/>
          </a:xfrm>
          <a:prstGeom prst="rect">
            <a:avLst/>
          </a:prstGeom>
          <a:solidFill>
            <a:srgbClr val="FFFFFF"/>
          </a:solidFill>
          <a:ln w="2540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66847" y="1280160"/>
            <a:ext cx="6858000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12567" y="132588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badi"/>
              </a:defRPr>
            </a:pPr>
            <a:r>
              <a:t>YÖNTEM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1276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8487" y="13258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WGBS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1860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64327" y="13258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450K/EPIC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0732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3047" y="132588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ANALİZ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3028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6007" y="13258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TOPLAM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3612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1847" y="13258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SÜRE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66847" y="1627631"/>
            <a:ext cx="685800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12567" y="1673351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Geleneksel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1276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8487" y="1673351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$2,500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1860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64327" y="1673351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$400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0732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3047" y="1673351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$200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3028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76007" y="1673351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$3,100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3612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81847" y="1673351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2-4 hafta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66847" y="1975104"/>
            <a:ext cx="685800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12567" y="202082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EpiClock Panel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1276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58487" y="202082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-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1860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64327" y="202082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$80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0732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53047" y="202082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$0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3028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76007" y="202082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$80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3612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81847" y="202082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24 saat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66847" y="2322576"/>
            <a:ext cx="685800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12567" y="2368296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TASARRUF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1276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58487" y="236829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-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1860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64327" y="236829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-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0732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53047" y="236829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-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3028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76007" y="236829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$3,020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33612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81847" y="236829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%97.4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2944368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83750"/>
                </a:solidFill>
                <a:latin typeface="Abadi"/>
              </a:defRPr>
            </a:pPr>
            <a:r>
              <a:t>• 1,000 örnek için toplam tasarruf: $3,020,000</a:t>
            </a:r>
          </a:p>
          <a:p>
            <a:pPr>
              <a:defRPr sz="1400">
                <a:solidFill>
                  <a:srgbClr val="283750"/>
                </a:solidFill>
                <a:latin typeface="Abadi"/>
              </a:defRPr>
            </a:pPr>
            <a:r>
              <a:t>• Hedefli panel: 353-1,030 CpG sitesi (saat'e göre)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3657600"/>
            <a:ext cx="5029200" cy="36576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3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badi"/>
              </a:defRPr>
            </a:pPr>
            <a:r>
              <a:t>KAPSAMLI GEN VERİTABANI: 2,800+ GEN, 14 SİSTEM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2575407" y="1280160"/>
            <a:ext cx="7040880" cy="5212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75407" y="1280160"/>
            <a:ext cx="7040880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21127" y="132588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badi"/>
              </a:defRPr>
            </a:pPr>
            <a:r>
              <a:t>SİSTEM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0420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9927" y="132588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GEN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4428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90007" y="1325880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ANAHTAR GENLER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75407" y="1627631"/>
            <a:ext cx="704088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21127" y="1673351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Dopaminerjik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0420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49927" y="1673351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245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4428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90007" y="1673351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DRD1-5, DAT, TH, DDC, COMT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75407" y="1975104"/>
            <a:ext cx="704088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21127" y="202082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Serotonerjik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0420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49927" y="2020824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198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4428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90007" y="2020824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HTR1A-7, SERT, TPH1/2, MAOA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75407" y="2322576"/>
            <a:ext cx="704088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21127" y="236829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Opioiderjik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0420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49927" y="236829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156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4428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90007" y="2368296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OPRM1, OPRK1, OPRD1, PDYN, PENK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75407" y="2670048"/>
            <a:ext cx="704088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21127" y="271576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GABAerjik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04207" y="267004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49927" y="271576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187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44287" y="267004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90007" y="2715768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GABRA1-6, GABRB1-3, GAD1/2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75407" y="3017520"/>
            <a:ext cx="704088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21127" y="3063239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Glutamaterjik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04207" y="301752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49927" y="3063239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212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44287" y="301752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90007" y="3063239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GRIN1-3, GRM1-8, SLC1A1-3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575407" y="3364992"/>
            <a:ext cx="704088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621127" y="3410712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Kolinerjik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04207" y="3364992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49927" y="3410712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134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44287" y="3364992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90007" y="3410712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CHRNA1-10, CHRNB1-4, CHAT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575407" y="3712464"/>
            <a:ext cx="704088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621127" y="375818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Endokanabinoid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404207" y="371246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49927" y="3758184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89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44287" y="371246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90007" y="3758184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CNR1, CNR2, FAAH, MGLL, DAGLA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575407" y="4059935"/>
            <a:ext cx="704088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21127" y="4105655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HPA Stres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404207" y="4059935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449927" y="4105655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167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44287" y="4059935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90007" y="4105655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CRH, CRHR1/2, NR3C1, FKBP5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575407" y="4407408"/>
            <a:ext cx="704088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621127" y="445312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Nöroplastisite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404207" y="440740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449927" y="445312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234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044287" y="440740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90007" y="4453128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BDNF, NTRK2, CREB1, ARC, FOS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575407" y="4754879"/>
            <a:ext cx="704088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621127" y="4800599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Epigenetik Reg.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404207" y="4754879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449927" y="4800599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178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044287" y="4754879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090007" y="4800599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DNMT1/3A/3B, TET1-3, HDAC1-11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575407" y="5102352"/>
            <a:ext cx="704088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621127" y="5148072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İnflamatuar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404207" y="5102352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449927" y="5148072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156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044287" y="5102352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090007" y="5148072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IL6, IL1B, TNF, CRP, NFkB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575407" y="5449824"/>
            <a:ext cx="704088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621127" y="549554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Oksidatif Stres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404207" y="544982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449927" y="5495544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145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044287" y="544982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090007" y="5495544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SOD1-3, CAT, GPX1-8, NRF2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575407" y="5797296"/>
            <a:ext cx="704088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621127" y="584301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CYP Metabolizma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404207" y="579729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449927" y="584301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312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044287" y="579729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090007" y="5843016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CYP1A2, 2B6, 2C9, 2C19, 2D6, 3A4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575407" y="6144768"/>
            <a:ext cx="704088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621127" y="619048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Diğer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404207" y="614476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449927" y="619048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387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044287" y="614476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090007" y="6190488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Çeşitli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3657600"/>
            <a:ext cx="5029200" cy="36576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3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badi"/>
              </a:defRPr>
            </a:pPr>
            <a:r>
              <a:t>DİNAMİK KOMBİNASYON HESAPLAYICI: 44 MADDE × 56 HASTALIK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1188720"/>
            <a:ext cx="36576" cy="493776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188720"/>
            <a:ext cx="5394960" cy="457200"/>
          </a:xfrm>
          <a:prstGeom prst="round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3444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badi"/>
              </a:defRPr>
            </a:pPr>
            <a:r>
              <a:t>44 MADDE TİPİ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78308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UYARICILAR: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Kokain, Amfetamin, MDMA,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Metamfetamin, Nikotin, Kafein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DEPRESANLAR: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Alkol, Heroin, Morfin,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Oksikodoln, Fentanil, GHB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HALÜSİNOJENLER: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LSD, Psilosibin, DMT, Ketamin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DİĞER: Esrar, Benzolar,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İnhalanlar, Steroidler...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5394960" cy="457200"/>
          </a:xfrm>
          <a:prstGeom prst="round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23444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badi"/>
              </a:defRPr>
            </a:pPr>
            <a:r>
              <a:t>56 HASTALIK + SİNERJİLER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78308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HASTALIK KATEGORİLERİ: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• Kardiyovasküler (12)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• Metabolik (8)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• Nörolojik (10)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• Psikiyatrik (14)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• Hepatik (6)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• Renal (6)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SİNERJİ TİPLERİ: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• Madde-Madde (100+)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• Hastalık-Hastalık (50+)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• Çapraz sinerjiler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3657600"/>
            <a:ext cx="5029200" cy="36576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3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badi"/>
              </a:defRPr>
            </a:pPr>
            <a:r>
              <a:t>KEMOİNFORMATİK ARAÇLAR: MOLEKÜLER ANALİZ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1188720"/>
            <a:ext cx="36576" cy="493776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188720"/>
            <a:ext cx="5394960" cy="457200"/>
          </a:xfrm>
          <a:prstGeom prst="round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3444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badi"/>
              </a:defRPr>
            </a:pPr>
            <a:r>
              <a:t>SMILES ANALİZİ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78308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MOLEKÜLER TANIMLAYICILAR: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• Moleküler Ağırlık (MW)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• logP (Lipofiliklik)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• PSA (Polar Surface Area)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• HBA/HBD (H-bağı)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• RotBonds (Esneklik)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• Aromatik Halka Sayısı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• Lipinski Kuralı Kontrolü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RDKit Entegrasyonu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5394960" cy="457200"/>
          </a:xfrm>
          <a:prstGeom prst="round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23444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badi"/>
              </a:defRPr>
            </a:pPr>
            <a:r>
              <a:t>BENZERLİK ANALİZİ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78308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PARMAK İZİ YÖNTEMLERİ: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• ECFP4 (1024-bit)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• ECFP6 (2048-bit)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• MACCS (166-bit)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• Morgan (configurable)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BENZERLİK METRİKLERİ: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• Tanimoto similarity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• Dice similarity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• PubChem entegrasyonu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3657600"/>
            <a:ext cx="5029200" cy="36576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3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badi"/>
              </a:defRPr>
            </a:pPr>
            <a:r>
              <a:t>VERİ DIŞA AKTARMA: ÇOKLUFORMATLİ EXPORT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1188720"/>
            <a:ext cx="36576" cy="493776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188720"/>
            <a:ext cx="5394960" cy="457200"/>
          </a:xfrm>
          <a:prstGeom prst="round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3444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badi"/>
              </a:defRPr>
            </a:pPr>
            <a:r>
              <a:t>DESTEKLENEN FORMATLAR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78308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1. CSV (Comma-Separated)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   Tüm veritabanları için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2. BED (Browser Extensible)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   UCSC Genome Browser için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   IGV entegrasyonu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3. JSON (JavaScript Object)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   API entegrasyonu için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   Nested veri yapıları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4. SQL (INSERT statements)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   PostgreSQL uyumlu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5394960" cy="457200"/>
          </a:xfrm>
          <a:prstGeom prst="round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23444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badi"/>
              </a:defRPr>
            </a:pPr>
            <a:r>
              <a:t>EXPORT SEÇENEKLERİ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78308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VERİTABANLARI: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• CpG Marker Veritabanı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• Madde Panelleri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• Gen Sistemleri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• Epigenetik Saatler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• NPS Türevleri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• Markush Varyantları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• Metabolit Tahminleri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Seçili kayıt veya tümü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3657600"/>
            <a:ext cx="5029200" cy="36576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3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badi"/>
              </a:defRPr>
            </a:pPr>
            <a:r>
              <a:t>PDF RAPOR ÜRETİMİ: KLİNİK RAPORLAMA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1188720"/>
            <a:ext cx="36576" cy="493776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188720"/>
            <a:ext cx="5394960" cy="457200"/>
          </a:xfrm>
          <a:prstGeom prst="round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3444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badi"/>
              </a:defRPr>
            </a:pPr>
            <a:r>
              <a:t>RAPOR İÇERİĞİ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78308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HASTA BİLGİLERİ: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ID, Yaş, Cinsiyet, Tarih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EPİGENETİK YAŞ: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5 saat sonucu + grafik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EAA ANALİZİ: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IEAA, EEAA, yorumlama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RİSK DEĞERLENDİRME: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Kategori, öneriler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GRAFİKLER: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Radar plot, heatmap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5394960" cy="457200"/>
          </a:xfrm>
          <a:prstGeom prst="round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23444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badi"/>
              </a:defRPr>
            </a:pPr>
            <a:r>
              <a:t>RAPOR ÖZELLİKLERİ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78308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FORMAT: ReportLab PDF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BÖLÜMLER: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• Yönetici Özeti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• Detaylı Sonuçlar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• Metodoloji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• Referans Değerler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• Öneriler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EKLER: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• Blockchain hash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• Denetim izi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• Kalite kontrol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3657600"/>
            <a:ext cx="5029200" cy="36576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3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badi"/>
              </a:defRPr>
            </a:pPr>
            <a:r>
              <a:t>MULTİ-OMİKS ENTEGRASYON STRATEJİLERİ</a:t>
            </a:r>
          </a:p>
        </p:txBody>
      </p:sp>
      <p:sp>
        <p:nvSpPr>
          <p:cNvPr id="8" name="Rectangle 7"/>
          <p:cNvSpPr/>
          <p:nvPr/>
        </p:nvSpPr>
        <p:spPr>
          <a:xfrm>
            <a:off x="2529687" y="1280160"/>
            <a:ext cx="7132320" cy="2084832"/>
          </a:xfrm>
          <a:prstGeom prst="rect">
            <a:avLst/>
          </a:prstGeom>
          <a:solidFill>
            <a:srgbClr val="FFFFFF"/>
          </a:solidFill>
          <a:ln w="2540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29687" y="1280160"/>
            <a:ext cx="7132320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75407" y="132588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badi"/>
              </a:defRPr>
            </a:pPr>
            <a:r>
              <a:t>OMİKS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7560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21327" y="132588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VERİ TİPİ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0440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50127" y="132588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PLATFORM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16087" y="128016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61807" y="132588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badi"/>
              </a:defRPr>
            </a:pPr>
            <a:r>
              <a:t>ENTEGRASYON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29687" y="1627631"/>
            <a:ext cx="713232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75407" y="1673351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Genomics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7560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21327" y="1673351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SNP, CNV, SV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0440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50127" y="1673351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WGS, WES, Array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16087" y="1627631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61807" y="1673351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VCF parsing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29687" y="1975104"/>
            <a:ext cx="713232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75407" y="202082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Epigenomics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7560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21327" y="202082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5mC, 5hmC, Histon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0440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50127" y="202082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450K, EPIC, ChIP-seq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16087" y="1975104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61807" y="202082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Beta-value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29687" y="2322576"/>
            <a:ext cx="713232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75407" y="2368296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Transcriptomics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7560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21327" y="236829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mRNA, ncRNA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0440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50127" y="2368296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RNA-seq, Microarray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6087" y="2322576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61807" y="2368296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TPM/FPKM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29687" y="2670048"/>
            <a:ext cx="713232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75407" y="271576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Proteomics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75607" y="267004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21327" y="271576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Protein, PTMs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04407" y="267004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50127" y="271576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MS/MS, Antibody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16087" y="2670048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61807" y="271576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Intensity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529687" y="3017520"/>
            <a:ext cx="7132320" cy="13716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575407" y="3063239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83C"/>
                </a:solidFill>
                <a:latin typeface="Abadi"/>
              </a:defRPr>
            </a:pPr>
            <a:r>
              <a:t>Metabolomics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75607" y="301752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21327" y="3063239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Polar, Lipit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04407" y="301752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50127" y="3063239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LC-MS, GC-MS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016087" y="3017520"/>
            <a:ext cx="13716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061807" y="3063239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83C"/>
                </a:solidFill>
                <a:latin typeface="Abadi"/>
              </a:defRPr>
            </a:pPr>
            <a:r>
              <a:t>Peak area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3639312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83750"/>
                </a:solidFill>
                <a:latin typeface="Abadi"/>
              </a:defRPr>
            </a:pPr>
            <a:r>
              <a:t>• MOFA+: Multi-Omics Factor Analysis | PLS-DA: Supervised DR</a:t>
            </a:r>
          </a:p>
          <a:p>
            <a:pPr>
              <a:defRPr sz="1400">
                <a:solidFill>
                  <a:srgbClr val="283750"/>
                </a:solidFill>
                <a:latin typeface="Abadi"/>
              </a:defRPr>
            </a:pPr>
            <a:r>
              <a:t>• SNF: Similarity Network Fusion | iCluster: Integrative clustering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3657600"/>
            <a:ext cx="5029200" cy="36576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3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badi"/>
              </a:defRPr>
            </a:pPr>
            <a:r>
              <a:t>ÇALIŞMA SINIRLARI VE LİMİTASYONLAR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1188720"/>
            <a:ext cx="36576" cy="493776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188720"/>
            <a:ext cx="5394960" cy="457200"/>
          </a:xfrm>
          <a:prstGeom prst="round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3444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badi"/>
              </a:defRPr>
            </a:pPr>
            <a:r>
              <a:t>METODOLOJİK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78308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1. SİMÜLE KATSAYILAR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   Gerçek katsayılar lisans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   gerektirir (UCSD)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2. POPÜLASYON TEMSİLİ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   Çoğunlukla Avrupa kökenli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   Trans-etnik validasyon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   çalışmaları gerekli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3. TEKNİK VARYASYON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   Lab protokol farklılıkları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   Batch efektler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5394960" cy="457200"/>
          </a:xfrm>
          <a:prstGeom prst="round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23444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badi"/>
              </a:defRPr>
            </a:pPr>
            <a:r>
              <a:t>YORUMLAMA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78308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4. NEDENSELLİK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   Korelasyon ≠ Nedensellik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   Mendelian randomizasyon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   planlanıyor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5. BİREYSEL VARYASYON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   Genetik, çevre, yaşam tarzı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⚠️ PROTOTIP UYARISI: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Klinik karar için tek başına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kullanılmamalıdır. Danışman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hekim değerlendirmesi şart.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3657600"/>
            <a:ext cx="5029200" cy="36576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3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badi"/>
              </a:defRPr>
            </a:pPr>
            <a:r>
              <a:t>GELECEK ARAŞTIRMA YÖNELİMLERİ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1188720"/>
            <a:ext cx="36576" cy="493776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188720"/>
            <a:ext cx="5394960" cy="457200"/>
          </a:xfrm>
          <a:prstGeom prst="round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3444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badi"/>
              </a:defRPr>
            </a:pPr>
            <a:r>
              <a:t>KISA VADELİ (6-12 ay)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78308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• Gerçek epigenetik saat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  katsayıları lisans anlaşması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• Prospektif pilot klinik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  validasyon çalışması (n=200)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• Türkiye popülasyonu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  referans veritabanı başlangıcı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• REST API geliştirme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• Mobil uygulama (iOS/Android)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5394960" cy="457200"/>
          </a:xfrm>
          <a:prstGeom prst="round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23444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badi"/>
              </a:defRPr>
            </a:pPr>
            <a:r>
              <a:t>ORTA-UZUN VADELİ (1-5+ yıl)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78308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ORTA VADELİ (1-3 yıl):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• 100,000+ profil veritabanı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• 5 yıllık longitudinal kohort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• Tam multi-omics platform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• CE-IVD hazırlık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UZUN VADELİ (3-5+ yıl):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• FDA 510(k) / CE-IVD onay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• Klinik lab entegrasyonu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• Uluslararası RCT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VİZYON: Kişiselleştirilmiş tıp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3657600"/>
            <a:ext cx="5029200" cy="36576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3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badi"/>
              </a:defRPr>
            </a:pPr>
            <a:r>
              <a:t>TEMEL REFERANSLAR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1188720"/>
            <a:ext cx="36576" cy="493776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188720"/>
            <a:ext cx="5394960" cy="457200"/>
          </a:xfrm>
          <a:prstGeom prst="round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3444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badi"/>
              </a:defRPr>
            </a:pPr>
            <a:r>
              <a:t>EPİGENETİK SAATLER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78308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Horvath S (2013)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  Genome Biology 14:R115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Hannum G et al (2013)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  Mol Cell 49:359-367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Levine ME et al (2018)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  Aging 10:573-591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Lu AT et al (2019)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  Aging 11:303-327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Belsky DW et al (2022)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  eLife 11:e73420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5394960" cy="457200"/>
          </a:xfrm>
          <a:prstGeom prst="round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23444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badi"/>
              </a:defRPr>
            </a:pPr>
            <a:r>
              <a:t>BAĞIMLILIK &amp; KEMOİNFORMATİK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78308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BAĞIMLILIK EPİGENETİĞİ: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Zillich L et al (2024)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  Mol Psychiatry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Wangler LM et al (2022)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  Drug Alcohol Depend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KEMOİNFORMATİK: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Weininger D (1988)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  J Chem Inf Comput Sci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Rogers D, Hahn M (2010)</a:t>
            </a:r>
          </a:p>
          <a:p>
            <a:pPr>
              <a:spcAft>
                <a:spcPts val="400"/>
              </a:spcAft>
              <a:defRPr sz="1600">
                <a:solidFill>
                  <a:srgbClr val="1E2D46"/>
                </a:solidFill>
                <a:latin typeface="Abadi"/>
              </a:defRPr>
            </a:pPr>
            <a:r>
              <a:t>  J Chem Inf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371600"/>
            <a:ext cx="6705295" cy="50292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846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badi"/>
              </a:defRPr>
            </a:pPr>
            <a:r>
              <a:t>TEŞEKKÜRLER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B4D2F0"/>
                </a:solidFill>
                <a:latin typeface="Abadi"/>
              </a:defRPr>
            </a:pPr>
            <a:r>
              <a:t>Arş. Gör. Dr. Nurcan Denli Bayır | Adli Tıp Anabilim Dalı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03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8CB4DC"/>
                </a:solidFill>
                <a:latin typeface="Abadi"/>
              </a:defRPr>
            </a:pPr>
            <a:r>
              <a:t>GitHub: github.com/mortemdulcem/epi-clock-DNA-mtl-prototype</a:t>
            </a:r>
            <a:br/>
            <a:r>
              <a:t>EpiClock v4.0 | 36,170 Yapısal Varyant | 35+ Modül | Dünyada İlk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