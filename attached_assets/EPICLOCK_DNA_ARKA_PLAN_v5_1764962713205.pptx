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_17649614296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428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Abadi"/>
              </a:defRPr>
            </a:pPr>
            <a:r>
              <a:t>DNA METİLASYON SAATLERİYLE BAĞIMLILIKTA</a:t>
            </a:r>
            <a:br/>
            <a:r>
              <a:t>EPİGENETİK YAŞ İVMELENMESİNİN TESPİTİ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B4D2F0"/>
                </a:solidFill>
                <a:latin typeface="Abadi"/>
              </a:defRPr>
            </a:pPr>
            <a:r>
              <a:t>Detection of Epigenetic Age Acceleration in Addiction</a:t>
            </a:r>
            <a:br/>
            <a:r>
              <a:t>Using DNA Methylation Clocks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120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96B4D2"/>
                </a:solidFill>
                <a:latin typeface="Abadi"/>
              </a:defRPr>
            </a:pPr>
            <a:r>
              <a:t>Arş. Gör. Dr. Nurcan Denli Bayır | Adli Tıp | EpiClock v4.0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_17649614296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F23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3C78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badi"/>
              </a:defRPr>
            </a:pPr>
            <a:r>
              <a:t>EPİGENETİK: MOLEKÜLER BİYOLOJİNİN YENİ PARADİGMASI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1277295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EPİGENETİK TANIM: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DNA sekansında değişiklik olmaksızın gen ekspresyonunun kalıtsal modifikasyonları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(Conrad Waddington, 1942 - Epigenetic Landscape konsepti)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TEMEL EPİGENETİK MEKANİZMALAR: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1. DNA METİLASYONU (5-metilsitozin, 5mC):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   DNMT1, DNMT3A, DNMT3B enzimleri, S-adenozilmetiyonin metil donör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2. HİSTON MODİFİKASYONLARI: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   Asetilasyon (HAT/HDAC), Metilasyon (HMT/HDM)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   H3K4me3 (aktivasyon), H3K27me3 (baskılama)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3. NON-CODING RNA: miRNA, lncRNA, piRNA, circRNA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4. KROMATİN REMODELİNG: SWI/SNF, ISWI, CHD, INO80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_17649614296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F23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3C78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badi"/>
              </a:defRPr>
            </a:pPr>
            <a:r>
              <a:t>DNA METİLASYON BİYOKİMYASI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1277295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5-METİLSİTOZİN (5mC) OLUŞUM REAKSİYONU: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Sitozin + SAM  ──DNMT──&gt;  5-metilsitozin + SAH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DNA METİLTRANSFERAZLAR (DNMT):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DNMT1 (Maintenance): Hemimetile DNA tanıma, replikasyonda patern koruma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DNMT3A/3B (De novo): Yeni metilasyon paternleri oluşturma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AKTİF DEMETİLASYON (TET Enzimleri):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5mC → 5hmC → 5fC → 5caC → Sitozin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(TET1/2/3: Ten-Eleven Translocation, α-ketoglutarat bağımlı)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CpG ADALARI: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GC içeriği &gt;50%, O/E CpG &gt;0.6, uzunluk &gt;200 bp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_17649614296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F23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3C78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badi"/>
              </a:defRPr>
            </a:pPr>
            <a:r>
              <a:t>EPİGENETİK SAAT: MATEMATİKSEL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1277295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EPİGENETİK YAŞ TAHMİN DENKLEMİ: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DNAmAge = α + Σ(βᵢ × Mᵢ)  ,  i = 1, ..., n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Mᵢ = CpG metilasyon β-değeri (0-1)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βᵢ = ElasticNet regresyon katsayısı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α = İntercept değeri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n = Modele dahil CpG sayısı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ELASTİCNET REGULARIZASYON: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L(β) = ||y - Xβ||² + λ₁||β||₁ + λ₂||β||²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L1 (Lasso): Özellik seçimi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L2 (Ridge): Multikolinearite düzeltmesi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VALİDASYON: LOOCV, Pearson r &gt; 0.95, MAE: 2.5-4 yıl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_17649614296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F23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3C78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badi"/>
              </a:defRPr>
            </a:pPr>
            <a:r>
              <a:t>EPİGENETİK YAŞ İVMELENMESİ (EAA)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1277295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EAA FORMÜLÜ: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EAA = DNAmAge - Kronolojik Yaş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IEAA: Intrinsic (hücre-içi yaşlanma)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EEAA: Extrinsic (immunosenescence)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KLİNİK KORELASYONLAR: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Pozitif EAA (+): Hızlanmış biyolojik yaşlanma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  - Mortalite riski (HR: 1.03-1.09 per yıl)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  - Kardiyovasküler, nörodejeneratif hastalık riski artışı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Negatif EAA (-): Yavaşlamış biyolojik yaşlanma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  - Süper-yüzlüler (supercentenarians)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DunedinPACE: Yaşlanma hızı ölçümü (referans: 1.0)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_17649614296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F23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3C78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badi"/>
              </a:defRPr>
            </a:pPr>
            <a:r>
              <a:t>5 MAJOR EPİGENETİK SAAT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1277295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1. HORVATH PAN-TISSUE CLOCK (2013):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 353 CpG, 51 doku tipi, ElasticNet, MAE: 3.6 yıl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2. HANNUM BLOOD CLOCK (2013):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 71 CpG, kan optimize, MAE: 3.9 yıl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3. PHENOAGE (Levine, 2018):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 513 CpG, 9 klinik biyobelirteç entegre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 Albumin, Kreatinin, Glukoz, CRP, Lenfosit, MCV, RDW, ALP, WBC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4. GRIMAGE (Lu, 2019):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 1,030 CpG, plazma protein tahmini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 En güçlü mortalite prediktörü (HR: 1.10)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5. DUNEDINPACE (Belsky, 2022):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 173 CpG, yaşlanma hızı, 19 organ sistem biyobelirteci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_17649614296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F23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3C78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badi"/>
              </a:defRPr>
            </a:pPr>
            <a:r>
              <a:t>KEMOİNFORMATİK: HESAPLAMALI KİMYA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1277295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KEMOİNFORMATİK TANIMI (F.K. Brown, 1998):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'Kimyasal bilginin toplanması, depolanması, analizi için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bilgisayar bilimi ve bilgi teknolojisi tekniklerinin uygulanması'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TEMEL ALANLAR: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1. MOLEKÜLER TEMSİL: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   SMILES, InChI, Molecular Fingerprints (ECFP, MACCS)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2. QSAR/QSPR MODELLEMESİ: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   Quantitative Structure-Activity/Property Relationships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3. SANAL TARAMA: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   Ligand-bazlı, Yapı-bazlı, Farmakofor-bazlı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4. ADMET TAHMİNİ: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   Absorption, Distribution, Metabolism, Excretion, Toxicity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_17649614296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F23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3C78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badi"/>
              </a:defRPr>
            </a:pPr>
            <a:r>
              <a:t>SMILES NOTASYONU: MOLEKÜLER TEMSİL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1277295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SMILES (Simplified Molecular Input Line Entry System):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Kimyasal yapıları ASCII ile kodlayan lineer notasyon (Weininger, 1988)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SMILES KURALLARI: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Atomlar: C, N, O, S, P, F, Cl, Br, I (lowercase: aromatik)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Bağlar: - (single), = (double), # (triple)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Dallanma: Parantez (), Halka: Rakamlar (c1ccccc1 = benzen)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Stereokimya: @, @@, /, \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ÖRNEK SMILES: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Morfin:   CN1CC[C@]23c4c5ccc(O)c4O[C@H]2...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Fentanil: CCC(=O)N(c1ccccc1)C2CCN(CCc3ccccc3)CC2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THC:      CCCCCc1cc(O)c2C3CC(C)=CCC3C(C)(C)Oc2c1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MDMA:     CC(NC)Cc1ccc2OCOc2c1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CANONICAL SMILES: Benzersiz, standartlaştırılmış temsil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_17649614296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F23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3C78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badi"/>
              </a:defRPr>
            </a:pPr>
            <a:r>
              <a:t>MOLEKÜLER PARMAK İZLERİ (FINGERPRINTS)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1277295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MOLEKÜLER PARMAK İZİ: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Kimyasal yapıların bit vektörleri şeklinde kodlanması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PARMAK İZİ TİPLERİ: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1. SUBSTRUCTURE FINGERPRINTS: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   MACCS Keys (166 bit), PubChem (881 bit)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2. CIRCULAR FINGERPRINTS: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   ECFP (Extended Connectivity FP):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     ECFP4: Yarıçap 2, 1024-2048 bit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     ECFP6: Yarıçap 3, daha detaylı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   Morgan: RDKit implementasyonu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BENZERLİK METRİKLERİ: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Tanimoto: T(A,B) = |A∩B| / |A∪B|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Dice: D(A,B) = 2|A∩B| / (|A|+|B|)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_17649614296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F23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3C78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badi"/>
              </a:defRPr>
            </a:pPr>
            <a:r>
              <a:t>QSAR/QSPR: YAPI-AKTİVİTE İLİŞKİLERİ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1277295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QSAR PARADİGMASI (Hansch &amp; Fujita, 1964):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Biyolojik Aktivite = f(Moleküler Tanımlayıcılar)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MOLEKÜLER TANIMLAYICILAR: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1D: Atom sayısı, MW, Formül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2D: Topolojik indeksler, ECFP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3D: Yüzey alanı, hacim, farmakofor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FİZİKOKİMYASAL TANIMLAYICILAR: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logP: Lipofiliklik (Oktanol/Su)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pKa: İyonizasyon sabiti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PSA: Polar Surface Area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MW, HBA, HBD, RotBonds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LIPINSKI KURALI: MW≤500, logP≤5, HBD≤5, HBA≤10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_17649614296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F23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3C78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badi"/>
              </a:defRPr>
            </a:pPr>
            <a:r>
              <a:t>ADMET TAHMİNLERİ: FARMAKOKİNETİK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1277295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ADMET: Absorption, Distribution, Metabolism, Excretion, Toxicity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ABSORPSİYON: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Caco-2 Permeabilite, PAMPA, P-gp substrat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DAĞILIM: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BBB Geçirgenliği: logBB &gt; 0.3 → CNS aktif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VDss, Plazma protein bağlanması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METABOLİZMA: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CYP450 İnhibisyonu: 1A2, 2C9, 2C19, 2D6, 3A4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Metabolik stabilite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TOKSİSİTE: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hERG İnhibisyonu → QT uzaması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Hepatotoksisite (DILI), AMES mutajenite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_17649614296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F23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3C78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badi"/>
              </a:defRPr>
            </a:pPr>
            <a:r>
              <a:t>FARMAKOFOR MODELLEMESİ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1277295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FARMAKOFOR TANIMI (IUPAC):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'Biyolojik hedefe optimal supramoleküler etkileşimleri sağlayan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sterik ve elektronik özelliklerin 3D düzenlemesi'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FARMAKOFOR ÖZELLİKLERİ: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HBA: Hidrojen Bağı Akseptörü (N, O lone pair)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HBD: Hidrojen Bağı Donörü (-NH, -OH)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HYD: Hidrofobik Bölge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AR: Aromatik Halka (π-π stacking)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PI: Pozitif İyonize (Amin)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NI: Negatif İyonize (Karboksil)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EPİCLOCK FARMAKOFOR KÜTÜPHANESİ: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16 farmakofor çekirdeği × 120 türev = 1,920 sanal bileşik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_17649614296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F23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3C78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badi"/>
              </a:defRPr>
            </a:pPr>
            <a:r>
              <a:t>EPİCLOCK VERİTABANI: 36,170 VARYANT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1277295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ENTEGRE VERİTABANI: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MODÜL                              KAYIT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──────────────────────────────────────────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Temel Madde Veritabanı              1,815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NPS Türev Veritabanı                2,822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Polisubstans Kombinasyonları          257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Kimyasal Sentez Reaksiyonları          31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Metabolik Yolaklar                     48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Farmakofor Sanal Kütüphane          1,920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Metabolit Tahminleri                6,240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Markush Yapısal Varyantları        29,277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──────────────────────────────────────────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TOPLAM                             36,170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_17649614296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F23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3C78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badi"/>
              </a:defRPr>
            </a:pPr>
            <a:r>
              <a:t>YENİ PSİKOAKTİF MADDELER (NPS)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1277295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NPS TANIMI (UNODC/EMCDDA):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Kontrol altındaki maddelerin etkilerini taklit eden maddeler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9 NPS KİMYASAL SINIFI (2,822 türev):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1. SENTETİK KANABİNOİDLER (n=784):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   JWH-018, AM-2201, CB1 tam agonist, THC 10-50x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2. SENTETİK KATİNONLAR (n=840):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   Mephedrone, MDPV, α-PVP (Bath salts)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3. FENTANİL ANALOGLARI (n=416):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   Carfentanil (100x morfin), μ-opioid agonist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4. NİTAZENLER (n=208):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   Etonitazene (1000x morfin) - EN TEHLİKELİ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_17649614296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F23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3C78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badi"/>
              </a:defRPr>
            </a:pPr>
            <a:r>
              <a:t>NPS SINIFLARI (DEVAM)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1277295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5. TRİPTAMİNLER (n=156):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   DMT, 5-MeO-DMT, Psilosibin, 5-HT2A agonist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6. FENETİLAMİNLER (n=192):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   2C-B, 2C-I, NBOMe serisi, DOx serisi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7. DİZAYNER BENZODİAZEPİNLER (n=128):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   Flualprazolam, Clonazolam, Etizolam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   GABA-A pozitif allosterik modülatör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8. DİSSOSİYATİFLER (n=64):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   3-MeO-PCP, MXE, DCK, NMDA antagonist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9. DİĞER NPS (n=34):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   GHB analogları, Aminoindanlar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_17649614296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F23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3C78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badi"/>
              </a:defRPr>
            </a:pPr>
            <a:r>
              <a:t>MARKUSH YAPI SİSTEMİ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1277295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MARKUSH YAPISI (Patent terminolojisi):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Değiştirilebilir grupların (R-grupları) sistematik tanımı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MARKUSH FORMÜL: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Core-Scaffold + [R₁][R₂][R₃]...[Rₙ]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EPİCLOCK MARKUSH KURALLARI (10 Kural):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Kural 1: Nitazenler         5,200 varyant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Kural 2: Fenetilaminler     4,800 varyant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Kural 3: Triptaminler       3,600 varyant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Kural 4: Benzodiazepinler   3,200 varyant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Kural 5-10: Diğer          12,477 varyant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TOPLAM: 29,277 'KİMYASAL OLARAK MÜMKÜN' BİLEŞİK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_17649614296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F23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3C78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badi"/>
              </a:defRPr>
            </a:pPr>
            <a:r>
              <a:t>SUBSTİTÜENT PALETİ: R-GRUPLARI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1277295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R-GRUP DEĞİŞKENLERİ: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HALOJEN: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R = -F, -Cl, -Br, -I (ortho, meta, para)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ALKİL: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R = -CH₃, -C₂H₅, -C₃H₇, i-propil, t-butil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ALKOKSİ: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R = -OCH₃, -OC₂H₅, -OCF₃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AZOT MODİFİKASYONU: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N-metil, N-etil, N-propil, N-benzil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HALKA MODİFİKASYONU: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Halka genişleme/daralma (5→6, 6→7)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Heteroatom değişimi (C→N, C→O, C→S)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_17649614296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F23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3C78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badi"/>
              </a:defRPr>
            </a:pPr>
            <a:r>
              <a:t>IN SILICO RESEPTÖR AFİNİTE TAHMİNLERİ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1277295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HESAPLAMALI AFİNİTE YÖNTEMLERİ: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QSAR modelleri, Molecular Docking, FEP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EPİCLOCK RESEPTÖR PANELİ (Ki, nM):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DAT (Dopamin Taşıyıcı):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  Uyarıcı etki, Kokain/Amfetamin-tipi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SERT (Serotonin Taşıyıcı):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  SSRI aktivitesi, MDMA empatojenik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5-HT2A (Serotonin 2A):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  Halüsinojen aktivite, LSD/Psilosibin-tipi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OPRM1 (μ-Opioid): Analjezi, öfori, solunum depresyonu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CB1 (Kanabinoid 1): Kannabimimetik etki, THC-tipi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_17649614296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F23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3C78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badi"/>
              </a:defRPr>
            </a:pPr>
            <a:r>
              <a:t>KAN-BEYİN BARİYERİ (BBB) TAHMİNİ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1277295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BBB FİZYOLOJİSİ: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Tight junctions: Claudin-5, Occludin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Efflux: P-gp, BCRP, MRP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GEÇİRGENLİK KRİTERLERİ: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logBB (Brain/Blood Partition):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  logBB &gt; 0.3  → BBB geçirgen (CNS aktif)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  logBB &lt; -1.0 → BBB geçirmez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PSA (Polar Surface Area):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  PSA &lt; 60 Ų  → Yüksek BBB geçirgenlik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  PSA &gt; 90 Ų  → Düşük BBB geçirgenlik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EPİCLOCK ANALİZİ (1,920 bileşik):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BBB Geçirgen: 1,144 (%59.6)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BBB Geçirmez: 776 (%40.4)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_17649614296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F23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3C78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badi"/>
              </a:defRPr>
            </a:pPr>
            <a:r>
              <a:t>METABOLİT TAHMİN SİSTEMİ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1277295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XENOBIYOTIK METABOLİZMA: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FAZ I (CYP450):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Aromatik Hidroksilasyon: Ar-H → Ar-OH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N-dealkilasyon: R-N(CH₃)₂ → R-NH₂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O-dealkilasyon: R-OCH₃ → R-OH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N-oksidasyon, S-oksidasyon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FAZ II (Konjugasyon):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UGT Glukuronidasyon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SULT Sülfatasyon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GST Glutatyon konjugasyonu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NAT Asetilasyon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PİROLİZ ÜRÜNLERİ: Termal dekompozisyon (&gt;200°C)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TOPLAM TAHMİN: 6,240 metabolit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_17649614296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F23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3C78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badi"/>
              </a:defRPr>
            </a:pPr>
            <a:r>
              <a:t>DNA METİLASYON VERİTABANI: 10,542 PROFİL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1277295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15 BAĞIMSIZ KOHORT: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PLATFORMLAR: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Illumina 450K (485,577 CpG)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Illumina EPIC (866,895 CpG)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WGBS (~28 milyon CpG)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ÖRNEK POPÜLASYONU: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KATEGORİ                    N        %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─────────────────────────────────────────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Alkol Kullanım Boz.       2,183    20.7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Opioid Kullanım Boz.      1,360    12.9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Kokain Kullanım Boz.      1,030     9.8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Polisubstans                720     6.8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Esrar Kullanım Boz.         194     1.8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Metamfetamin                 48     0.5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Kontrol                   5,007    47.5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_17649614296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F23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3C78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badi"/>
              </a:defRPr>
            </a:pPr>
            <a:r>
              <a:t>MADDEYE ÖZGÜ EAA SONUÇLARI (GrimAge)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1277295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GRİMAGE-BAZLI EPİGENETİK YAŞ İVMELENMESİ: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MADDE              EAA        95% CI          p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───────────────────────────────────────────────────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Polisubstans     +7.3 yıl    (6.4 - 8.3)    &lt;.001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Metamfetamin     +6.2 yıl    (4.5 - 8.1)    &lt;.001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Kokain           +4.1 yıl    (3.5 - 4.7)    &lt;.001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Alkol            +3.6 yıl    (3.1 - 4.2)    &lt;.001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Opioidler        +2.9 yıl    (2.5 - 3.4)    &lt;.001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Esrar            +0.8 yıl    (0.3 - 1.4)     .008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Kontrol           0.0 yıl   (-0.3 - 0.3)     ref.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Doz-yanıt ilişkisi: r = 0.67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Effect size (Cohen's d): Polisubstans vs Kontrol = 1.42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_17649614296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F23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3C78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badi"/>
              </a:defRPr>
            </a:pPr>
            <a:r>
              <a:t>MEDİASYON ANALİZİ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1277295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MEDİASYON HİPOTEZİ (Baron &amp; Kenny, 1986):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Madde (X) → DNA Metilasyonu (M) → EAA (Y)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YOLAK ANALİZİ: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c yolu (Total):  X → Y    β=4.3, p&lt;.001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a yolu:          X → M    β=-0.15, p&lt;.001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b yolu:          M → Y    β=-12.4, p&lt;.001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c' yolu (Direct): X→Y|M   β=2.44, p&lt;.001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İNDİREKT ETKİ: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ab = 1.86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Mediasyon oranı: ab/c = 43.3%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BOOTSTRAP (10,000 rep):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95% CI: (1.42 - 2.31) → Anlamlı kısmi mediasyon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_17649614296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F23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3C78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badi"/>
              </a:defRPr>
            </a:pPr>
            <a:r>
              <a:t>MAKİNE ÖĞRENMESİ ENSEMBLE MODELİ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1277295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WEIGHTED VOTING ENSEMBLE: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Ŷ = w₁×RF(X) + w₂×XGB(X) + w₃×EN(X)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MODEL BİLEŞENLERİ: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1. RANDOM FOREST (w₁ = 0.35):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   n_estimators=500, max_depth=20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2. XGBOOST (w₂ = 0.45):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   learning_rate=0.01, n_estimators=1000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   Early stopping: 50 rounds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3. ELASTICNET (w₃ = 0.20):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   α=0.5, λ=0.01 (CV)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PERFORMANS (10-fold CV):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MAE = 2.1 yıl | R² = 0.96 | RMSE = 2.8 yıl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_17649614296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F23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3C78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badi"/>
              </a:defRPr>
            </a:pPr>
            <a:r>
              <a:t>POLİSUBSTANS SİNERJİ MATRİSİ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1277295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SİNERJİ HESAPLAMA: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SF = Gözlenen / Beklenen Aditif (SF&gt;1.0 → Sinerjistik)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YÜKSEK RİSKLİ KOMBİNASYONLAR (n=257):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KOMBİNASYON              SOKAK ADI     SF    ÖLÜM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─────────────────────────────────────────────────────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Fent+Heroin+Carfent      Grey Death   4.2    50%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Fentanil+Heroin          Purple Dope  3.5    45%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Kokain+Heroin            Speedball    2.8    35%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Benzodiazepin+Opioid     -            3.2    30%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Alkol+Opioid             -            2.8    28%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MDMA+LSD                 Candy Flip   1.8     5%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_17649614296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F23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3C78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badi"/>
              </a:defRPr>
            </a:pPr>
            <a:r>
              <a:t>BLOCKCHAIN DENETİM İZİ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1277295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BLOCKCHAIN MİMARİSİ: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Block[n] = {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  timestamp, sample_id, params,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  result_hash, prev_hash, nonce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}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SHA-256 HASH (NIST FIPS 180-4):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H(m) = 256-bit digest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Çarpışma direnci: O(2¹²⁸)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ZİNCİR DOĞRULAMA: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Block[n].hash = SHA256(Block[n-1].hash || Block[n].data)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Değişiklik → Tüm sonraki hash'ler geçersiz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→ Tamper-evident, immutable sistem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ADLİ GEÇERLİLİK: Daubert/Frye kriterleri uyumlu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_17649614296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F23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3C78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badi"/>
              </a:defRPr>
            </a:pPr>
            <a:r>
              <a:t>POSTMORTEM DNA METİLASYON ANALİZİ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1277295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POSTMORTEM ZORLUKLAR: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DNA degradasyonu, Bakteriyel kontaminasyon, Çevresel faktörler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PMI DÜZELTME MODELİ: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DNAmAge_corrected = DNAmAge_raw - f(PMI, T, Doku)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DOKU STABİLİTE: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PMI (saat)    r       MAE     Güvenilirlik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─────────────────────────────────────────────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  0-48      &gt;0.95    2.5     Yüksek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 48-72      &gt;0.85    4.2     Orta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 72-168     &gt;0.70    6.8     Düşük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_17649614296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F23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3C78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badi"/>
              </a:defRPr>
            </a:pPr>
            <a:r>
              <a:t>MULTİ-OMİKS ENTEGRASYON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1277295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OMİKS VERİ KATMANLARI: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Genomics     → SNP, CNV (DNA)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Epigenomics  → 5mC, Histon (Regülasyon)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Transcriptomics → mRNA (Ekspresyon)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Proteomics   → Protein (Fonksiyon)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Metabolomics → Metabolitler (Fenotip)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ENTEGRASYON YÖNTEMLERİ: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1. MOFA+ (Multi-Omics Factor Analysis):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   Probabilistic latent factor model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2. PLS-DA (Partial Least Squares):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   Supervised dimensionality reduction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3. SNF (Similarity Network Fusion):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   Patient similarity networks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_17649614296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F23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3C78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badi"/>
              </a:defRPr>
            </a:pPr>
            <a:r>
              <a:t>KLİNİK KARAR DESTEK SİSTEMİ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1277295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RİSK STRATİFİKASYONU: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RİSK              EAA            KLİNİK AKSİYON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───────────────────────────────────────────────────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Minimal          &lt; +1 yıl       Rutin takip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Düşük            +1 ≤ EAA &lt; +3  Yaşam tarzı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Orta             +3 ≤ EAA &lt; +5  Aktif izlem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Yüksek           +5 ≤ EAA &lt; +8  Yoğun tedavi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Çok Yüksek       ≥ +8 yıl       Acil müdahale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PROGNOSTİK: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GrimAge: HR = 1.10 per yıl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DunedinPACE &gt; 1.2: Hızlanmış yaşlanma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UYARI: Karar destek, klinik değerlendirme yerini almaz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_17649614296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F23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3C78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badi"/>
              </a:defRPr>
            </a:pPr>
            <a:r>
              <a:t>MALİYET-ETKİNLİK ANALİZİ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1277295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GELENEKSEL YÖNTEM (per örnek):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WGBS: $2,500 | 450K/EPIC: $400 | Analiz: $200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Toplam: ~$3,100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EPİCLOCK YAKLAŞIMI (per örnek):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Hedefli Panel: $80 | Analiz: $0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Toplam: ~$80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TASARRUF: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Per örnek: $3,020 (%97.4)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1,000 örnek: $3,020,000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SÜRE: 2-4 hafta → 24 saat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_17649614296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F23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3C78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badi"/>
              </a:defRPr>
            </a:pPr>
            <a:r>
              <a:t>SINIRLAMALAR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1277295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METODOLOJİK: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1. Simüle Katsayılar: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   Gerçek katsayılar lisans gerektirir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2. Popülasyon Temsili: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   Çoğunlukla Avrupa kökenli, Trans-etnik validasyon gerekli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3. Teknik Varyasyon: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   Batch efektler, protokol farklılıkları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YORUMLAMA: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4. Nedensellik vs Korelasyon: Gözlemsel veri limiti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5. Bireysel Varyasyon: Genetik, çevre, yaşam tarzı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PROTOTIP: Klinik karar için tek başına kullanılmamalı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_17649614296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F23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3C78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badi"/>
              </a:defRPr>
            </a:pPr>
            <a:r>
              <a:t>GELECEK ARAŞTIRMA YÖNELİMLERİ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1277295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KISA VADELİ (6-12 ay):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Gerçek katsayı lisansı, Pilot validasyon (n=200)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Türkiye referans veritabanı, Mobil uygulama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ORTA VADELİ (1-3 yıl):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100,000+ profil veritabanı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Longitudinal kohort (5 yıl)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Multi-omics platform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CE-IVD hazırlık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UZUN VADELİ (3-5+ yıl):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FDA/CE onay süreci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Klinik laboratuvar entegrasyonu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Uluslararası RCT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VİZYON: Kişiselleştirilmiş bağımlılık tıbbı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_17649614296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F23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3C78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badi"/>
              </a:defRPr>
            </a:pPr>
            <a:r>
              <a:t>REFERANSLAR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1277295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EPİGENETİK SAATLER: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Horvath S (2013). Genome Biology 14:R115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Hannum G et al (2013). Mol Cell 49:359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Levine ME et al (2018). Aging 10:573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Lu AT et al (2019). Aging 11:303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Belsky DW et al (2022). eLife 11:e73420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BAĞIMLILIK EPİGENETİĞİ: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Zillich L et al (2024). Mol Psychiatry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Wangler LM et al (2022). Drug Alcohol Depend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KEMOİNFORMATİK: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Weininger D (1988). J Chem Inf Comput Sci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  Rogers D, Hahn M (2010). J Chem Inf Model</a:t>
            </a: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DCEBFF"/>
                </a:solidFill>
                <a:latin typeface="Abadi"/>
              </a:defRPr>
            </a:pPr>
            <a:r>
              <a:t>VERİTABANLARI: GWAS Catalog, PharmGKB, UNODC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_17649614296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428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Abadi"/>
              </a:defRPr>
            </a:pPr>
            <a:r>
              <a:t>TEŞEKKÜRLER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B4D2F0"/>
                </a:solidFill>
                <a:latin typeface="Abadi"/>
              </a:defRPr>
            </a:pPr>
            <a:r>
              <a:t>Arş. Gör. Dr. Nurcan Denli Bayır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120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96B4D2"/>
                </a:solidFill>
                <a:latin typeface="Abadi"/>
              </a:defRPr>
            </a:pPr>
            <a:r>
              <a:t>GitHub: github.com/mortemdulcem/epi-clock-DNA-mtl-prototype | EpiClock v4.0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