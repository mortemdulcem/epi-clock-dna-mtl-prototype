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/>
    <p:restoredTop sz="86410"/>
  </p:normalViewPr>
  <p:slideViewPr>
    <p:cSldViewPr snapToGrid="0" snapToObjects="1" showGuides="1">
      <p:cViewPr varScale="1">
        <p:scale>
          <a:sx n="63" d="100"/>
          <a:sy n="63" d="100"/>
        </p:scale>
        <p:origin x="1157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101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6" Type="http://schemas.openxmlformats.org/officeDocument/2006/relationships/tableStyles" Target="tableStyles.xml"/><Relationship Id="rId115" Type="http://schemas.openxmlformats.org/officeDocument/2006/relationships/viewProps" Target="viewProps.xml"/><Relationship Id="rId114" Type="http://schemas.openxmlformats.org/officeDocument/2006/relationships/presProps" Target="presProps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B24B8-23B4-4BAC-A6F7-A37355AAEC26}" type="datetimeFigureOut">
              <a:rPr lang="tr-TR" smtClean="0"/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  <a:endParaRPr lang="tr-TR"/>
          </a:p>
          <a:p>
            <a:pPr lvl="1"/>
            <a:r>
              <a:rPr lang="tr-TR"/>
              <a:t>İkinci düzey</a:t>
            </a:r>
            <a:endParaRPr lang="tr-TR"/>
          </a:p>
          <a:p>
            <a:pPr lvl="2"/>
            <a:r>
              <a:rPr lang="tr-TR"/>
              <a:t>Üçüncü düzey</a:t>
            </a:r>
            <a:endParaRPr lang="tr-TR"/>
          </a:p>
          <a:p>
            <a:pPr lvl="3"/>
            <a:r>
              <a:rPr lang="tr-TR"/>
              <a:t>Dördüncü düzey</a:t>
            </a:r>
            <a:endParaRPr lang="tr-TR"/>
          </a:p>
          <a:p>
            <a:pPr lvl="4"/>
            <a:r>
              <a:rPr lang="tr-TR"/>
              <a:t>Beşinci düzey</a:t>
            </a:r>
            <a:endParaRPr lang="tr-TR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A607A-CA3E-4E10-B3DD-F2827196FAE4}" type="slidenum">
              <a:rPr lang="tr-TR" smtClean="0"/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2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3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4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5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6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7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8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9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10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11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12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13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14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15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16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17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18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19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20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21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22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23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24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25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26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27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28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29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30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31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32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33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34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35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36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37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38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39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40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41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42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43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44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45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46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47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48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49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50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51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52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53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54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55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56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57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58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59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60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61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62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63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64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65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66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67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68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69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70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71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72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73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74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75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76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77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78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79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80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81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82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83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84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85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86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87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88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89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90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91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92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93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94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95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96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97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98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99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100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101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102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103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104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105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106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107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108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109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tr-TR" dirty="0">
                <a:latin typeface="Segoe UI" panose="020B0502040204020203" pitchFamily="34" charset="0"/>
              </a:rPr>
              <a:t>110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219456" y="2615184"/>
            <a:ext cx="9144000" cy="91440"/>
          </a:xfrm>
          <a:prstGeom prst="rect">
            <a:avLst/>
          </a:prstGeom>
          <a:solidFill>
            <a:srgbClr val="00A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EpiClock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v4.0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DNA Metilasyon Saatleriyle Bağımlılıkta Epigenetik Yaş İvmelenmesi:</a:t>
            </a:r>
            <a:br>
              <a:rPr lang="tr-TR" dirty="0">
                <a:latin typeface="Segoe UI" panose="020B0502040204020203" pitchFamily="34" charset="0"/>
              </a:rPr>
            </a:br>
            <a:r>
              <a:rPr lang="tr-TR" dirty="0">
                <a:latin typeface="Segoe UI" panose="020B0502040204020203" pitchFamily="34" charset="0"/>
              </a:rPr>
              <a:t>10,542 </a:t>
            </a:r>
            <a:r>
              <a:rPr lang="tr-TR" dirty="0" err="1">
                <a:latin typeface="Segoe UI" panose="020B0502040204020203" pitchFamily="34" charset="0"/>
              </a:rPr>
              <a:t>Profilik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Kapsamli</a:t>
            </a:r>
            <a:r>
              <a:rPr lang="tr-TR" dirty="0">
                <a:latin typeface="Segoe UI" panose="020B0502040204020203" pitchFamily="34" charset="0"/>
              </a:rPr>
              <a:t> Araştırma</a:t>
            </a:r>
            <a:br>
              <a:rPr lang="tr-TR" dirty="0">
                <a:latin typeface="Segoe UI" panose="020B0502040204020203" pitchFamily="34" charset="0"/>
              </a:rPr>
            </a:br>
            <a:br>
              <a:rPr lang="tr-TR" dirty="0">
                <a:latin typeface="Segoe UI" panose="020B0502040204020203" pitchFamily="34" charset="0"/>
              </a:rPr>
            </a:br>
            <a:r>
              <a:rPr lang="tr-TR" dirty="0">
                <a:latin typeface="Segoe UI" panose="020B0502040204020203" pitchFamily="34" charset="0"/>
              </a:rPr>
              <a:t>Dr. Nurcan Denli Bayır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18482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Sunum </a:t>
            </a:r>
            <a:r>
              <a:rPr lang="tr-TR" dirty="0" err="1">
                <a:latin typeface="Segoe UI" panose="020B0502040204020203" pitchFamily="34" charset="0"/>
              </a:rPr>
              <a:t>Icerigi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1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BÖLÜM 1: Giriş ve Teorik Çerçeve 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- DNA Metilasyonu Biyolojisi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- Epigenetik Saatler ve Biyolojik Yaşlanma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- Bağımlılık ve Epigenetik Değişiklikler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BÖLÜM 2: Metodoloji 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- Veri Setleri ve Örneklem (n=10,542)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- İstatistiksel Analizler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- Makine </a:t>
            </a:r>
            <a:r>
              <a:rPr lang="tr-TR" dirty="0" err="1">
                <a:latin typeface="Segoe UI" panose="020B0502040204020203" pitchFamily="34" charset="0"/>
              </a:rPr>
              <a:t>Ogrenmesi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Pipeline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BÖLÜM 3: Araştırma </a:t>
            </a:r>
            <a:r>
              <a:rPr lang="tr-TR" dirty="0" err="1">
                <a:latin typeface="Segoe UI" panose="020B0502040204020203" pitchFamily="34" charset="0"/>
              </a:rPr>
              <a:t>Bulgulari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- Epigenetik Yaş İvmelenmesi </a:t>
            </a:r>
            <a:r>
              <a:rPr lang="tr-TR" dirty="0" err="1">
                <a:latin typeface="Segoe UI" panose="020B0502040204020203" pitchFamily="34" charset="0"/>
              </a:rPr>
              <a:t>Sonuçlari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- Maddeye Özgü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Imzalari</a:t>
            </a:r>
            <a:r>
              <a:rPr lang="tr-TR" dirty="0">
                <a:latin typeface="Segoe UI" panose="020B0502040204020203" pitchFamily="34" charset="0"/>
              </a:rPr>
              <a:t> (1,847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- </a:t>
            </a:r>
            <a:r>
              <a:rPr lang="tr-TR" dirty="0" err="1">
                <a:latin typeface="Segoe UI" panose="020B0502040204020203" pitchFamily="34" charset="0"/>
              </a:rPr>
              <a:t>Mediyasyon</a:t>
            </a:r>
            <a:r>
              <a:rPr lang="tr-TR" dirty="0">
                <a:latin typeface="Segoe UI" panose="020B0502040204020203" pitchFamily="34" charset="0"/>
              </a:rPr>
              <a:t> ve </a:t>
            </a:r>
            <a:r>
              <a:rPr lang="tr-TR" dirty="0" err="1">
                <a:latin typeface="Segoe UI" panose="020B0502040204020203" pitchFamily="34" charset="0"/>
              </a:rPr>
              <a:t>Moderasyon</a:t>
            </a:r>
            <a:r>
              <a:rPr lang="tr-TR" dirty="0">
                <a:latin typeface="Segoe UI" panose="020B0502040204020203" pitchFamily="34" charset="0"/>
              </a:rPr>
              <a:t> Analizleri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BÖLÜM 4: Klinik ve Adli Uygulamalar 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- Postmortem Validasyon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- Tersine </a:t>
            </a:r>
            <a:r>
              <a:rPr lang="tr-TR" dirty="0" err="1">
                <a:latin typeface="Segoe UI" panose="020B0502040204020203" pitchFamily="34" charset="0"/>
              </a:rPr>
              <a:t>Cevrilebilirlik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Kanitlari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- Platform </a:t>
            </a:r>
            <a:r>
              <a:rPr lang="tr-TR" dirty="0" err="1">
                <a:latin typeface="Segoe UI" panose="020B0502040204020203" pitchFamily="34" charset="0"/>
              </a:rPr>
              <a:t>Ozellikleri</a:t>
            </a:r>
            <a:r>
              <a:rPr lang="tr-TR" dirty="0">
                <a:latin typeface="Segoe UI" panose="020B0502040204020203" pitchFamily="34" charset="0"/>
              </a:rPr>
              <a:t> ve </a:t>
            </a:r>
            <a:r>
              <a:rPr lang="tr-TR" dirty="0" err="1">
                <a:latin typeface="Segoe UI" panose="020B0502040204020203" pitchFamily="34" charset="0"/>
              </a:rPr>
              <a:t>GNN</a:t>
            </a:r>
            <a:r>
              <a:rPr lang="tr-TR" dirty="0">
                <a:latin typeface="Segoe UI" panose="020B0502040204020203" pitchFamily="34" charset="0"/>
              </a:rPr>
              <a:t> Analizi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BÖLÜM 5: </a:t>
            </a:r>
            <a:r>
              <a:rPr lang="tr-TR" dirty="0" err="1">
                <a:latin typeface="Segoe UI" panose="020B0502040204020203" pitchFamily="34" charset="0"/>
              </a:rPr>
              <a:t>Tartisma</a:t>
            </a:r>
            <a:r>
              <a:rPr lang="tr-TR" dirty="0">
                <a:latin typeface="Segoe UI" panose="020B0502040204020203" pitchFamily="34" charset="0"/>
              </a:rPr>
              <a:t> ve Sonuç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42885" y="1828800"/>
            <a:ext cx="12582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BÖLÜM 1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GİRİŞ VE TEORİK ÇERÇEVE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32370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DNA Metilasyonu: Temel Kavramlar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TANIM: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DNA metilasyonu, sitozin </a:t>
            </a:r>
            <a:r>
              <a:rPr lang="tr-TR" dirty="0" err="1">
                <a:latin typeface="Segoe UI" panose="020B0502040204020203" pitchFamily="34" charset="0"/>
              </a:rPr>
              <a:t>bazlarinin</a:t>
            </a:r>
            <a:r>
              <a:rPr lang="tr-TR" dirty="0">
                <a:latin typeface="Segoe UI" panose="020B0502040204020203" pitchFamily="34" charset="0"/>
              </a:rPr>
              <a:t> 5' pozisyonuna metil grubu (-</a:t>
            </a:r>
            <a:r>
              <a:rPr lang="tr-TR" dirty="0" err="1">
                <a:latin typeface="Segoe UI" panose="020B0502040204020203" pitchFamily="34" charset="0"/>
              </a:rPr>
              <a:t>CH3</a:t>
            </a:r>
            <a:r>
              <a:rPr lang="tr-TR" dirty="0">
                <a:latin typeface="Segoe UI" panose="020B0502040204020203" pitchFamily="34" charset="0"/>
              </a:rPr>
              <a:t>) eklenmesiyle </a:t>
            </a:r>
            <a:r>
              <a:rPr lang="tr-TR" dirty="0" err="1">
                <a:latin typeface="Segoe UI" panose="020B0502040204020203" pitchFamily="34" charset="0"/>
              </a:rPr>
              <a:t>olusan</a:t>
            </a:r>
            <a:r>
              <a:rPr lang="tr-TR" dirty="0">
                <a:latin typeface="Segoe UI" panose="020B0502040204020203" pitchFamily="34" charset="0"/>
              </a:rPr>
              <a:t> kimyasal modifikasyondur (</a:t>
            </a:r>
            <a:r>
              <a:rPr lang="tr-TR" dirty="0" err="1">
                <a:latin typeface="Segoe UI" panose="020B0502040204020203" pitchFamily="34" charset="0"/>
              </a:rPr>
              <a:t>Bird</a:t>
            </a:r>
            <a:r>
              <a:rPr lang="tr-TR" dirty="0">
                <a:latin typeface="Segoe UI" panose="020B0502040204020203" pitchFamily="34" charset="0"/>
              </a:rPr>
              <a:t>, 2002). Bu modifikasyon,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dinukleotidlerinde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yogunlasir</a:t>
            </a:r>
            <a:r>
              <a:rPr lang="tr-TR" dirty="0">
                <a:latin typeface="Segoe UI" panose="020B0502040204020203" pitchFamily="34" charset="0"/>
              </a:rPr>
              <a:t> ve gen ekspresyonunun epigenetik </a:t>
            </a:r>
            <a:r>
              <a:rPr lang="tr-TR" dirty="0" err="1">
                <a:latin typeface="Segoe UI" panose="020B0502040204020203" pitchFamily="34" charset="0"/>
              </a:rPr>
              <a:t>regulasyonunda</a:t>
            </a:r>
            <a:r>
              <a:rPr lang="tr-TR" dirty="0">
                <a:latin typeface="Segoe UI" panose="020B0502040204020203" pitchFamily="34" charset="0"/>
              </a:rPr>
              <a:t> kritik rol oynar.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BIYOLOJIK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ONEMI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Gen </a:t>
            </a:r>
            <a:r>
              <a:rPr lang="tr-TR" dirty="0" err="1">
                <a:latin typeface="Segoe UI" panose="020B0502040204020203" pitchFamily="34" charset="0"/>
              </a:rPr>
              <a:t>susturulmesi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Promotor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bolgelerde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hipermetilasyon</a:t>
            </a:r>
            <a:r>
              <a:rPr lang="tr-TR" dirty="0">
                <a:latin typeface="Segoe UI" panose="020B0502040204020203" pitchFamily="34" charset="0"/>
              </a:rPr>
              <a:t> transkripsiyon </a:t>
            </a:r>
            <a:r>
              <a:rPr lang="tr-TR" dirty="0" err="1">
                <a:latin typeface="Segoe UI" panose="020B0502040204020203" pitchFamily="34" charset="0"/>
              </a:rPr>
              <a:t>baskilar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Genomik stabilite: Tekrar dizilerin metilasyonu </a:t>
            </a:r>
            <a:r>
              <a:rPr lang="tr-TR" dirty="0" err="1">
                <a:latin typeface="Segoe UI" panose="020B0502040204020203" pitchFamily="34" charset="0"/>
              </a:rPr>
              <a:t>transpozon</a:t>
            </a:r>
            <a:r>
              <a:rPr lang="tr-TR" dirty="0">
                <a:latin typeface="Segoe UI" panose="020B0502040204020203" pitchFamily="34" charset="0"/>
              </a:rPr>
              <a:t> aktivitesini engeller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X kromozom inaktivasyonu: </a:t>
            </a:r>
            <a:r>
              <a:rPr lang="tr-TR" dirty="0" err="1">
                <a:latin typeface="Segoe UI" panose="020B0502040204020203" pitchFamily="34" charset="0"/>
              </a:rPr>
              <a:t>Disilerde</a:t>
            </a:r>
            <a:r>
              <a:rPr lang="tr-TR" dirty="0">
                <a:latin typeface="Segoe UI" panose="020B0502040204020203" pitchFamily="34" charset="0"/>
              </a:rPr>
              <a:t> tek </a:t>
            </a:r>
            <a:r>
              <a:rPr lang="tr-TR" dirty="0" err="1">
                <a:latin typeface="Segoe UI" panose="020B0502040204020203" pitchFamily="34" charset="0"/>
              </a:rPr>
              <a:t>X'in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susturulmesi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Imprinting</a:t>
            </a:r>
            <a:r>
              <a:rPr lang="tr-TR" dirty="0">
                <a:latin typeface="Segoe UI" panose="020B0502040204020203" pitchFamily="34" charset="0"/>
              </a:rPr>
              <a:t>: Ebeveyn-spesifik gen ekspresyonu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Gelisimsel</a:t>
            </a:r>
            <a:r>
              <a:rPr lang="tr-TR" dirty="0">
                <a:latin typeface="Segoe UI" panose="020B0502040204020203" pitchFamily="34" charset="0"/>
              </a:rPr>
              <a:t> programlama: Doku-spesifik gen ekspresyon paternleri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ENZIMLER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DNMT3A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DNMT3B</a:t>
            </a:r>
            <a:r>
              <a:rPr lang="tr-TR" dirty="0">
                <a:latin typeface="Segoe UI" panose="020B0502040204020203" pitchFamily="34" charset="0"/>
              </a:rPr>
              <a:t>: De </a:t>
            </a:r>
            <a:r>
              <a:rPr lang="tr-TR" dirty="0" err="1">
                <a:latin typeface="Segoe UI" panose="020B0502040204020203" pitchFamily="34" charset="0"/>
              </a:rPr>
              <a:t>novo</a:t>
            </a:r>
            <a:r>
              <a:rPr lang="tr-TR" dirty="0">
                <a:latin typeface="Segoe UI" panose="020B0502040204020203" pitchFamily="34" charset="0"/>
              </a:rPr>
              <a:t> metilasyon (yeni metil </a:t>
            </a:r>
            <a:r>
              <a:rPr lang="tr-TR" dirty="0" err="1">
                <a:latin typeface="Segoe UI" panose="020B0502040204020203" pitchFamily="34" charset="0"/>
              </a:rPr>
              <a:t>gruplarinin</a:t>
            </a:r>
            <a:r>
              <a:rPr lang="tr-TR" dirty="0">
                <a:latin typeface="Segoe UI" panose="020B0502040204020203" pitchFamily="34" charset="0"/>
              </a:rPr>
              <a:t> eklenmesi)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DNMT1</a:t>
            </a:r>
            <a:r>
              <a:rPr lang="tr-TR" dirty="0">
                <a:latin typeface="Segoe UI" panose="020B0502040204020203" pitchFamily="34" charset="0"/>
              </a:rPr>
              <a:t>: Metilasyon bakimi (replikasyon </a:t>
            </a:r>
            <a:r>
              <a:rPr lang="tr-TR" dirty="0" err="1">
                <a:latin typeface="Segoe UI" panose="020B0502040204020203" pitchFamily="34" charset="0"/>
              </a:rPr>
              <a:t>sonrasi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hemimetile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DNA'nin</a:t>
            </a:r>
            <a:r>
              <a:rPr lang="tr-TR" dirty="0">
                <a:latin typeface="Segoe UI" panose="020B0502040204020203" pitchFamily="34" charset="0"/>
              </a:rPr>
              <a:t> metilasyonu)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TET1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TET2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TET3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5mC'nin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5hmC'ye</a:t>
            </a:r>
            <a:r>
              <a:rPr lang="tr-TR" dirty="0">
                <a:latin typeface="Segoe UI" panose="020B0502040204020203" pitchFamily="34" charset="0"/>
              </a:rPr>
              <a:t> oksidasyonu (aktif </a:t>
            </a:r>
            <a:r>
              <a:rPr lang="tr-TR" dirty="0" err="1">
                <a:latin typeface="Segoe UI" panose="020B0502040204020203" pitchFamily="34" charset="0"/>
              </a:rPr>
              <a:t>demetilasyon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yolagi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REFERANSLAR: </a:t>
            </a:r>
            <a:r>
              <a:rPr lang="tr-TR" dirty="0" err="1">
                <a:latin typeface="Segoe UI" panose="020B0502040204020203" pitchFamily="34" charset="0"/>
              </a:rPr>
              <a:t>Bird</a:t>
            </a:r>
            <a:r>
              <a:rPr lang="tr-TR" dirty="0">
                <a:latin typeface="Segoe UI" panose="020B0502040204020203" pitchFamily="34" charset="0"/>
              </a:rPr>
              <a:t>, 2002; </a:t>
            </a:r>
            <a:r>
              <a:rPr lang="tr-TR" dirty="0" err="1">
                <a:latin typeface="Segoe UI" panose="020B0502040204020203" pitchFamily="34" charset="0"/>
              </a:rPr>
              <a:t>Lister</a:t>
            </a:r>
            <a:r>
              <a:rPr lang="tr-TR" dirty="0">
                <a:latin typeface="Segoe UI" panose="020B0502040204020203" pitchFamily="34" charset="0"/>
              </a:rPr>
              <a:t> et al., 2009; </a:t>
            </a:r>
            <a:r>
              <a:rPr lang="tr-TR" dirty="0" err="1">
                <a:latin typeface="Segoe UI" panose="020B0502040204020203" pitchFamily="34" charset="0"/>
              </a:rPr>
              <a:t>Okano</a:t>
            </a:r>
            <a:r>
              <a:rPr lang="tr-TR" dirty="0">
                <a:latin typeface="Segoe UI" panose="020B0502040204020203" pitchFamily="34" charset="0"/>
              </a:rPr>
              <a:t> et al., 1999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92615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Adalari</a:t>
            </a:r>
            <a:r>
              <a:rPr lang="tr-TR" dirty="0">
                <a:latin typeface="Segoe UI" panose="020B0502040204020203" pitchFamily="34" charset="0"/>
              </a:rPr>
              <a:t> ve Genomik </a:t>
            </a:r>
            <a:r>
              <a:rPr lang="tr-TR" dirty="0" err="1">
                <a:latin typeface="Segoe UI" panose="020B0502040204020203" pitchFamily="34" charset="0"/>
              </a:rPr>
              <a:t>Dagilim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473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ADALARI: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Genomda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dinukleotidlerinin</a:t>
            </a:r>
            <a:r>
              <a:rPr lang="tr-TR" dirty="0">
                <a:latin typeface="Segoe UI" panose="020B0502040204020203" pitchFamily="34" charset="0"/>
              </a:rPr>
              <a:t> beklenenden daha </a:t>
            </a:r>
            <a:r>
              <a:rPr lang="tr-TR" dirty="0" err="1">
                <a:latin typeface="Segoe UI" panose="020B0502040204020203" pitchFamily="34" charset="0"/>
              </a:rPr>
              <a:t>yogun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bulundugu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bolgelerdir</a:t>
            </a:r>
            <a:r>
              <a:rPr lang="tr-TR" dirty="0">
                <a:latin typeface="Segoe UI" panose="020B0502040204020203" pitchFamily="34" charset="0"/>
              </a:rPr>
              <a:t> (&gt;200 </a:t>
            </a:r>
            <a:r>
              <a:rPr lang="tr-TR" dirty="0" err="1">
                <a:latin typeface="Segoe UI" panose="020B0502040204020203" pitchFamily="34" charset="0"/>
              </a:rPr>
              <a:t>bp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GC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icerigi</a:t>
            </a:r>
            <a:r>
              <a:rPr lang="tr-TR" dirty="0">
                <a:latin typeface="Segoe UI" panose="020B0502040204020203" pitchFamily="34" charset="0"/>
              </a:rPr>
              <a:t> &gt;%50, </a:t>
            </a:r>
            <a:r>
              <a:rPr lang="tr-TR" dirty="0" err="1">
                <a:latin typeface="Segoe UI" panose="020B0502040204020203" pitchFamily="34" charset="0"/>
              </a:rPr>
              <a:t>observed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expected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orani</a:t>
            </a:r>
            <a:r>
              <a:rPr lang="tr-TR" dirty="0">
                <a:latin typeface="Segoe UI" panose="020B0502040204020203" pitchFamily="34" charset="0"/>
              </a:rPr>
              <a:t> &gt;0.6). </a:t>
            </a:r>
            <a:r>
              <a:rPr lang="tr-TR" dirty="0" err="1">
                <a:latin typeface="Segoe UI" panose="020B0502040204020203" pitchFamily="34" charset="0"/>
              </a:rPr>
              <a:t>Yaklasik</a:t>
            </a:r>
            <a:r>
              <a:rPr lang="tr-TR" dirty="0">
                <a:latin typeface="Segoe UI" panose="020B0502040204020203" pitchFamily="34" charset="0"/>
              </a:rPr>
              <a:t> 28,000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adasi</a:t>
            </a:r>
            <a:r>
              <a:rPr lang="tr-TR" dirty="0">
                <a:latin typeface="Segoe UI" panose="020B0502040204020203" pitchFamily="34" charset="0"/>
              </a:rPr>
              <a:t> insan genomunda </a:t>
            </a:r>
            <a:r>
              <a:rPr lang="tr-TR" dirty="0" err="1">
                <a:latin typeface="Segoe UI" panose="020B0502040204020203" pitchFamily="34" charset="0"/>
              </a:rPr>
              <a:t>tanimlanmistir</a:t>
            </a:r>
            <a:r>
              <a:rPr lang="tr-TR" dirty="0">
                <a:latin typeface="Segoe UI" panose="020B0502040204020203" pitchFamily="34" charset="0"/>
              </a:rPr>
              <a:t>.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GENOMIK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DAGILIM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Promotor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adalari</a:t>
            </a:r>
            <a:r>
              <a:rPr lang="tr-TR" dirty="0">
                <a:latin typeface="Segoe UI" panose="020B0502040204020203" pitchFamily="34" charset="0"/>
              </a:rPr>
              <a:t>: Gen </a:t>
            </a:r>
            <a:r>
              <a:rPr lang="tr-TR" dirty="0" err="1">
                <a:latin typeface="Segoe UI" panose="020B0502040204020203" pitchFamily="34" charset="0"/>
              </a:rPr>
              <a:t>baslangic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bolgelerinde</a:t>
            </a:r>
            <a:r>
              <a:rPr lang="tr-TR" dirty="0">
                <a:latin typeface="Segoe UI" panose="020B0502040204020203" pitchFamily="34" charset="0"/>
              </a:rPr>
              <a:t>, genellikle </a:t>
            </a:r>
            <a:r>
              <a:rPr lang="tr-TR" dirty="0" err="1">
                <a:latin typeface="Segoe UI" panose="020B0502040204020203" pitchFamily="34" charset="0"/>
              </a:rPr>
              <a:t>metillenmemis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Gene body metilasyonu: Aktif transkribe genlerde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Intergenik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bolgeler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Degisken</a:t>
            </a:r>
            <a:r>
              <a:rPr lang="tr-TR" dirty="0">
                <a:latin typeface="Segoe UI" panose="020B0502040204020203" pitchFamily="34" charset="0"/>
              </a:rPr>
              <a:t> metilasyon, tekrar dizilerde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Shore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Shelf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bolgeleri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adasi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kenarlarinda</a:t>
            </a:r>
            <a:r>
              <a:rPr lang="tr-TR" dirty="0">
                <a:latin typeface="Segoe UI" panose="020B0502040204020203" pitchFamily="34" charset="0"/>
              </a:rPr>
              <a:t>, daha </a:t>
            </a:r>
            <a:r>
              <a:rPr lang="tr-TR" dirty="0" err="1">
                <a:latin typeface="Segoe UI" panose="020B0502040204020203" pitchFamily="34" charset="0"/>
              </a:rPr>
              <a:t>degisken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FONKSIYONEL</a:t>
            </a:r>
            <a:r>
              <a:rPr lang="tr-TR" dirty="0">
                <a:latin typeface="Segoe UI" panose="020B0502040204020203" pitchFamily="34" charset="0"/>
              </a:rPr>
              <a:t> SONUÇLAR: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Promotor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hipermetilasyonu</a:t>
            </a:r>
            <a:r>
              <a:rPr lang="tr-TR" dirty="0">
                <a:latin typeface="Segoe UI" panose="020B0502040204020203" pitchFamily="34" charset="0"/>
              </a:rPr>
              <a:t> → Gen </a:t>
            </a:r>
            <a:r>
              <a:rPr lang="tr-TR" dirty="0" err="1">
                <a:latin typeface="Segoe UI" panose="020B0502040204020203" pitchFamily="34" charset="0"/>
              </a:rPr>
              <a:t>susturulmesi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Gene body </a:t>
            </a:r>
            <a:r>
              <a:rPr lang="tr-TR" dirty="0" err="1">
                <a:latin typeface="Segoe UI" panose="020B0502040204020203" pitchFamily="34" charset="0"/>
              </a:rPr>
              <a:t>hipermetilasyonu</a:t>
            </a:r>
            <a:r>
              <a:rPr lang="tr-TR" dirty="0">
                <a:latin typeface="Segoe UI" panose="020B0502040204020203" pitchFamily="34" charset="0"/>
              </a:rPr>
              <a:t> → Artan transkripsiyon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Global </a:t>
            </a:r>
            <a:r>
              <a:rPr lang="tr-TR" dirty="0" err="1">
                <a:latin typeface="Segoe UI" panose="020B0502040204020203" pitchFamily="34" charset="0"/>
              </a:rPr>
              <a:t>hipometilasyon</a:t>
            </a:r>
            <a:r>
              <a:rPr lang="tr-TR" dirty="0">
                <a:latin typeface="Segoe UI" panose="020B0502040204020203" pitchFamily="34" charset="0"/>
              </a:rPr>
              <a:t> → Genomik instabilite, kanser riski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ILLUMINA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EPIC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ARRAY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- 850,000+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sitesi </a:t>
            </a:r>
            <a:r>
              <a:rPr lang="tr-TR" dirty="0" err="1">
                <a:latin typeface="Segoe UI" panose="020B0502040204020203" pitchFamily="34" charset="0"/>
              </a:rPr>
              <a:t>kapsami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Enhancer</a:t>
            </a:r>
            <a:r>
              <a:rPr lang="tr-TR" dirty="0">
                <a:latin typeface="Segoe UI" panose="020B0502040204020203" pitchFamily="34" charset="0"/>
              </a:rPr>
              <a:t> ve </a:t>
            </a:r>
            <a:r>
              <a:rPr lang="tr-TR" dirty="0" err="1">
                <a:latin typeface="Segoe UI" panose="020B0502040204020203" pitchFamily="34" charset="0"/>
              </a:rPr>
              <a:t>regulatuvar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bolgelerde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genisletilmis</a:t>
            </a:r>
            <a:r>
              <a:rPr lang="tr-TR" dirty="0">
                <a:latin typeface="Segoe UI" panose="020B0502040204020203" pitchFamily="34" charset="0"/>
              </a:rPr>
              <a:t> kapsam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Cross-</a:t>
            </a:r>
            <a:r>
              <a:rPr lang="tr-TR" dirty="0" err="1">
                <a:latin typeface="Segoe UI" panose="020B0502040204020203" pitchFamily="34" charset="0"/>
              </a:rPr>
              <a:t>reactive</a:t>
            </a:r>
            <a:r>
              <a:rPr lang="tr-TR" dirty="0">
                <a:latin typeface="Segoe UI" panose="020B0502040204020203" pitchFamily="34" charset="0"/>
              </a:rPr>
              <a:t> problar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kalite kontrol gereksinimi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5574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Epigenetik Yaşlanma: Biyolojik Saat </a:t>
            </a:r>
            <a:r>
              <a:rPr lang="tr-TR" dirty="0" err="1">
                <a:latin typeface="Segoe UI" panose="020B0502040204020203" pitchFamily="34" charset="0"/>
              </a:rPr>
              <a:t>Kavrami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23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TEORİK TEMEL: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Kronolojik yas </a:t>
            </a:r>
            <a:r>
              <a:rPr lang="tr-TR" dirty="0" err="1">
                <a:latin typeface="Segoe UI" panose="020B0502040204020203" pitchFamily="34" charset="0"/>
              </a:rPr>
              <a:t>ilerledikce</a:t>
            </a:r>
            <a:r>
              <a:rPr lang="tr-TR" dirty="0">
                <a:latin typeface="Segoe UI" panose="020B0502040204020203" pitchFamily="34" charset="0"/>
              </a:rPr>
              <a:t>, spesifik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sitelerinde sistematik metilasyon </a:t>
            </a:r>
            <a:r>
              <a:rPr lang="tr-TR" dirty="0" err="1">
                <a:latin typeface="Segoe UI" panose="020B0502040204020203" pitchFamily="34" charset="0"/>
              </a:rPr>
              <a:t>degisiklikleri</a:t>
            </a:r>
            <a:r>
              <a:rPr lang="tr-TR" dirty="0">
                <a:latin typeface="Segoe UI" panose="020B0502040204020203" pitchFamily="34" charset="0"/>
              </a:rPr>
              <a:t> meydana gelir. Bu 'epigenetik </a:t>
            </a:r>
            <a:r>
              <a:rPr lang="tr-TR" dirty="0" err="1">
                <a:latin typeface="Segoe UI" panose="020B0502040204020203" pitchFamily="34" charset="0"/>
              </a:rPr>
              <a:t>drift</a:t>
            </a:r>
            <a:r>
              <a:rPr lang="tr-TR" dirty="0">
                <a:latin typeface="Segoe UI" panose="020B0502040204020203" pitchFamily="34" charset="0"/>
              </a:rPr>
              <a:t>' hem stokastik hem de deterministik </a:t>
            </a:r>
            <a:r>
              <a:rPr lang="tr-TR" dirty="0" err="1">
                <a:latin typeface="Segoe UI" panose="020B0502040204020203" pitchFamily="34" charset="0"/>
              </a:rPr>
              <a:t>bilesenler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icerir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Teschendorff</a:t>
            </a:r>
            <a:r>
              <a:rPr lang="tr-TR" dirty="0">
                <a:latin typeface="Segoe UI" panose="020B0502040204020203" pitchFamily="34" charset="0"/>
              </a:rPr>
              <a:t> et al., 2010).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BIYOLOJIK</a:t>
            </a:r>
            <a:r>
              <a:rPr lang="tr-TR" dirty="0">
                <a:latin typeface="Segoe UI" panose="020B0502040204020203" pitchFamily="34" charset="0"/>
              </a:rPr>
              <a:t> YAŞLANMA </a:t>
            </a:r>
            <a:r>
              <a:rPr lang="tr-TR" dirty="0" err="1">
                <a:latin typeface="Segoe UI" panose="020B0502040204020203" pitchFamily="34" charset="0"/>
              </a:rPr>
              <a:t>VS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KRONOLOJIK</a:t>
            </a:r>
            <a:r>
              <a:rPr lang="tr-TR" dirty="0">
                <a:latin typeface="Segoe UI" panose="020B0502040204020203" pitchFamily="34" charset="0"/>
              </a:rPr>
              <a:t> YAS: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Kronolojik yas: </a:t>
            </a:r>
            <a:r>
              <a:rPr lang="tr-TR" dirty="0" err="1">
                <a:latin typeface="Segoe UI" panose="020B0502040204020203" pitchFamily="34" charset="0"/>
              </a:rPr>
              <a:t>Dogumdan</a:t>
            </a:r>
            <a:r>
              <a:rPr lang="tr-TR" dirty="0">
                <a:latin typeface="Segoe UI" panose="020B0502040204020203" pitchFamily="34" charset="0"/>
              </a:rPr>
              <a:t> itibaren gecen zaman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Biyolojik yas: Organizma durumunu </a:t>
            </a:r>
            <a:r>
              <a:rPr lang="tr-TR" dirty="0" err="1">
                <a:latin typeface="Segoe UI" panose="020B0502040204020203" pitchFamily="34" charset="0"/>
              </a:rPr>
              <a:t>yansitan</a:t>
            </a:r>
            <a:r>
              <a:rPr lang="tr-TR" dirty="0">
                <a:latin typeface="Segoe UI" panose="020B0502040204020203" pitchFamily="34" charset="0"/>
              </a:rPr>
              <a:t> fizyolojik yas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Epigenetik yas: DNA metilasyonundan tahmin edilen biyolojik yas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EPİGENETİK YAŞ </a:t>
            </a:r>
            <a:r>
              <a:rPr lang="tr-TR" dirty="0" err="1">
                <a:latin typeface="Segoe UI" panose="020B0502040204020203" pitchFamily="34" charset="0"/>
              </a:rPr>
              <a:t>İVMELENMESI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):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= Epigenetik Yaş - Kronolojik Yas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Pozitif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: Biyolojik olarak 'daha </a:t>
            </a:r>
            <a:r>
              <a:rPr lang="tr-TR" dirty="0" err="1">
                <a:latin typeface="Segoe UI" panose="020B0502040204020203" pitchFamily="34" charset="0"/>
              </a:rPr>
              <a:t>yasli</a:t>
            </a:r>
            <a:r>
              <a:rPr lang="tr-TR" dirty="0">
                <a:latin typeface="Segoe UI" panose="020B0502040204020203" pitchFamily="34" charset="0"/>
              </a:rPr>
              <a:t>' → Artan mortalite ve morbidite riski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Negatif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: Biyolojik olarak 'daha </a:t>
            </a:r>
            <a:r>
              <a:rPr lang="tr-TR" dirty="0" err="1">
                <a:latin typeface="Segoe UI" panose="020B0502040204020203" pitchFamily="34" charset="0"/>
              </a:rPr>
              <a:t>genc</a:t>
            </a:r>
            <a:r>
              <a:rPr lang="tr-TR" dirty="0">
                <a:latin typeface="Segoe UI" panose="020B0502040204020203" pitchFamily="34" charset="0"/>
              </a:rPr>
              <a:t>' → Daha iyi </a:t>
            </a:r>
            <a:r>
              <a:rPr lang="tr-TR" dirty="0" err="1">
                <a:latin typeface="Segoe UI" panose="020B0502040204020203" pitchFamily="34" charset="0"/>
              </a:rPr>
              <a:t>saglik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sonuclari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KLİNİK KORELASYONLAR: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all-cause</a:t>
            </a:r>
            <a:r>
              <a:rPr lang="tr-TR" dirty="0">
                <a:latin typeface="Segoe UI" panose="020B0502040204020203" pitchFamily="34" charset="0"/>
              </a:rPr>
              <a:t> mortalite ile </a:t>
            </a:r>
            <a:r>
              <a:rPr lang="tr-TR" dirty="0" err="1">
                <a:latin typeface="Segoe UI" panose="020B0502040204020203" pitchFamily="34" charset="0"/>
              </a:rPr>
              <a:t>iliskili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HR</a:t>
            </a:r>
            <a:r>
              <a:rPr lang="tr-TR" dirty="0">
                <a:latin typeface="Segoe UI" panose="020B0502040204020203" pitchFamily="34" charset="0"/>
              </a:rPr>
              <a:t>=1.09 </a:t>
            </a:r>
            <a:r>
              <a:rPr lang="tr-TR" dirty="0" err="1">
                <a:latin typeface="Segoe UI" panose="020B0502040204020203" pitchFamily="34" charset="0"/>
              </a:rPr>
              <a:t>per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Marioni</a:t>
            </a:r>
            <a:r>
              <a:rPr lang="tr-TR" dirty="0">
                <a:latin typeface="Segoe UI" panose="020B0502040204020203" pitchFamily="34" charset="0"/>
              </a:rPr>
              <a:t> et al., 2015)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Kardiyovaskuler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hastalik</a:t>
            </a:r>
            <a:r>
              <a:rPr lang="tr-TR" dirty="0">
                <a:latin typeface="Segoe UI" panose="020B0502040204020203" pitchFamily="34" charset="0"/>
              </a:rPr>
              <a:t>, kanser, Alzheimer riski ile korelasyon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Yaşam </a:t>
            </a:r>
            <a:r>
              <a:rPr lang="tr-TR" dirty="0" err="1">
                <a:latin typeface="Segoe UI" panose="020B0502040204020203" pitchFamily="34" charset="0"/>
              </a:rPr>
              <a:t>tarzi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faktorleri</a:t>
            </a:r>
            <a:r>
              <a:rPr lang="tr-TR" dirty="0">
                <a:latin typeface="Segoe UI" panose="020B0502040204020203" pitchFamily="34" charset="0"/>
              </a:rPr>
              <a:t> (obezite, sigara, stres) </a:t>
            </a:r>
            <a:r>
              <a:rPr lang="tr-TR" dirty="0" err="1">
                <a:latin typeface="Segoe UI" panose="020B0502040204020203" pitchFamily="34" charset="0"/>
              </a:rPr>
              <a:t>EAA'yi</a:t>
            </a:r>
            <a:r>
              <a:rPr lang="tr-TR" dirty="0">
                <a:latin typeface="Segoe UI" panose="020B0502040204020203" pitchFamily="34" charset="0"/>
              </a:rPr>
              <a:t> etkiler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27376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5 </a:t>
            </a:r>
            <a:r>
              <a:rPr lang="tr-TR" dirty="0" err="1">
                <a:latin typeface="Segoe UI" panose="020B0502040204020203" pitchFamily="34" charset="0"/>
              </a:rPr>
              <a:t>Major</a:t>
            </a:r>
            <a:r>
              <a:rPr lang="tr-TR" dirty="0">
                <a:latin typeface="Segoe UI" panose="020B0502040204020203" pitchFamily="34" charset="0"/>
              </a:rPr>
              <a:t> Epigenetik Saat: </a:t>
            </a:r>
            <a:r>
              <a:rPr lang="tr-TR" dirty="0" err="1">
                <a:latin typeface="Segoe UI" panose="020B0502040204020203" pitchFamily="34" charset="0"/>
              </a:rPr>
              <a:t>Karşılaştırmali</a:t>
            </a:r>
            <a:r>
              <a:rPr lang="tr-TR" dirty="0">
                <a:latin typeface="Segoe UI" panose="020B0502040204020203" pitchFamily="34" charset="0"/>
              </a:rPr>
              <a:t> Analiz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Saat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CpG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Doku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Ölçüm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MAE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Horvath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2013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353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Pan-tissue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(51 doku)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Kronolojik yas tahmini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3.6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Hannum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2013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71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Kan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Kronolojik yas tahmini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4.9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PhenoAge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2018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513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Kan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Fenotipik yas/mortalite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4.3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GrimAge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2019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1030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Kan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Mortalite/yasam suresi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4.0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DunedinPACE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2022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173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Kan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Yaşlanma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hizi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N/A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pace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35295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Horvath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Pan-Tissue</a:t>
            </a:r>
            <a:r>
              <a:rPr lang="tr-TR" dirty="0">
                <a:latin typeface="Segoe UI" panose="020B0502040204020203" pitchFamily="34" charset="0"/>
              </a:rPr>
              <a:t> Epigenetik Saat (2013)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GELISTIRME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Steve </a:t>
            </a:r>
            <a:r>
              <a:rPr lang="tr-TR" dirty="0" err="1">
                <a:latin typeface="Segoe UI" panose="020B0502040204020203" pitchFamily="34" charset="0"/>
              </a:rPr>
              <a:t>Horvath</a:t>
            </a:r>
            <a:r>
              <a:rPr lang="tr-TR" dirty="0">
                <a:latin typeface="Segoe UI" panose="020B0502040204020203" pitchFamily="34" charset="0"/>
              </a:rPr>
              <a:t>, 51 </a:t>
            </a:r>
            <a:r>
              <a:rPr lang="tr-TR" dirty="0" err="1">
                <a:latin typeface="Segoe UI" panose="020B0502040204020203" pitchFamily="34" charset="0"/>
              </a:rPr>
              <a:t>farkli</a:t>
            </a:r>
            <a:r>
              <a:rPr lang="tr-TR" dirty="0">
                <a:latin typeface="Segoe UI" panose="020B0502040204020203" pitchFamily="34" charset="0"/>
              </a:rPr>
              <a:t> doku/</a:t>
            </a:r>
            <a:r>
              <a:rPr lang="tr-TR" dirty="0" err="1">
                <a:latin typeface="Segoe UI" panose="020B0502040204020203" pitchFamily="34" charset="0"/>
              </a:rPr>
              <a:t>hucre</a:t>
            </a:r>
            <a:r>
              <a:rPr lang="tr-TR" dirty="0">
                <a:latin typeface="Segoe UI" panose="020B0502040204020203" pitchFamily="34" charset="0"/>
              </a:rPr>
              <a:t> tipi ve </a:t>
            </a:r>
            <a:r>
              <a:rPr lang="tr-TR" dirty="0" err="1">
                <a:latin typeface="Segoe UI" panose="020B0502040204020203" pitchFamily="34" charset="0"/>
              </a:rPr>
              <a:t>8,000'den</a:t>
            </a:r>
            <a:r>
              <a:rPr lang="tr-TR" dirty="0">
                <a:latin typeface="Segoe UI" panose="020B0502040204020203" pitchFamily="34" charset="0"/>
              </a:rPr>
              <a:t> fazla </a:t>
            </a:r>
            <a:r>
              <a:rPr lang="tr-TR" dirty="0" err="1">
                <a:latin typeface="Segoe UI" panose="020B0502040204020203" pitchFamily="34" charset="0"/>
              </a:rPr>
              <a:t>ornekte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ElasticNet</a:t>
            </a:r>
            <a:r>
              <a:rPr lang="tr-TR" dirty="0">
                <a:latin typeface="Segoe UI" panose="020B0502040204020203" pitchFamily="34" charset="0"/>
              </a:rPr>
              <a:t> regresyon kullanarak 353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sitesini </a:t>
            </a:r>
            <a:r>
              <a:rPr lang="tr-TR" dirty="0" err="1">
                <a:latin typeface="Segoe UI" panose="020B0502040204020203" pitchFamily="34" charset="0"/>
              </a:rPr>
              <a:t>secmistir</a:t>
            </a:r>
            <a:r>
              <a:rPr lang="tr-TR" dirty="0">
                <a:latin typeface="Segoe UI" panose="020B0502040204020203" pitchFamily="34" charset="0"/>
              </a:rPr>
              <a:t>. Bu saat, doku-</a:t>
            </a:r>
            <a:r>
              <a:rPr lang="tr-TR" dirty="0" err="1">
                <a:latin typeface="Segoe UI" panose="020B0502040204020203" pitchFamily="34" charset="0"/>
              </a:rPr>
              <a:t>bagimsiz</a:t>
            </a:r>
            <a:r>
              <a:rPr lang="tr-TR" dirty="0">
                <a:latin typeface="Segoe UI" panose="020B0502040204020203" pitchFamily="34" charset="0"/>
              </a:rPr>
              <a:t> kronolojik yas tahmini yapabilmektedir.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MATEMATIKSEL</a:t>
            </a:r>
            <a:r>
              <a:rPr lang="tr-TR" dirty="0">
                <a:latin typeface="Segoe UI" panose="020B0502040204020203" pitchFamily="34" charset="0"/>
              </a:rPr>
              <a:t> MODEL: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DNAm</a:t>
            </a:r>
            <a:r>
              <a:rPr lang="tr-TR" dirty="0">
                <a:latin typeface="Segoe UI" panose="020B0502040204020203" pitchFamily="34" charset="0"/>
              </a:rPr>
              <a:t> Age = </a:t>
            </a:r>
            <a:r>
              <a:rPr lang="tr-TR" dirty="0" err="1">
                <a:latin typeface="Segoe UI" panose="020B0502040204020203" pitchFamily="34" charset="0"/>
              </a:rPr>
              <a:t>anti.F</a:t>
            </a:r>
            <a:r>
              <a:rPr lang="tr-TR" dirty="0">
                <a:latin typeface="Segoe UI" panose="020B0502040204020203" pitchFamily="34" charset="0"/>
              </a:rPr>
              <a:t>(</a:t>
            </a:r>
            <a:r>
              <a:rPr lang="tr-TR" dirty="0" err="1">
                <a:latin typeface="Segoe UI" panose="020B0502040204020203" pitchFamily="34" charset="0"/>
              </a:rPr>
              <a:t>sum</a:t>
            </a:r>
            <a:r>
              <a:rPr lang="tr-TR" dirty="0">
                <a:latin typeface="Segoe UI" panose="020B0502040204020203" pitchFamily="34" charset="0"/>
              </a:rPr>
              <a:t>(</a:t>
            </a:r>
            <a:r>
              <a:rPr lang="tr-TR" dirty="0" err="1">
                <a:latin typeface="Segoe UI" panose="020B0502040204020203" pitchFamily="34" charset="0"/>
              </a:rPr>
              <a:t>w_i</a:t>
            </a:r>
            <a:r>
              <a:rPr lang="tr-TR" dirty="0">
                <a:latin typeface="Segoe UI" panose="020B0502040204020203" pitchFamily="34" charset="0"/>
              </a:rPr>
              <a:t> * </a:t>
            </a:r>
            <a:r>
              <a:rPr lang="tr-TR" dirty="0" err="1">
                <a:latin typeface="Segoe UI" panose="020B0502040204020203" pitchFamily="34" charset="0"/>
              </a:rPr>
              <a:t>beta_i</a:t>
            </a:r>
            <a:r>
              <a:rPr lang="tr-TR" dirty="0">
                <a:latin typeface="Segoe UI" panose="020B0502040204020203" pitchFamily="34" charset="0"/>
              </a:rPr>
              <a:t>) + </a:t>
            </a:r>
            <a:r>
              <a:rPr lang="tr-TR" dirty="0" err="1">
                <a:latin typeface="Segoe UI" panose="020B0502040204020203" pitchFamily="34" charset="0"/>
              </a:rPr>
              <a:t>intercept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F: Transformasyon fonksiyonu (</a:t>
            </a:r>
            <a:r>
              <a:rPr lang="tr-TR" dirty="0" err="1">
                <a:latin typeface="Segoe UI" panose="020B0502040204020203" pitchFamily="34" charset="0"/>
              </a:rPr>
              <a:t>cocuk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vs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eriskin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farkliligi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w_i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-spesifik </a:t>
            </a:r>
            <a:r>
              <a:rPr lang="tr-TR" dirty="0" err="1">
                <a:latin typeface="Segoe UI" panose="020B0502040204020203" pitchFamily="34" charset="0"/>
              </a:rPr>
              <a:t>agirliklar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beta_i</a:t>
            </a:r>
            <a:r>
              <a:rPr lang="tr-TR" dirty="0">
                <a:latin typeface="Segoe UI" panose="020B0502040204020203" pitchFamily="34" charset="0"/>
              </a:rPr>
              <a:t>: Metilasyon beta </a:t>
            </a:r>
            <a:r>
              <a:rPr lang="tr-TR" dirty="0" err="1">
                <a:latin typeface="Segoe UI" panose="020B0502040204020203" pitchFamily="34" charset="0"/>
              </a:rPr>
              <a:t>degerleri</a:t>
            </a:r>
            <a:r>
              <a:rPr lang="tr-TR" dirty="0">
                <a:latin typeface="Segoe UI" panose="020B0502040204020203" pitchFamily="34" charset="0"/>
              </a:rPr>
              <a:t> (0-1 </a:t>
            </a:r>
            <a:r>
              <a:rPr lang="tr-TR" dirty="0" err="1">
                <a:latin typeface="Segoe UI" panose="020B0502040204020203" pitchFamily="34" charset="0"/>
              </a:rPr>
              <a:t>arasi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PERFORMANS </a:t>
            </a:r>
            <a:r>
              <a:rPr lang="tr-TR" dirty="0" err="1">
                <a:latin typeface="Segoe UI" panose="020B0502040204020203" pitchFamily="34" charset="0"/>
              </a:rPr>
              <a:t>METRIKLERI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Median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Absolute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Error</a:t>
            </a:r>
            <a:r>
              <a:rPr lang="tr-TR" dirty="0">
                <a:latin typeface="Segoe UI" panose="020B0502040204020203" pitchFamily="34" charset="0"/>
              </a:rPr>
              <a:t>: 3.6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Korelasyon: r = 0.96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- 51 </a:t>
            </a:r>
            <a:r>
              <a:rPr lang="tr-TR" dirty="0" err="1">
                <a:latin typeface="Segoe UI" panose="020B0502040204020203" pitchFamily="34" charset="0"/>
              </a:rPr>
              <a:t>farkli</a:t>
            </a:r>
            <a:r>
              <a:rPr lang="tr-TR" dirty="0">
                <a:latin typeface="Segoe UI" panose="020B0502040204020203" pitchFamily="34" charset="0"/>
              </a:rPr>
              <a:t> doku/</a:t>
            </a:r>
            <a:r>
              <a:rPr lang="tr-TR" dirty="0" err="1">
                <a:latin typeface="Segoe UI" panose="020B0502040204020203" pitchFamily="34" charset="0"/>
              </a:rPr>
              <a:t>hucre</a:t>
            </a:r>
            <a:r>
              <a:rPr lang="tr-TR" dirty="0">
                <a:latin typeface="Segoe UI" panose="020B0502040204020203" pitchFamily="34" charset="0"/>
              </a:rPr>
              <a:t> tipinde </a:t>
            </a:r>
            <a:r>
              <a:rPr lang="tr-TR" dirty="0" err="1">
                <a:latin typeface="Segoe UI" panose="020B0502040204020203" pitchFamily="34" charset="0"/>
              </a:rPr>
              <a:t>gecerli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AVANTAJLAR VE </a:t>
            </a:r>
            <a:r>
              <a:rPr lang="tr-TR" dirty="0" err="1">
                <a:latin typeface="Segoe UI" panose="020B0502040204020203" pitchFamily="34" charset="0"/>
              </a:rPr>
              <a:t>LIMITASYONLAR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+ Doku-</a:t>
            </a:r>
            <a:r>
              <a:rPr lang="tr-TR" dirty="0" err="1">
                <a:latin typeface="Segoe UI" panose="020B0502040204020203" pitchFamily="34" charset="0"/>
              </a:rPr>
              <a:t>bagimsiz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genis</a:t>
            </a:r>
            <a:r>
              <a:rPr lang="tr-TR" dirty="0">
                <a:latin typeface="Segoe UI" panose="020B0502040204020203" pitchFamily="34" charset="0"/>
              </a:rPr>
              <a:t> uygulama </a:t>
            </a:r>
            <a:r>
              <a:rPr lang="tr-TR" dirty="0" err="1">
                <a:latin typeface="Segoe UI" panose="020B0502040204020203" pitchFamily="34" charset="0"/>
              </a:rPr>
              <a:t>alani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+ </a:t>
            </a:r>
            <a:r>
              <a:rPr lang="tr-TR" dirty="0" err="1">
                <a:latin typeface="Segoe UI" panose="020B0502040204020203" pitchFamily="34" charset="0"/>
              </a:rPr>
              <a:t>Iyi</a:t>
            </a:r>
            <a:r>
              <a:rPr lang="tr-TR" dirty="0">
                <a:latin typeface="Segoe UI" panose="020B0502040204020203" pitchFamily="34" charset="0"/>
              </a:rPr>
              <a:t> karakterize </a:t>
            </a:r>
            <a:r>
              <a:rPr lang="tr-TR" dirty="0" err="1">
                <a:latin typeface="Segoe UI" panose="020B0502040204020203" pitchFamily="34" charset="0"/>
              </a:rPr>
              <a:t>edilmis</a:t>
            </a:r>
            <a:r>
              <a:rPr lang="tr-TR" dirty="0">
                <a:latin typeface="Segoe UI" panose="020B0502040204020203" pitchFamily="34" charset="0"/>
              </a:rPr>
              <a:t>, binlerce </a:t>
            </a:r>
            <a:r>
              <a:rPr lang="tr-TR" dirty="0" err="1">
                <a:latin typeface="Segoe UI" panose="020B0502040204020203" pitchFamily="34" charset="0"/>
              </a:rPr>
              <a:t>calismada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kullanilmis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Mortalite tahmini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optimize </a:t>
            </a:r>
            <a:r>
              <a:rPr lang="tr-TR" dirty="0" err="1">
                <a:latin typeface="Segoe UI" panose="020B0502040204020203" pitchFamily="34" charset="0"/>
              </a:rPr>
              <a:t>edilmemis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Kan-spesifik saatlerden daha az hassas (kan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31224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Ikinci</a:t>
            </a:r>
            <a:r>
              <a:rPr lang="tr-TR" dirty="0">
                <a:latin typeface="Segoe UI" panose="020B0502040204020203" pitchFamily="34" charset="0"/>
              </a:rPr>
              <a:t> Nesil Saatler: </a:t>
            </a:r>
            <a:r>
              <a:rPr lang="tr-TR" dirty="0" err="1">
                <a:latin typeface="Segoe UI" panose="020B0502040204020203" pitchFamily="34" charset="0"/>
              </a:rPr>
              <a:t>PhenoAge</a:t>
            </a:r>
            <a:r>
              <a:rPr lang="tr-TR" dirty="0">
                <a:latin typeface="Segoe UI" panose="020B0502040204020203" pitchFamily="34" charset="0"/>
              </a:rPr>
              <a:t> ve </a:t>
            </a:r>
            <a:r>
              <a:rPr lang="tr-TR" dirty="0" err="1">
                <a:latin typeface="Segoe UI" panose="020B0502040204020203" pitchFamily="34" charset="0"/>
              </a:rPr>
              <a:t>GrimAge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473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PHENOAGE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Levine</a:t>
            </a:r>
            <a:r>
              <a:rPr lang="tr-TR" dirty="0">
                <a:latin typeface="Segoe UI" panose="020B0502040204020203" pitchFamily="34" charset="0"/>
              </a:rPr>
              <a:t> et al., 2018):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- 513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sitesi, </a:t>
            </a:r>
            <a:r>
              <a:rPr lang="tr-TR" dirty="0" err="1">
                <a:latin typeface="Segoe UI" panose="020B0502040204020203" pitchFamily="34" charset="0"/>
              </a:rPr>
              <a:t>Gompertz</a:t>
            </a:r>
            <a:r>
              <a:rPr lang="tr-TR" dirty="0">
                <a:latin typeface="Segoe UI" panose="020B0502040204020203" pitchFamily="34" charset="0"/>
              </a:rPr>
              <a:t> mortalite modeli ile </a:t>
            </a:r>
            <a:r>
              <a:rPr lang="tr-TR" dirty="0" err="1">
                <a:latin typeface="Segoe UI" panose="020B0502040204020203" pitchFamily="34" charset="0"/>
              </a:rPr>
              <a:t>egitilmis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- 9 klinik </a:t>
            </a:r>
            <a:r>
              <a:rPr lang="tr-TR" dirty="0" err="1">
                <a:latin typeface="Segoe UI" panose="020B0502040204020203" pitchFamily="34" charset="0"/>
              </a:rPr>
              <a:t>biyomarker</a:t>
            </a:r>
            <a:r>
              <a:rPr lang="tr-TR" dirty="0">
                <a:latin typeface="Segoe UI" panose="020B0502040204020203" pitchFamily="34" charset="0"/>
              </a:rPr>
              <a:t> ile korelasyon: </a:t>
            </a:r>
            <a:r>
              <a:rPr lang="tr-TR" dirty="0" err="1">
                <a:latin typeface="Segoe UI" panose="020B0502040204020203" pitchFamily="34" charset="0"/>
              </a:rPr>
              <a:t>albumin</a:t>
            </a:r>
            <a:r>
              <a:rPr lang="tr-TR" dirty="0">
                <a:latin typeface="Segoe UI" panose="020B0502040204020203" pitchFamily="34" charset="0"/>
              </a:rPr>
              <a:t>, kreatinin, glukoz, </a:t>
            </a:r>
            <a:r>
              <a:rPr lang="tr-TR" dirty="0" err="1">
                <a:latin typeface="Segoe UI" panose="020B0502040204020203" pitchFamily="34" charset="0"/>
              </a:rPr>
              <a:t>CRP</a:t>
            </a:r>
            <a:r>
              <a:rPr lang="tr-TR" dirty="0">
                <a:latin typeface="Segoe UI" panose="020B0502040204020203" pitchFamily="34" charset="0"/>
              </a:rPr>
              <a:t>, lenfosit </a:t>
            </a:r>
            <a:r>
              <a:rPr lang="tr-TR" dirty="0" err="1">
                <a:latin typeface="Segoe UI" panose="020B0502040204020203" pitchFamily="34" charset="0"/>
              </a:rPr>
              <a:t>yuzdesi</a:t>
            </a:r>
            <a:r>
              <a:rPr lang="tr-TR" dirty="0">
                <a:latin typeface="Segoe UI" panose="020B0502040204020203" pitchFamily="34" charset="0"/>
              </a:rPr>
              <a:t>, ortalama </a:t>
            </a:r>
            <a:r>
              <a:rPr lang="tr-TR" dirty="0" err="1">
                <a:latin typeface="Segoe UI" panose="020B0502040204020203" pitchFamily="34" charset="0"/>
              </a:rPr>
              <a:t>hucre</a:t>
            </a:r>
            <a:r>
              <a:rPr lang="tr-TR" dirty="0">
                <a:latin typeface="Segoe UI" panose="020B0502040204020203" pitchFamily="34" charset="0"/>
              </a:rPr>
              <a:t> hacmi, </a:t>
            </a:r>
            <a:r>
              <a:rPr lang="tr-TR" dirty="0" err="1">
                <a:latin typeface="Segoe UI" panose="020B0502040204020203" pitchFamily="34" charset="0"/>
              </a:rPr>
              <a:t>RDW</a:t>
            </a:r>
            <a:r>
              <a:rPr lang="tr-TR" dirty="0">
                <a:latin typeface="Segoe UI" panose="020B0502040204020203" pitchFamily="34" charset="0"/>
              </a:rPr>
              <a:t>, ALP, beyaz </a:t>
            </a:r>
            <a:r>
              <a:rPr lang="tr-TR" dirty="0" err="1">
                <a:latin typeface="Segoe UI" panose="020B0502040204020203" pitchFamily="34" charset="0"/>
              </a:rPr>
              <a:t>kure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Kronolojik yastan </a:t>
            </a:r>
            <a:r>
              <a:rPr lang="tr-TR" dirty="0" err="1">
                <a:latin typeface="Segoe UI" panose="020B0502040204020203" pitchFamily="34" charset="0"/>
              </a:rPr>
              <a:t>bagimsiz</a:t>
            </a:r>
            <a:r>
              <a:rPr lang="tr-TR" dirty="0">
                <a:latin typeface="Segoe UI" panose="020B0502040204020203" pitchFamily="34" charset="0"/>
              </a:rPr>
              <a:t> mortalite tahmini yapar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'Fenotipik yas': Klinik durumu </a:t>
            </a:r>
            <a:r>
              <a:rPr lang="tr-TR" dirty="0" err="1">
                <a:latin typeface="Segoe UI" panose="020B0502040204020203" pitchFamily="34" charset="0"/>
              </a:rPr>
              <a:t>yansitir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GRIMAGE</a:t>
            </a:r>
            <a:r>
              <a:rPr lang="tr-TR" dirty="0">
                <a:latin typeface="Segoe UI" panose="020B0502040204020203" pitchFamily="34" charset="0"/>
              </a:rPr>
              <a:t> (Lu et al., 2019):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- 1030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sitesi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DNAm-bazli</a:t>
            </a:r>
            <a:r>
              <a:rPr lang="tr-TR" dirty="0">
                <a:latin typeface="Segoe UI" panose="020B0502040204020203" pitchFamily="34" charset="0"/>
              </a:rPr>
              <a:t> plazma protein </a:t>
            </a:r>
            <a:r>
              <a:rPr lang="tr-TR" dirty="0" err="1">
                <a:latin typeface="Segoe UI" panose="020B0502040204020203" pitchFamily="34" charset="0"/>
              </a:rPr>
              <a:t>surrogatlari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* </a:t>
            </a:r>
            <a:r>
              <a:rPr lang="tr-TR" dirty="0" err="1">
                <a:latin typeface="Segoe UI" panose="020B0502040204020203" pitchFamily="34" charset="0"/>
              </a:rPr>
              <a:t>DNAm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GDF</a:t>
            </a:r>
            <a:r>
              <a:rPr lang="tr-TR" dirty="0">
                <a:latin typeface="Segoe UI" panose="020B0502040204020203" pitchFamily="34" charset="0"/>
              </a:rPr>
              <a:t>-15 (</a:t>
            </a:r>
            <a:r>
              <a:rPr lang="tr-TR" dirty="0" err="1">
                <a:latin typeface="Segoe UI" panose="020B0502040204020203" pitchFamily="34" charset="0"/>
              </a:rPr>
              <a:t>growth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differentiation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factor</a:t>
            </a:r>
            <a:r>
              <a:rPr lang="tr-TR" dirty="0">
                <a:latin typeface="Segoe UI" panose="020B0502040204020203" pitchFamily="34" charset="0"/>
              </a:rPr>
              <a:t> 15)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* </a:t>
            </a:r>
            <a:r>
              <a:rPr lang="tr-TR" dirty="0" err="1">
                <a:latin typeface="Segoe UI" panose="020B0502040204020203" pitchFamily="34" charset="0"/>
              </a:rPr>
              <a:t>DNAm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PAI</a:t>
            </a:r>
            <a:r>
              <a:rPr lang="tr-TR" dirty="0">
                <a:latin typeface="Segoe UI" panose="020B0502040204020203" pitchFamily="34" charset="0"/>
              </a:rPr>
              <a:t>-1 (</a:t>
            </a:r>
            <a:r>
              <a:rPr lang="tr-TR" dirty="0" err="1">
                <a:latin typeface="Segoe UI" panose="020B0502040204020203" pitchFamily="34" charset="0"/>
              </a:rPr>
              <a:t>plasminogen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activator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inhibitor</a:t>
            </a:r>
            <a:r>
              <a:rPr lang="tr-TR" dirty="0">
                <a:latin typeface="Segoe UI" panose="020B0502040204020203" pitchFamily="34" charset="0"/>
              </a:rPr>
              <a:t> 1)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* </a:t>
            </a:r>
            <a:r>
              <a:rPr lang="tr-TR" dirty="0" err="1">
                <a:latin typeface="Segoe UI" panose="020B0502040204020203" pitchFamily="34" charset="0"/>
              </a:rPr>
              <a:t>DNAm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ADM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adrenomedullin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* </a:t>
            </a:r>
            <a:r>
              <a:rPr lang="tr-TR" dirty="0" err="1">
                <a:latin typeface="Segoe UI" panose="020B0502040204020203" pitchFamily="34" charset="0"/>
              </a:rPr>
              <a:t>DNAm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B2M</a:t>
            </a:r>
            <a:r>
              <a:rPr lang="tr-TR" dirty="0">
                <a:latin typeface="Segoe UI" panose="020B0502040204020203" pitchFamily="34" charset="0"/>
              </a:rPr>
              <a:t> (beta-2 </a:t>
            </a:r>
            <a:r>
              <a:rPr lang="tr-TR" dirty="0" err="1">
                <a:latin typeface="Segoe UI" panose="020B0502040204020203" pitchFamily="34" charset="0"/>
              </a:rPr>
              <a:t>microglobulin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* </a:t>
            </a:r>
            <a:r>
              <a:rPr lang="tr-TR" dirty="0" err="1">
                <a:latin typeface="Segoe UI" panose="020B0502040204020203" pitchFamily="34" charset="0"/>
              </a:rPr>
              <a:t>DNAm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TIMP</a:t>
            </a:r>
            <a:r>
              <a:rPr lang="tr-TR" dirty="0">
                <a:latin typeface="Segoe UI" panose="020B0502040204020203" pitchFamily="34" charset="0"/>
              </a:rPr>
              <a:t>-1, </a:t>
            </a:r>
            <a:r>
              <a:rPr lang="tr-TR" dirty="0" err="1">
                <a:latin typeface="Segoe UI" panose="020B0502040204020203" pitchFamily="34" charset="0"/>
              </a:rPr>
              <a:t>Cystatin</a:t>
            </a:r>
            <a:r>
              <a:rPr lang="tr-TR" dirty="0">
                <a:latin typeface="Segoe UI" panose="020B0502040204020203" pitchFamily="34" charset="0"/>
              </a:rPr>
              <a:t> C, </a:t>
            </a:r>
            <a:r>
              <a:rPr lang="tr-TR" dirty="0" err="1">
                <a:latin typeface="Segoe UI" panose="020B0502040204020203" pitchFamily="34" charset="0"/>
              </a:rPr>
              <a:t>Leptin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Sigara paket-</a:t>
            </a:r>
            <a:r>
              <a:rPr lang="tr-TR" dirty="0" err="1">
                <a:latin typeface="Segoe UI" panose="020B0502040204020203" pitchFamily="34" charset="0"/>
              </a:rPr>
              <a:t>yili</a:t>
            </a:r>
            <a:r>
              <a:rPr lang="tr-TR" dirty="0">
                <a:latin typeface="Segoe UI" panose="020B0502040204020203" pitchFamily="34" charset="0"/>
              </a:rPr>
              <a:t> dahil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'En iyi mortalite tahmincisi' olarak kabul edilir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REFERANS: </a:t>
            </a:r>
            <a:r>
              <a:rPr lang="tr-TR" dirty="0" err="1">
                <a:latin typeface="Segoe UI" panose="020B0502040204020203" pitchFamily="34" charset="0"/>
              </a:rPr>
              <a:t>Levine</a:t>
            </a:r>
            <a:r>
              <a:rPr lang="tr-TR" dirty="0">
                <a:latin typeface="Segoe UI" panose="020B0502040204020203" pitchFamily="34" charset="0"/>
              </a:rPr>
              <a:t> et al., 2018 (</a:t>
            </a:r>
            <a:r>
              <a:rPr lang="tr-TR" dirty="0" err="1">
                <a:latin typeface="Segoe UI" panose="020B0502040204020203" pitchFamily="34" charset="0"/>
              </a:rPr>
              <a:t>Aging</a:t>
            </a:r>
            <a:r>
              <a:rPr lang="tr-TR" dirty="0">
                <a:latin typeface="Segoe UI" panose="020B0502040204020203" pitchFamily="34" charset="0"/>
              </a:rPr>
              <a:t>); Lu et al., 2019 (</a:t>
            </a:r>
            <a:r>
              <a:rPr lang="tr-TR" dirty="0" err="1">
                <a:latin typeface="Segoe UI" panose="020B0502040204020203" pitchFamily="34" charset="0"/>
              </a:rPr>
              <a:t>Aging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53973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DunedinPACE</a:t>
            </a:r>
            <a:r>
              <a:rPr lang="tr-TR" dirty="0">
                <a:latin typeface="Segoe UI" panose="020B0502040204020203" pitchFamily="34" charset="0"/>
              </a:rPr>
              <a:t>: Yaşlanma Hızı </a:t>
            </a:r>
            <a:r>
              <a:rPr lang="tr-TR" dirty="0" err="1">
                <a:latin typeface="Segoe UI" panose="020B0502040204020203" pitchFamily="34" charset="0"/>
              </a:rPr>
              <a:t>Ölçümu</a:t>
            </a:r>
            <a:r>
              <a:rPr lang="tr-TR" dirty="0">
                <a:latin typeface="Segoe UI" panose="020B0502040204020203" pitchFamily="34" charset="0"/>
              </a:rPr>
              <a:t> (2022)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94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FARKLI YAKLAŞIM: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DunedinPACE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diger</a:t>
            </a:r>
            <a:r>
              <a:rPr lang="tr-TR" dirty="0">
                <a:latin typeface="Segoe UI" panose="020B0502040204020203" pitchFamily="34" charset="0"/>
              </a:rPr>
              <a:t> saatlerden </a:t>
            </a:r>
            <a:r>
              <a:rPr lang="tr-TR" dirty="0" err="1">
                <a:latin typeface="Segoe UI" panose="020B0502040204020203" pitchFamily="34" charset="0"/>
              </a:rPr>
              <a:t>farkli</a:t>
            </a:r>
            <a:r>
              <a:rPr lang="tr-TR" dirty="0">
                <a:latin typeface="Segoe UI" panose="020B0502040204020203" pitchFamily="34" charset="0"/>
              </a:rPr>
              <a:t> olarak 'yaslanma </a:t>
            </a:r>
            <a:r>
              <a:rPr lang="tr-TR" dirty="0" err="1">
                <a:latin typeface="Segoe UI" panose="020B0502040204020203" pitchFamily="34" charset="0"/>
              </a:rPr>
              <a:t>hizi</a:t>
            </a:r>
            <a:r>
              <a:rPr lang="tr-TR" dirty="0">
                <a:latin typeface="Segoe UI" panose="020B0502040204020203" pitchFamily="34" charset="0"/>
              </a:rPr>
              <a:t>' (</a:t>
            </a:r>
            <a:r>
              <a:rPr lang="tr-TR" dirty="0" err="1">
                <a:latin typeface="Segoe UI" panose="020B0502040204020203" pitchFamily="34" charset="0"/>
              </a:rPr>
              <a:t>pace</a:t>
            </a:r>
            <a:r>
              <a:rPr lang="tr-TR" dirty="0">
                <a:latin typeface="Segoe UI" panose="020B0502040204020203" pitchFamily="34" charset="0"/>
              </a:rPr>
              <a:t> of </a:t>
            </a:r>
            <a:r>
              <a:rPr lang="tr-TR" dirty="0" err="1">
                <a:latin typeface="Segoe UI" panose="020B0502040204020203" pitchFamily="34" charset="0"/>
              </a:rPr>
              <a:t>aging</a:t>
            </a:r>
            <a:r>
              <a:rPr lang="tr-TR" dirty="0">
                <a:latin typeface="Segoe UI" panose="020B0502040204020203" pitchFamily="34" charset="0"/>
              </a:rPr>
              <a:t>) </a:t>
            </a:r>
            <a:r>
              <a:rPr lang="tr-TR" dirty="0" err="1">
                <a:latin typeface="Segoe UI" panose="020B0502040204020203" pitchFamily="34" charset="0"/>
              </a:rPr>
              <a:t>olcer</a:t>
            </a:r>
            <a:r>
              <a:rPr lang="tr-TR" dirty="0">
                <a:latin typeface="Segoe UI" panose="020B0502040204020203" pitchFamily="34" charset="0"/>
              </a:rPr>
              <a:t>. 'Ne kadar </a:t>
            </a:r>
            <a:r>
              <a:rPr lang="tr-TR" dirty="0" err="1">
                <a:latin typeface="Segoe UI" panose="020B0502040204020203" pitchFamily="34" charset="0"/>
              </a:rPr>
              <a:t>yaslisin</a:t>
            </a:r>
            <a:r>
              <a:rPr lang="tr-TR" dirty="0">
                <a:latin typeface="Segoe UI" panose="020B0502040204020203" pitchFamily="34" charset="0"/>
              </a:rPr>
              <a:t>' yerine 'ne kadar </a:t>
            </a:r>
            <a:r>
              <a:rPr lang="tr-TR" dirty="0" err="1">
                <a:latin typeface="Segoe UI" panose="020B0502040204020203" pitchFamily="34" charset="0"/>
              </a:rPr>
              <a:t>hizli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yaslaniyorsun</a:t>
            </a:r>
            <a:r>
              <a:rPr lang="tr-TR" dirty="0">
                <a:latin typeface="Segoe UI" panose="020B0502040204020203" pitchFamily="34" charset="0"/>
              </a:rPr>
              <a:t>' sorusunu </a:t>
            </a:r>
            <a:r>
              <a:rPr lang="tr-TR" dirty="0" err="1">
                <a:latin typeface="Segoe UI" panose="020B0502040204020203" pitchFamily="34" charset="0"/>
              </a:rPr>
              <a:t>yanitlar</a:t>
            </a:r>
            <a:r>
              <a:rPr lang="tr-TR" dirty="0">
                <a:latin typeface="Segoe UI" panose="020B0502040204020203" pitchFamily="34" charset="0"/>
              </a:rPr>
              <a:t>.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GELISTIRME</a:t>
            </a:r>
            <a:r>
              <a:rPr lang="tr-TR" dirty="0">
                <a:latin typeface="Segoe UI" panose="020B0502040204020203" pitchFamily="34" charset="0"/>
              </a:rPr>
              <a:t> KOHORTU: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Dunedin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Multidisciplinary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Health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and</a:t>
            </a:r>
            <a:r>
              <a:rPr lang="tr-TR" dirty="0">
                <a:latin typeface="Segoe UI" panose="020B0502040204020203" pitchFamily="34" charset="0"/>
              </a:rPr>
              <a:t> Development </a:t>
            </a:r>
            <a:r>
              <a:rPr lang="tr-TR" dirty="0" err="1">
                <a:latin typeface="Segoe UI" panose="020B0502040204020203" pitchFamily="34" charset="0"/>
              </a:rPr>
              <a:t>Study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- 1972-</a:t>
            </a:r>
            <a:r>
              <a:rPr lang="tr-TR" dirty="0" err="1">
                <a:latin typeface="Segoe UI" panose="020B0502040204020203" pitchFamily="34" charset="0"/>
              </a:rPr>
              <a:t>1973'te</a:t>
            </a:r>
            <a:r>
              <a:rPr lang="tr-TR" dirty="0">
                <a:latin typeface="Segoe UI" panose="020B0502040204020203" pitchFamily="34" charset="0"/>
              </a:rPr>
              <a:t> Yeni Zelanda'da </a:t>
            </a:r>
            <a:r>
              <a:rPr lang="tr-TR" dirty="0" err="1">
                <a:latin typeface="Segoe UI" panose="020B0502040204020203" pitchFamily="34" charset="0"/>
              </a:rPr>
              <a:t>dogan</a:t>
            </a:r>
            <a:r>
              <a:rPr lang="tr-TR" dirty="0">
                <a:latin typeface="Segoe UI" panose="020B0502040204020203" pitchFamily="34" charset="0"/>
              </a:rPr>
              <a:t> 1,037 birey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- 45 </a:t>
            </a:r>
            <a:r>
              <a:rPr lang="tr-TR" dirty="0" err="1">
                <a:latin typeface="Segoe UI" panose="020B0502040204020203" pitchFamily="34" charset="0"/>
              </a:rPr>
              <a:t>yillik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longitudinal</a:t>
            </a:r>
            <a:r>
              <a:rPr lang="tr-TR" dirty="0">
                <a:latin typeface="Segoe UI" panose="020B0502040204020203" pitchFamily="34" charset="0"/>
              </a:rPr>
              <a:t> takip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- 19 organ sistemi </a:t>
            </a:r>
            <a:r>
              <a:rPr lang="tr-TR" dirty="0" err="1">
                <a:latin typeface="Segoe UI" panose="020B0502040204020203" pitchFamily="34" charset="0"/>
              </a:rPr>
              <a:t>biyomarkeri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kardiyovaskuler</a:t>
            </a:r>
            <a:r>
              <a:rPr lang="tr-TR" dirty="0">
                <a:latin typeface="Segoe UI" panose="020B0502040204020203" pitchFamily="34" charset="0"/>
              </a:rPr>
              <a:t>, metabolik, renal, hepatik, </a:t>
            </a:r>
            <a:r>
              <a:rPr lang="tr-TR" dirty="0" err="1">
                <a:latin typeface="Segoe UI" panose="020B0502040204020203" pitchFamily="34" charset="0"/>
              </a:rPr>
              <a:t>immun</a:t>
            </a:r>
            <a:r>
              <a:rPr lang="tr-TR" dirty="0">
                <a:latin typeface="Segoe UI" panose="020B0502040204020203" pitchFamily="34" charset="0"/>
              </a:rPr>
              <a:t>, periodontal)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METRIK</a:t>
            </a:r>
            <a:r>
              <a:rPr lang="tr-TR" dirty="0">
                <a:latin typeface="Segoe UI" panose="020B0502040204020203" pitchFamily="34" charset="0"/>
              </a:rPr>
              <a:t> YORUMU: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DunedinPACE</a:t>
            </a:r>
            <a:r>
              <a:rPr lang="tr-TR" dirty="0">
                <a:latin typeface="Segoe UI" panose="020B0502040204020203" pitchFamily="34" charset="0"/>
              </a:rPr>
              <a:t> = 1.0: Normal yaslanma </a:t>
            </a:r>
            <a:r>
              <a:rPr lang="tr-TR" dirty="0" err="1">
                <a:latin typeface="Segoe UI" panose="020B0502040204020203" pitchFamily="34" charset="0"/>
              </a:rPr>
              <a:t>hizi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DunedinPACE</a:t>
            </a:r>
            <a:r>
              <a:rPr lang="tr-TR" dirty="0">
                <a:latin typeface="Segoe UI" panose="020B0502040204020203" pitchFamily="34" charset="0"/>
              </a:rPr>
              <a:t> &gt; 1.0: </a:t>
            </a:r>
            <a:r>
              <a:rPr lang="tr-TR" dirty="0" err="1">
                <a:latin typeface="Segoe UI" panose="020B0502040204020203" pitchFamily="34" charset="0"/>
              </a:rPr>
              <a:t>Hizlanmis</a:t>
            </a:r>
            <a:r>
              <a:rPr lang="tr-TR" dirty="0">
                <a:latin typeface="Segoe UI" panose="020B0502040204020203" pitchFamily="34" charset="0"/>
              </a:rPr>
              <a:t> yaslanma (</a:t>
            </a:r>
            <a:r>
              <a:rPr lang="tr-TR" dirty="0" err="1">
                <a:latin typeface="Segoe UI" panose="020B0502040204020203" pitchFamily="34" charset="0"/>
              </a:rPr>
              <a:t>ornegin</a:t>
            </a:r>
            <a:r>
              <a:rPr lang="tr-TR" dirty="0">
                <a:latin typeface="Segoe UI" panose="020B0502040204020203" pitchFamily="34" charset="0"/>
              </a:rPr>
              <a:t> 1.2 = %20 daha </a:t>
            </a:r>
            <a:r>
              <a:rPr lang="tr-TR" dirty="0" err="1">
                <a:latin typeface="Segoe UI" panose="020B0502040204020203" pitchFamily="34" charset="0"/>
              </a:rPr>
              <a:t>hizli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DunedinPACE</a:t>
            </a:r>
            <a:r>
              <a:rPr lang="tr-TR" dirty="0">
                <a:latin typeface="Segoe UI" panose="020B0502040204020203" pitchFamily="34" charset="0"/>
              </a:rPr>
              <a:t> &lt; 1.0: </a:t>
            </a:r>
            <a:r>
              <a:rPr lang="tr-TR" dirty="0" err="1">
                <a:latin typeface="Segoe UI" panose="020B0502040204020203" pitchFamily="34" charset="0"/>
              </a:rPr>
              <a:t>Yavaslamis</a:t>
            </a:r>
            <a:r>
              <a:rPr lang="tr-TR" dirty="0">
                <a:latin typeface="Segoe UI" panose="020B0502040204020203" pitchFamily="34" charset="0"/>
              </a:rPr>
              <a:t> yaslanma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AVANTAJLAR: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Mudahale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calisnmalarinda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degisime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duyarli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Genc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eriskinde</a:t>
            </a:r>
            <a:r>
              <a:rPr lang="tr-TR" dirty="0">
                <a:latin typeface="Segoe UI" panose="020B0502040204020203" pitchFamily="34" charset="0"/>
              </a:rPr>
              <a:t> bile yorumlanabilir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Yaşam </a:t>
            </a:r>
            <a:r>
              <a:rPr lang="tr-TR" dirty="0" err="1">
                <a:latin typeface="Segoe UI" panose="020B0502040204020203" pitchFamily="34" charset="0"/>
              </a:rPr>
              <a:t>tarzi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faktorlerine</a:t>
            </a:r>
            <a:r>
              <a:rPr lang="tr-TR" dirty="0">
                <a:latin typeface="Segoe UI" panose="020B0502040204020203" pitchFamily="34" charset="0"/>
              </a:rPr>
              <a:t> hassas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REFERANS: </a:t>
            </a:r>
            <a:r>
              <a:rPr lang="tr-TR" dirty="0" err="1">
                <a:latin typeface="Segoe UI" panose="020B0502040204020203" pitchFamily="34" charset="0"/>
              </a:rPr>
              <a:t>Belsky</a:t>
            </a:r>
            <a:r>
              <a:rPr lang="tr-TR" dirty="0">
                <a:latin typeface="Segoe UI" panose="020B0502040204020203" pitchFamily="34" charset="0"/>
              </a:rPr>
              <a:t> et al., 2022 (</a:t>
            </a:r>
            <a:r>
              <a:rPr lang="tr-TR" dirty="0" err="1">
                <a:latin typeface="Segoe UI" panose="020B0502040204020203" pitchFamily="34" charset="0"/>
              </a:rPr>
              <a:t>eLife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7427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Madde </a:t>
            </a:r>
            <a:r>
              <a:rPr lang="tr-TR" dirty="0" err="1">
                <a:latin typeface="Segoe UI" panose="020B0502040204020203" pitchFamily="34" charset="0"/>
              </a:rPr>
              <a:t>Bagimliligi</a:t>
            </a:r>
            <a:r>
              <a:rPr lang="tr-TR" dirty="0">
                <a:latin typeface="Segoe UI" panose="020B0502040204020203" pitchFamily="34" charset="0"/>
              </a:rPr>
              <a:t> ve Epigenetik Değişiklikler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3898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GLOBAL </a:t>
            </a:r>
            <a:r>
              <a:rPr lang="tr-TR" dirty="0" err="1">
                <a:latin typeface="Segoe UI" panose="020B0502040204020203" pitchFamily="34" charset="0"/>
              </a:rPr>
              <a:t>YUKUMLULUK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Dunya</a:t>
            </a:r>
            <a:r>
              <a:rPr lang="tr-TR" dirty="0">
                <a:latin typeface="Segoe UI" panose="020B0502040204020203" pitchFamily="34" charset="0"/>
              </a:rPr>
              <a:t> genelinde 296 milyon </a:t>
            </a:r>
            <a:r>
              <a:rPr lang="tr-TR" dirty="0" err="1">
                <a:latin typeface="Segoe UI" panose="020B0502040204020203" pitchFamily="34" charset="0"/>
              </a:rPr>
              <a:t>kisi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illicit</a:t>
            </a:r>
            <a:r>
              <a:rPr lang="tr-TR" dirty="0">
                <a:latin typeface="Segoe UI" panose="020B0502040204020203" pitchFamily="34" charset="0"/>
              </a:rPr>
              <a:t> madde </a:t>
            </a:r>
            <a:r>
              <a:rPr lang="tr-TR" dirty="0" err="1">
                <a:latin typeface="Segoe UI" panose="020B0502040204020203" pitchFamily="34" charset="0"/>
              </a:rPr>
              <a:t>kullanimaktadir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UNODC</a:t>
            </a:r>
            <a:r>
              <a:rPr lang="tr-TR" dirty="0">
                <a:latin typeface="Segoe UI" panose="020B0502040204020203" pitchFamily="34" charset="0"/>
              </a:rPr>
              <a:t>, 2021). Alkol </a:t>
            </a:r>
            <a:r>
              <a:rPr lang="tr-TR" dirty="0" err="1">
                <a:latin typeface="Segoe UI" panose="020B0502040204020203" pitchFamily="34" charset="0"/>
              </a:rPr>
              <a:t>kullanimina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bagli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yillik</a:t>
            </a:r>
            <a:r>
              <a:rPr lang="tr-TR" dirty="0">
                <a:latin typeface="Segoe UI" panose="020B0502040204020203" pitchFamily="34" charset="0"/>
              </a:rPr>
              <a:t> olum: 3 milyon (WHO, 2018). Madde </a:t>
            </a:r>
            <a:r>
              <a:rPr lang="tr-TR" dirty="0" err="1">
                <a:latin typeface="Segoe UI" panose="020B0502040204020203" pitchFamily="34" charset="0"/>
              </a:rPr>
              <a:t>kullanim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bozukluklari</a:t>
            </a:r>
            <a:r>
              <a:rPr lang="tr-TR" dirty="0">
                <a:latin typeface="Segoe UI" panose="020B0502040204020203" pitchFamily="34" charset="0"/>
              </a:rPr>
              <a:t>, ciddi </a:t>
            </a:r>
            <a:r>
              <a:rPr lang="tr-TR" dirty="0" err="1">
                <a:latin typeface="Segoe UI" panose="020B0502040204020203" pitchFamily="34" charset="0"/>
              </a:rPr>
              <a:t>saglik</a:t>
            </a:r>
            <a:r>
              <a:rPr lang="tr-TR" dirty="0">
                <a:latin typeface="Segoe UI" panose="020B0502040204020203" pitchFamily="34" charset="0"/>
              </a:rPr>
              <a:t>, sosyal ve ekonomik </a:t>
            </a:r>
            <a:r>
              <a:rPr lang="tr-TR" dirty="0" err="1">
                <a:latin typeface="Segoe UI" panose="020B0502040204020203" pitchFamily="34" charset="0"/>
              </a:rPr>
              <a:t>yukluluk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olusturmaktadir</a:t>
            </a:r>
            <a:r>
              <a:rPr lang="tr-TR" dirty="0">
                <a:latin typeface="Segoe UI" panose="020B0502040204020203" pitchFamily="34" charset="0"/>
              </a:rPr>
              <a:t>.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NOROBIYOLOJIK</a:t>
            </a:r>
            <a:r>
              <a:rPr lang="tr-TR" dirty="0">
                <a:latin typeface="Segoe UI" panose="020B0502040204020203" pitchFamily="34" charset="0"/>
              </a:rPr>
              <a:t> TEMEL: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Bağımlılık, beyin </a:t>
            </a:r>
            <a:r>
              <a:rPr lang="tr-TR" dirty="0" err="1">
                <a:latin typeface="Segoe UI" panose="020B0502040204020203" pitchFamily="34" charset="0"/>
              </a:rPr>
              <a:t>odul</a:t>
            </a:r>
            <a:r>
              <a:rPr lang="tr-TR" dirty="0">
                <a:latin typeface="Segoe UI" panose="020B0502040204020203" pitchFamily="34" charset="0"/>
              </a:rPr>
              <a:t> sisteminin kronik modifikasyonu ile karakterize bir beyin </a:t>
            </a:r>
            <a:r>
              <a:rPr lang="tr-TR" dirty="0" err="1">
                <a:latin typeface="Segoe UI" panose="020B0502040204020203" pitchFamily="34" charset="0"/>
              </a:rPr>
              <a:t>hastaligidir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Volkow</a:t>
            </a:r>
            <a:r>
              <a:rPr lang="tr-TR" dirty="0">
                <a:latin typeface="Segoe UI" panose="020B0502040204020203" pitchFamily="34" charset="0"/>
              </a:rPr>
              <a:t> et al., 2016). Mezolimbik dopamin sistemi, </a:t>
            </a:r>
            <a:r>
              <a:rPr lang="tr-TR" dirty="0" err="1">
                <a:latin typeface="Segoe UI" panose="020B0502040204020203" pitchFamily="34" charset="0"/>
              </a:rPr>
              <a:t>prefrontal</a:t>
            </a:r>
            <a:r>
              <a:rPr lang="tr-TR" dirty="0">
                <a:latin typeface="Segoe UI" panose="020B0502040204020203" pitchFamily="34" charset="0"/>
              </a:rPr>
              <a:t> korteks ve </a:t>
            </a:r>
            <a:r>
              <a:rPr lang="tr-TR" dirty="0" err="1">
                <a:latin typeface="Segoe UI" panose="020B0502040204020203" pitchFamily="34" charset="0"/>
              </a:rPr>
              <a:t>amigdala</a:t>
            </a:r>
            <a:r>
              <a:rPr lang="tr-TR" dirty="0">
                <a:latin typeface="Segoe UI" panose="020B0502040204020203" pitchFamily="34" charset="0"/>
              </a:rPr>
              <a:t> kritik </a:t>
            </a:r>
            <a:r>
              <a:rPr lang="tr-TR" dirty="0" err="1">
                <a:latin typeface="Segoe UI" panose="020B0502040204020203" pitchFamily="34" charset="0"/>
              </a:rPr>
              <a:t>bolgelerdir</a:t>
            </a:r>
            <a:r>
              <a:rPr lang="tr-TR" dirty="0">
                <a:latin typeface="Segoe UI" panose="020B0502040204020203" pitchFamily="34" charset="0"/>
              </a:rPr>
              <a:t>.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EPİGENETİK </a:t>
            </a:r>
            <a:r>
              <a:rPr lang="tr-TR" dirty="0" err="1">
                <a:latin typeface="Segoe UI" panose="020B0502040204020203" pitchFamily="34" charset="0"/>
              </a:rPr>
              <a:t>MEKANIZMALAR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Odul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yolagi</a:t>
            </a:r>
            <a:r>
              <a:rPr lang="tr-TR" dirty="0">
                <a:latin typeface="Segoe UI" panose="020B0502040204020203" pitchFamily="34" charset="0"/>
              </a:rPr>
              <a:t> genleri: </a:t>
            </a:r>
            <a:r>
              <a:rPr lang="tr-TR" dirty="0" err="1">
                <a:latin typeface="Segoe UI" panose="020B0502040204020203" pitchFamily="34" charset="0"/>
              </a:rPr>
              <a:t>OPRM1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DRD2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DAT1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COMT</a:t>
            </a:r>
            <a:r>
              <a:rPr lang="tr-TR" dirty="0">
                <a:latin typeface="Segoe UI" panose="020B0502040204020203" pitchFamily="34" charset="0"/>
              </a:rPr>
              <a:t> metilasyon </a:t>
            </a:r>
            <a:r>
              <a:rPr lang="tr-TR" dirty="0" err="1">
                <a:latin typeface="Segoe UI" panose="020B0502040204020203" pitchFamily="34" charset="0"/>
              </a:rPr>
              <a:t>degisiklikleri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Stres </a:t>
            </a:r>
            <a:r>
              <a:rPr lang="tr-TR" dirty="0" err="1">
                <a:latin typeface="Segoe UI" panose="020B0502040204020203" pitchFamily="34" charset="0"/>
              </a:rPr>
              <a:t>yanit</a:t>
            </a:r>
            <a:r>
              <a:rPr lang="tr-TR" dirty="0">
                <a:latin typeface="Segoe UI" panose="020B0502040204020203" pitchFamily="34" charset="0"/>
              </a:rPr>
              <a:t> genleri: </a:t>
            </a:r>
            <a:r>
              <a:rPr lang="tr-TR" dirty="0" err="1">
                <a:latin typeface="Segoe UI" panose="020B0502040204020203" pitchFamily="34" charset="0"/>
              </a:rPr>
              <a:t>NR3C1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FKBP5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modifikasyonlari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Norotransmitter</a:t>
            </a:r>
            <a:r>
              <a:rPr lang="tr-TR" dirty="0">
                <a:latin typeface="Segoe UI" panose="020B0502040204020203" pitchFamily="34" charset="0"/>
              </a:rPr>
              <a:t> sentez genleri: </a:t>
            </a:r>
            <a:r>
              <a:rPr lang="tr-TR" dirty="0" err="1">
                <a:latin typeface="Segoe UI" panose="020B0502040204020203" pitchFamily="34" charset="0"/>
              </a:rPr>
              <a:t>TH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TPH2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degisiklikleri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Sinaptik plastisite genleri: </a:t>
            </a:r>
            <a:r>
              <a:rPr lang="tr-TR" dirty="0" err="1">
                <a:latin typeface="Segoe UI" panose="020B0502040204020203" pitchFamily="34" charset="0"/>
              </a:rPr>
              <a:t>BDNF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ARC</a:t>
            </a:r>
            <a:r>
              <a:rPr lang="tr-TR" dirty="0">
                <a:latin typeface="Segoe UI" panose="020B0502040204020203" pitchFamily="34" charset="0"/>
              </a:rPr>
              <a:t> metilasyonu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HIPOTEZ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Madde </a:t>
            </a:r>
            <a:r>
              <a:rPr lang="tr-TR" dirty="0" err="1">
                <a:latin typeface="Segoe UI" panose="020B0502040204020203" pitchFamily="34" charset="0"/>
              </a:rPr>
              <a:t>kullanimi</a:t>
            </a:r>
            <a:r>
              <a:rPr lang="tr-TR" dirty="0">
                <a:latin typeface="Segoe UI" panose="020B0502040204020203" pitchFamily="34" charset="0"/>
              </a:rPr>
              <a:t>, DNA metilasyon paternlerini </a:t>
            </a:r>
            <a:r>
              <a:rPr lang="tr-TR" dirty="0" err="1">
                <a:latin typeface="Segoe UI" panose="020B0502040204020203" pitchFamily="34" charset="0"/>
              </a:rPr>
              <a:t>degistirerek</a:t>
            </a:r>
            <a:r>
              <a:rPr lang="tr-TR" dirty="0">
                <a:latin typeface="Segoe UI" panose="020B0502040204020203" pitchFamily="34" charset="0"/>
              </a:rPr>
              <a:t> epigenetik </a:t>
            </a:r>
            <a:r>
              <a:rPr lang="tr-TR" dirty="0" err="1">
                <a:latin typeface="Segoe UI" panose="020B0502040204020203" pitchFamily="34" charset="0"/>
              </a:rPr>
              <a:t>yaslanmayi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hizlandirir</a:t>
            </a:r>
            <a:r>
              <a:rPr lang="tr-TR" dirty="0">
                <a:latin typeface="Segoe UI" panose="020B0502040204020203" pitchFamily="34" charset="0"/>
              </a:rPr>
              <a:t> ve bu 'biyolojik yas ivmelenmesi' klinik </a:t>
            </a:r>
            <a:r>
              <a:rPr lang="tr-TR" dirty="0" err="1">
                <a:latin typeface="Segoe UI" panose="020B0502040204020203" pitchFamily="34" charset="0"/>
              </a:rPr>
              <a:t>sonuclarla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iliskilidir</a:t>
            </a:r>
            <a:r>
              <a:rPr lang="tr-TR" dirty="0">
                <a:latin typeface="Segoe UI" panose="020B0502040204020203" pitchFamily="34" charset="0"/>
              </a:rPr>
              <a:t>.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26492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Onceki</a:t>
            </a:r>
            <a:r>
              <a:rPr lang="tr-TR" dirty="0">
                <a:latin typeface="Segoe UI" panose="020B0502040204020203" pitchFamily="34" charset="0"/>
              </a:rPr>
              <a:t> Araştırmalar: Madde ve Epigenetik Yaş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Çalışma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Madde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EAA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Saat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Rosen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et al., 2018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331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Alkol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+2.3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Horvath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Liu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et al., 2018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1,234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Alkol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+3.1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GrimAge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Cheng et al., 2023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287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Kokain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+2.9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GrimAge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Monick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et al., 2012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198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Opioid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+3.2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GrimAge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Liang et al., 2020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89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Metamfetamin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+4.2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Horvath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Schrott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et al., 2020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156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Kannabis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+0.5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Horvath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1649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Araştırma </a:t>
            </a:r>
            <a:r>
              <a:rPr lang="tr-TR" dirty="0" err="1">
                <a:latin typeface="Segoe UI" panose="020B0502040204020203" pitchFamily="34" charset="0"/>
              </a:rPr>
              <a:t>Boslugu</a:t>
            </a:r>
            <a:r>
              <a:rPr lang="tr-TR" dirty="0">
                <a:latin typeface="Segoe UI" panose="020B0502040204020203" pitchFamily="34" charset="0"/>
              </a:rPr>
              <a:t> ve </a:t>
            </a:r>
            <a:r>
              <a:rPr lang="tr-TR" dirty="0" err="1">
                <a:latin typeface="Segoe UI" panose="020B0502040204020203" pitchFamily="34" charset="0"/>
              </a:rPr>
              <a:t>Çalışmanin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Amaci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9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MEVCUT </a:t>
            </a:r>
            <a:r>
              <a:rPr lang="tr-TR" dirty="0" err="1">
                <a:latin typeface="Segoe UI" panose="020B0502040204020203" pitchFamily="34" charset="0"/>
              </a:rPr>
              <a:t>LITERATURUN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LIMITASYONLARI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Kucuk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ornek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boyutlari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cogu</a:t>
            </a:r>
            <a:r>
              <a:rPr lang="tr-TR" dirty="0">
                <a:latin typeface="Segoe UI" panose="020B0502040204020203" pitchFamily="34" charset="0"/>
              </a:rPr>
              <a:t> n&lt;500)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Tek madde kategorisi </a:t>
            </a:r>
            <a:r>
              <a:rPr lang="tr-TR" dirty="0" err="1">
                <a:latin typeface="Segoe UI" panose="020B0502040204020203" pitchFamily="34" charset="0"/>
              </a:rPr>
              <a:t>odakli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calismalar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Sinirli epigenetik saat </a:t>
            </a:r>
            <a:r>
              <a:rPr lang="tr-TR" dirty="0" err="1">
                <a:latin typeface="Segoe UI" panose="020B0502040204020203" pitchFamily="34" charset="0"/>
              </a:rPr>
              <a:t>karsilastirmasi</a:t>
            </a:r>
            <a:r>
              <a:rPr lang="tr-TR" dirty="0">
                <a:latin typeface="Segoe UI" panose="020B0502040204020203" pitchFamily="34" charset="0"/>
              </a:rPr>
              <a:t> (genellikle 1-2 saat)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Mekanistik yolaklar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yetersiz analiz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Postmortem validasyon </a:t>
            </a:r>
            <a:r>
              <a:rPr lang="tr-TR" dirty="0" err="1">
                <a:latin typeface="Segoe UI" panose="020B0502040204020203" pitchFamily="34" charset="0"/>
              </a:rPr>
              <a:t>eksikligi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ÇALIŞMANIN </a:t>
            </a:r>
            <a:r>
              <a:rPr lang="tr-TR" dirty="0" err="1">
                <a:latin typeface="Segoe UI" panose="020B0502040204020203" pitchFamily="34" charset="0"/>
              </a:rPr>
              <a:t>AMACLARI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1. </a:t>
            </a:r>
            <a:r>
              <a:rPr lang="tr-TR" dirty="0" err="1">
                <a:latin typeface="Segoe UI" panose="020B0502040204020203" pitchFamily="34" charset="0"/>
              </a:rPr>
              <a:t>Kapsamli</a:t>
            </a:r>
            <a:r>
              <a:rPr lang="tr-TR" dirty="0">
                <a:latin typeface="Segoe UI" panose="020B0502040204020203" pitchFamily="34" charset="0"/>
              </a:rPr>
              <a:t> kohort: 10,542 DNA metilasyon profili entegrasyonu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2. </a:t>
            </a:r>
            <a:r>
              <a:rPr lang="tr-TR" dirty="0" err="1">
                <a:latin typeface="Segoe UI" panose="020B0502040204020203" pitchFamily="34" charset="0"/>
              </a:rPr>
              <a:t>Coklu</a:t>
            </a:r>
            <a:r>
              <a:rPr lang="tr-TR" dirty="0">
                <a:latin typeface="Segoe UI" panose="020B0502040204020203" pitchFamily="34" charset="0"/>
              </a:rPr>
              <a:t> madde kategorisi: Alkol, kokain, </a:t>
            </a:r>
            <a:r>
              <a:rPr lang="tr-TR" dirty="0" err="1">
                <a:latin typeface="Segoe UI" panose="020B0502040204020203" pitchFamily="34" charset="0"/>
              </a:rPr>
              <a:t>opioid</a:t>
            </a:r>
            <a:r>
              <a:rPr lang="tr-TR" dirty="0">
                <a:latin typeface="Segoe UI" panose="020B0502040204020203" pitchFamily="34" charset="0"/>
              </a:rPr>
              <a:t>, metamfetamin, </a:t>
            </a:r>
            <a:r>
              <a:rPr lang="tr-TR" dirty="0" err="1">
                <a:latin typeface="Segoe UI" panose="020B0502040204020203" pitchFamily="34" charset="0"/>
              </a:rPr>
              <a:t>kannabis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coklu</a:t>
            </a:r>
            <a:r>
              <a:rPr lang="tr-TR" dirty="0">
                <a:latin typeface="Segoe UI" panose="020B0502040204020203" pitchFamily="34" charset="0"/>
              </a:rPr>
              <a:t> madde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3. 5 epigenetik saat sistematik </a:t>
            </a:r>
            <a:r>
              <a:rPr lang="tr-TR" dirty="0" err="1">
                <a:latin typeface="Segoe UI" panose="020B0502040204020203" pitchFamily="34" charset="0"/>
              </a:rPr>
              <a:t>karsilastirmasi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4. Maddeye </a:t>
            </a:r>
            <a:r>
              <a:rPr lang="tr-TR" dirty="0" err="1">
                <a:latin typeface="Segoe UI" panose="020B0502040204020203" pitchFamily="34" charset="0"/>
              </a:rPr>
              <a:t>ozgu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imzalarinin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tanimlanmasi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5. Fizyolojik </a:t>
            </a:r>
            <a:r>
              <a:rPr lang="tr-TR" dirty="0" err="1">
                <a:latin typeface="Segoe UI" panose="020B0502040204020203" pitchFamily="34" charset="0"/>
              </a:rPr>
              <a:t>mediyasyon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yolaklarinin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nicellestirilmesi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6. Psikolojik </a:t>
            </a:r>
            <a:r>
              <a:rPr lang="tr-TR" dirty="0" err="1">
                <a:latin typeface="Segoe UI" panose="020B0502040204020203" pitchFamily="34" charset="0"/>
              </a:rPr>
              <a:t>moderatorlerin</a:t>
            </a:r>
            <a:r>
              <a:rPr lang="tr-TR" dirty="0">
                <a:latin typeface="Segoe UI" panose="020B0502040204020203" pitchFamily="34" charset="0"/>
              </a:rPr>
              <a:t> analizi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7. Postmortem beyin dokusu validasyonu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HIPOTEZLER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H1</a:t>
            </a:r>
            <a:r>
              <a:rPr lang="tr-TR" dirty="0">
                <a:latin typeface="Segoe UI" panose="020B0502040204020203" pitchFamily="34" charset="0"/>
              </a:rPr>
              <a:t>: Madde </a:t>
            </a:r>
            <a:r>
              <a:rPr lang="tr-TR" dirty="0" err="1">
                <a:latin typeface="Segoe UI" panose="020B0502040204020203" pitchFamily="34" charset="0"/>
              </a:rPr>
              <a:t>kullanimi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anlamli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ile </a:t>
            </a:r>
            <a:r>
              <a:rPr lang="tr-TR" dirty="0" err="1">
                <a:latin typeface="Segoe UI" panose="020B0502040204020203" pitchFamily="34" charset="0"/>
              </a:rPr>
              <a:t>iliskilidir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H2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Farkli</a:t>
            </a:r>
            <a:r>
              <a:rPr lang="tr-TR" dirty="0">
                <a:latin typeface="Segoe UI" panose="020B0502040204020203" pitchFamily="34" charset="0"/>
              </a:rPr>
              <a:t> maddeler </a:t>
            </a:r>
            <a:r>
              <a:rPr lang="tr-TR" dirty="0" err="1">
                <a:latin typeface="Segoe UI" panose="020B0502040204020203" pitchFamily="34" charset="0"/>
              </a:rPr>
              <a:t>farkli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paternleri </a:t>
            </a:r>
            <a:r>
              <a:rPr lang="tr-TR" dirty="0" err="1">
                <a:latin typeface="Segoe UI" panose="020B0502040204020203" pitchFamily="34" charset="0"/>
              </a:rPr>
              <a:t>gosterir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H3</a:t>
            </a:r>
            <a:r>
              <a:rPr lang="tr-TR" dirty="0">
                <a:latin typeface="Segoe UI" panose="020B0502040204020203" pitchFamily="34" charset="0"/>
              </a:rPr>
              <a:t>: Fizyolojik </a:t>
            </a:r>
            <a:r>
              <a:rPr lang="tr-TR" dirty="0" err="1">
                <a:latin typeface="Segoe UI" panose="020B0502040204020203" pitchFamily="34" charset="0"/>
              </a:rPr>
              <a:t>faktorler</a:t>
            </a:r>
            <a:r>
              <a:rPr lang="tr-TR" dirty="0">
                <a:latin typeface="Segoe UI" panose="020B0502040204020203" pitchFamily="34" charset="0"/>
              </a:rPr>
              <a:t> bu </a:t>
            </a:r>
            <a:r>
              <a:rPr lang="tr-TR" dirty="0" err="1">
                <a:latin typeface="Segoe UI" panose="020B0502040204020203" pitchFamily="34" charset="0"/>
              </a:rPr>
              <a:t>iliskiyi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mediye</a:t>
            </a:r>
            <a:r>
              <a:rPr lang="tr-TR" dirty="0">
                <a:latin typeface="Segoe UI" panose="020B0502040204020203" pitchFamily="34" charset="0"/>
              </a:rPr>
              <a:t> eder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H4</a:t>
            </a:r>
            <a:r>
              <a:rPr lang="tr-TR" dirty="0">
                <a:latin typeface="Segoe UI" panose="020B0502040204020203" pitchFamily="34" charset="0"/>
              </a:rPr>
              <a:t>: Psikolojik </a:t>
            </a:r>
            <a:r>
              <a:rPr lang="tr-TR" dirty="0" err="1">
                <a:latin typeface="Segoe UI" panose="020B0502040204020203" pitchFamily="34" charset="0"/>
              </a:rPr>
              <a:t>dayaniklilik</a:t>
            </a:r>
            <a:r>
              <a:rPr lang="tr-TR" dirty="0">
                <a:latin typeface="Segoe UI" panose="020B0502040204020203" pitchFamily="34" charset="0"/>
              </a:rPr>
              <a:t> etkileri </a:t>
            </a:r>
            <a:r>
              <a:rPr lang="tr-TR" dirty="0" err="1">
                <a:latin typeface="Segoe UI" panose="020B0502040204020203" pitchFamily="34" charset="0"/>
              </a:rPr>
              <a:t>modere</a:t>
            </a:r>
            <a:r>
              <a:rPr lang="tr-TR" dirty="0">
                <a:latin typeface="Segoe UI" panose="020B0502040204020203" pitchFamily="34" charset="0"/>
              </a:rPr>
              <a:t> eder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29561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Teorik Çerçeve: Entegre Etki Modeli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KAVRAMSAL MODEL: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                Fizyolojik </a:t>
            </a:r>
            <a:r>
              <a:rPr lang="tr-TR" dirty="0" err="1">
                <a:latin typeface="Segoe UI" panose="020B0502040204020203" pitchFamily="34" charset="0"/>
              </a:rPr>
              <a:t>Mediyatorler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                (</a:t>
            </a:r>
            <a:r>
              <a:rPr lang="tr-TR" dirty="0" err="1">
                <a:latin typeface="Segoe UI" panose="020B0502040204020203" pitchFamily="34" charset="0"/>
              </a:rPr>
              <a:t>Insulin</a:t>
            </a:r>
            <a:r>
              <a:rPr lang="tr-TR" dirty="0">
                <a:latin typeface="Segoe UI" panose="020B0502040204020203" pitchFamily="34" charset="0"/>
              </a:rPr>
              <a:t> Direnci: %34)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                (</a:t>
            </a:r>
            <a:r>
              <a:rPr lang="tr-TR" dirty="0" err="1">
                <a:latin typeface="Segoe UI" panose="020B0502040204020203" pitchFamily="34" charset="0"/>
              </a:rPr>
              <a:t>HPA</a:t>
            </a:r>
            <a:r>
              <a:rPr lang="tr-TR" dirty="0">
                <a:latin typeface="Segoe UI" panose="020B0502040204020203" pitchFamily="34" charset="0"/>
              </a:rPr>
              <a:t> Eksen: %29)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                (</a:t>
            </a:r>
            <a:r>
              <a:rPr lang="tr-TR" dirty="0" err="1">
                <a:latin typeface="Segoe UI" panose="020B0502040204020203" pitchFamily="34" charset="0"/>
              </a:rPr>
              <a:t>Inflamasyon</a:t>
            </a:r>
            <a:r>
              <a:rPr lang="tr-TR" dirty="0">
                <a:latin typeface="Segoe UI" panose="020B0502040204020203" pitchFamily="34" charset="0"/>
              </a:rPr>
              <a:t>: %37)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                       |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                       v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MADDE KULLANIMI ---------&gt; EPİGENETİK YAŞ </a:t>
            </a:r>
            <a:r>
              <a:rPr lang="tr-TR" dirty="0" err="1">
                <a:latin typeface="Segoe UI" panose="020B0502040204020203" pitchFamily="34" charset="0"/>
              </a:rPr>
              <a:t>İVMELENMESI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   |                           ^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   |                           |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   +--------------------------&gt;+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          Direkt Etki (%39)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                Psikolojik </a:t>
            </a:r>
            <a:r>
              <a:rPr lang="tr-TR" dirty="0" err="1">
                <a:latin typeface="Segoe UI" panose="020B0502040204020203" pitchFamily="34" charset="0"/>
              </a:rPr>
              <a:t>Moderatorler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                (Duygu Düzenleme)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                 (</a:t>
            </a:r>
            <a:r>
              <a:rPr lang="tr-TR" dirty="0" err="1">
                <a:latin typeface="Segoe UI" panose="020B0502040204020203" pitchFamily="34" charset="0"/>
              </a:rPr>
              <a:t>Oz</a:t>
            </a:r>
            <a:r>
              <a:rPr lang="tr-TR" dirty="0">
                <a:latin typeface="Segoe UI" panose="020B0502040204020203" pitchFamily="34" charset="0"/>
              </a:rPr>
              <a:t>-Kontrol)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MODEL </a:t>
            </a:r>
            <a:r>
              <a:rPr lang="tr-TR" dirty="0" err="1">
                <a:latin typeface="Segoe UI" panose="020B0502040204020203" pitchFamily="34" charset="0"/>
              </a:rPr>
              <a:t>ACIKLAMASI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Madde </a:t>
            </a:r>
            <a:r>
              <a:rPr lang="tr-TR" dirty="0" err="1">
                <a:latin typeface="Segoe UI" panose="020B0502040204020203" pitchFamily="34" charset="0"/>
              </a:rPr>
              <a:t>kullanimi</a:t>
            </a:r>
            <a:r>
              <a:rPr lang="tr-TR" dirty="0">
                <a:latin typeface="Segoe UI" panose="020B0502040204020203" pitchFamily="34" charset="0"/>
              </a:rPr>
              <a:t> hem direkt hem de indirekt yollarla </a:t>
            </a:r>
            <a:r>
              <a:rPr lang="tr-TR" dirty="0" err="1">
                <a:latin typeface="Segoe UI" panose="020B0502040204020203" pitchFamily="34" charset="0"/>
              </a:rPr>
              <a:t>EAA'yi</a:t>
            </a:r>
            <a:r>
              <a:rPr lang="tr-TR" dirty="0">
                <a:latin typeface="Segoe UI" panose="020B0502040204020203" pitchFamily="34" charset="0"/>
              </a:rPr>
              <a:t> etkiler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Fizyolojik </a:t>
            </a:r>
            <a:r>
              <a:rPr lang="tr-TR" dirty="0" err="1">
                <a:latin typeface="Segoe UI" panose="020B0502040204020203" pitchFamily="34" charset="0"/>
              </a:rPr>
              <a:t>mediyatorler</a:t>
            </a:r>
            <a:r>
              <a:rPr lang="tr-TR" dirty="0">
                <a:latin typeface="Segoe UI" panose="020B0502040204020203" pitchFamily="34" charset="0"/>
              </a:rPr>
              <a:t> toplam etkinin %</a:t>
            </a:r>
            <a:r>
              <a:rPr lang="tr-TR" dirty="0" err="1">
                <a:latin typeface="Segoe UI" panose="020B0502040204020203" pitchFamily="34" charset="0"/>
              </a:rPr>
              <a:t>61'ini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aciklar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Psikolojik </a:t>
            </a:r>
            <a:r>
              <a:rPr lang="tr-TR" dirty="0" err="1">
                <a:latin typeface="Segoe UI" panose="020B0502040204020203" pitchFamily="34" charset="0"/>
              </a:rPr>
              <a:t>dayaniklilik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faktorleri</a:t>
            </a:r>
            <a:r>
              <a:rPr lang="tr-TR" dirty="0">
                <a:latin typeface="Segoe UI" panose="020B0502040204020203" pitchFamily="34" charset="0"/>
              </a:rPr>
              <a:t> etki </a:t>
            </a:r>
            <a:r>
              <a:rPr lang="tr-TR" dirty="0" err="1">
                <a:latin typeface="Segoe UI" panose="020B0502040204020203" pitchFamily="34" charset="0"/>
              </a:rPr>
              <a:t>buyuklugunu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modere</a:t>
            </a:r>
            <a:r>
              <a:rPr lang="tr-TR" dirty="0">
                <a:latin typeface="Segoe UI" panose="020B0502040204020203" pitchFamily="34" charset="0"/>
              </a:rPr>
              <a:t> eder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42371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Çalışma </a:t>
            </a:r>
            <a:r>
              <a:rPr lang="tr-TR" dirty="0" err="1">
                <a:latin typeface="Segoe UI" panose="020B0502040204020203" pitchFamily="34" charset="0"/>
              </a:rPr>
              <a:t>Tasarimi</a:t>
            </a:r>
            <a:r>
              <a:rPr lang="tr-TR" dirty="0">
                <a:latin typeface="Segoe UI" panose="020B0502040204020203" pitchFamily="34" charset="0"/>
              </a:rPr>
              <a:t>: Genel </a:t>
            </a:r>
            <a:r>
              <a:rPr lang="tr-TR" dirty="0" err="1">
                <a:latin typeface="Segoe UI" panose="020B0502040204020203" pitchFamily="34" charset="0"/>
              </a:rPr>
              <a:t>Bakis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9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ÇALIŞMA TIPI: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Retrospektif, kesitsel, </a:t>
            </a:r>
            <a:r>
              <a:rPr lang="tr-TR" dirty="0" err="1">
                <a:latin typeface="Segoe UI" panose="020B0502040204020203" pitchFamily="34" charset="0"/>
              </a:rPr>
              <a:t>multi</a:t>
            </a:r>
            <a:r>
              <a:rPr lang="tr-TR" dirty="0">
                <a:latin typeface="Segoe UI" panose="020B0502040204020203" pitchFamily="34" charset="0"/>
              </a:rPr>
              <a:t>-kohort meta-analiz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VERI</a:t>
            </a:r>
            <a:r>
              <a:rPr lang="tr-TR" dirty="0">
                <a:latin typeface="Segoe UI" panose="020B0502040204020203" pitchFamily="34" charset="0"/>
              </a:rPr>
              <a:t> KAYNAKLARI: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- 15 </a:t>
            </a:r>
            <a:r>
              <a:rPr lang="tr-TR" dirty="0" err="1">
                <a:latin typeface="Segoe UI" panose="020B0502040204020203" pitchFamily="34" charset="0"/>
              </a:rPr>
              <a:t>bagimsiz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calismanin</a:t>
            </a:r>
            <a:r>
              <a:rPr lang="tr-TR" dirty="0">
                <a:latin typeface="Segoe UI" panose="020B0502040204020203" pitchFamily="34" charset="0"/>
              </a:rPr>
              <a:t> entegrasyonu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Public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veritabanlari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GEO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ArrayExpress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EWAS</a:t>
            </a:r>
            <a:r>
              <a:rPr lang="tr-TR" dirty="0">
                <a:latin typeface="Segoe UI" panose="020B0502040204020203" pitchFamily="34" charset="0"/>
              </a:rPr>
              <a:t> Data </a:t>
            </a:r>
            <a:r>
              <a:rPr lang="tr-TR" dirty="0" err="1">
                <a:latin typeface="Segoe UI" panose="020B0502040204020203" pitchFamily="34" charset="0"/>
              </a:rPr>
              <a:t>Hub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Toplam n = 10,542 birey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DAHIL</a:t>
            </a:r>
            <a:r>
              <a:rPr lang="tr-TR" dirty="0">
                <a:latin typeface="Segoe UI" panose="020B0502040204020203" pitchFamily="34" charset="0"/>
              </a:rPr>
              <a:t> ETME </a:t>
            </a:r>
            <a:r>
              <a:rPr lang="tr-TR" dirty="0" err="1">
                <a:latin typeface="Segoe UI" panose="020B0502040204020203" pitchFamily="34" charset="0"/>
              </a:rPr>
              <a:t>KRITERLERI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- 18 yas ustu </a:t>
            </a:r>
            <a:r>
              <a:rPr lang="tr-TR" dirty="0" err="1">
                <a:latin typeface="Segoe UI" panose="020B0502040204020203" pitchFamily="34" charset="0"/>
              </a:rPr>
              <a:t>eriskin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Illumina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450K</a:t>
            </a:r>
            <a:r>
              <a:rPr lang="tr-TR" dirty="0">
                <a:latin typeface="Segoe UI" panose="020B0502040204020203" pitchFamily="34" charset="0"/>
              </a:rPr>
              <a:t> veya </a:t>
            </a:r>
            <a:r>
              <a:rPr lang="tr-TR" dirty="0" err="1">
                <a:latin typeface="Segoe UI" panose="020B0502040204020203" pitchFamily="34" charset="0"/>
              </a:rPr>
              <a:t>EPIC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array</a:t>
            </a:r>
            <a:r>
              <a:rPr lang="tr-TR" dirty="0">
                <a:latin typeface="Segoe UI" panose="020B0502040204020203" pitchFamily="34" charset="0"/>
              </a:rPr>
              <a:t> verisi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Madde </a:t>
            </a:r>
            <a:r>
              <a:rPr lang="tr-TR" dirty="0" err="1">
                <a:latin typeface="Segoe UI" panose="020B0502040204020203" pitchFamily="34" charset="0"/>
              </a:rPr>
              <a:t>kullanim</a:t>
            </a:r>
            <a:r>
              <a:rPr lang="tr-TR" dirty="0">
                <a:latin typeface="Segoe UI" panose="020B0502040204020203" pitchFamily="34" charset="0"/>
              </a:rPr>
              <a:t> durumu bilgisi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Demografik veriler mevcut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ETIK</a:t>
            </a:r>
            <a:r>
              <a:rPr lang="tr-TR" dirty="0">
                <a:latin typeface="Segoe UI" panose="020B0502040204020203" pitchFamily="34" charset="0"/>
              </a:rPr>
              <a:t> ONAY: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Tum</a:t>
            </a:r>
            <a:r>
              <a:rPr lang="tr-TR" dirty="0">
                <a:latin typeface="Segoe UI" panose="020B0502040204020203" pitchFamily="34" charset="0"/>
              </a:rPr>
              <a:t> dahil edilen </a:t>
            </a:r>
            <a:r>
              <a:rPr lang="tr-TR" dirty="0" err="1">
                <a:latin typeface="Segoe UI" panose="020B0502040204020203" pitchFamily="34" charset="0"/>
              </a:rPr>
              <a:t>calismalar</a:t>
            </a:r>
            <a:r>
              <a:rPr lang="tr-TR" dirty="0">
                <a:latin typeface="Segoe UI" panose="020B0502040204020203" pitchFamily="34" charset="0"/>
              </a:rPr>
              <a:t> orijinal etik </a:t>
            </a:r>
            <a:r>
              <a:rPr lang="tr-TR" dirty="0" err="1">
                <a:latin typeface="Segoe UI" panose="020B0502040204020203" pitchFamily="34" charset="0"/>
              </a:rPr>
              <a:t>onayli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Ikincil</a:t>
            </a:r>
            <a:r>
              <a:rPr lang="tr-TR" dirty="0">
                <a:latin typeface="Segoe UI" panose="020B0502040204020203" pitchFamily="34" charset="0"/>
              </a:rPr>
              <a:t> analiz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ayri</a:t>
            </a:r>
            <a:r>
              <a:rPr lang="tr-TR" dirty="0">
                <a:latin typeface="Segoe UI" panose="020B0502040204020203" pitchFamily="34" charset="0"/>
              </a:rPr>
              <a:t> onay gerekmemektedir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VERI</a:t>
            </a:r>
            <a:r>
              <a:rPr lang="tr-TR" dirty="0">
                <a:latin typeface="Segoe UI" panose="020B0502040204020203" pitchFamily="34" charset="0"/>
              </a:rPr>
              <a:t> PAYLAŞIMI: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Tum</a:t>
            </a:r>
            <a:r>
              <a:rPr lang="tr-TR" dirty="0">
                <a:latin typeface="Segoe UI" panose="020B0502040204020203" pitchFamily="34" charset="0"/>
              </a:rPr>
              <a:t> analiz </a:t>
            </a:r>
            <a:r>
              <a:rPr lang="tr-TR" dirty="0" err="1">
                <a:latin typeface="Segoe UI" panose="020B0502040204020203" pitchFamily="34" charset="0"/>
              </a:rPr>
              <a:t>kodlari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GitHub'da</a:t>
            </a:r>
            <a:r>
              <a:rPr lang="tr-TR" dirty="0">
                <a:latin typeface="Segoe UI" panose="020B0502040204020203" pitchFamily="34" charset="0"/>
              </a:rPr>
              <a:t> mevcut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github.com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mortemdulcem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epi</a:t>
            </a:r>
            <a:r>
              <a:rPr lang="tr-TR" dirty="0">
                <a:latin typeface="Segoe UI" panose="020B0502040204020203" pitchFamily="34" charset="0"/>
              </a:rPr>
              <a:t>-</a:t>
            </a:r>
            <a:r>
              <a:rPr lang="tr-TR" dirty="0" err="1">
                <a:latin typeface="Segoe UI" panose="020B0502040204020203" pitchFamily="34" charset="0"/>
              </a:rPr>
              <a:t>clock</a:t>
            </a:r>
            <a:r>
              <a:rPr lang="tr-TR" dirty="0">
                <a:latin typeface="Segoe UI" panose="020B0502040204020203" pitchFamily="34" charset="0"/>
              </a:rPr>
              <a:t>-DNA-</a:t>
            </a:r>
            <a:r>
              <a:rPr lang="tr-TR" dirty="0" err="1">
                <a:latin typeface="Segoe UI" panose="020B0502040204020203" pitchFamily="34" charset="0"/>
              </a:rPr>
              <a:t>mtl</a:t>
            </a:r>
            <a:r>
              <a:rPr lang="tr-TR" dirty="0">
                <a:latin typeface="Segoe UI" panose="020B0502040204020203" pitchFamily="34" charset="0"/>
              </a:rPr>
              <a:t>-</a:t>
            </a:r>
            <a:r>
              <a:rPr lang="tr-TR" dirty="0" err="1">
                <a:latin typeface="Segoe UI" panose="020B0502040204020203" pitchFamily="34" charset="0"/>
              </a:rPr>
              <a:t>prototype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42885" y="1828800"/>
            <a:ext cx="12582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BÖLÜM 2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METODOLOJI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86583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Örneklem </a:t>
            </a:r>
            <a:r>
              <a:rPr lang="tr-TR" dirty="0" err="1">
                <a:latin typeface="Segoe UI" panose="020B0502040204020203" pitchFamily="34" charset="0"/>
              </a:rPr>
              <a:t>Ozellikleri</a:t>
            </a:r>
            <a:r>
              <a:rPr lang="tr-TR" dirty="0">
                <a:latin typeface="Segoe UI" panose="020B0502040204020203" pitchFamily="34" charset="0"/>
              </a:rPr>
              <a:t>: Temel İstatistikler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1920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Toplam Örneklem Boyutu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48105" y="1463040"/>
            <a:ext cx="148149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n = 10,542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99125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Madde </a:t>
            </a:r>
            <a:r>
              <a:rPr lang="tr-TR" dirty="0" err="1">
                <a:latin typeface="Segoe UI" panose="020B0502040204020203" pitchFamily="34" charset="0"/>
              </a:rPr>
              <a:t>Kullanici</a:t>
            </a:r>
            <a:r>
              <a:rPr lang="tr-TR" dirty="0">
                <a:latin typeface="Segoe UI" panose="020B0502040204020203" pitchFamily="34" charset="0"/>
              </a:rPr>
              <a:t> Grubu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14544" y="2377440"/>
            <a:ext cx="231505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n = 5,535 (%52.5)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130683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Kontrol Grubu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57156" y="3291840"/>
            <a:ext cx="237244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n = 5,007 (%47.5)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121918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Ortalama Yaş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70648" y="4206240"/>
            <a:ext cx="225895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42.3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SS</a:t>
            </a:r>
            <a:r>
              <a:rPr lang="tr-TR" dirty="0">
                <a:latin typeface="Segoe UI" panose="020B0502040204020203" pitchFamily="34" charset="0"/>
              </a:rPr>
              <a:t>: 12.8)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10915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Erkek </a:t>
            </a:r>
            <a:r>
              <a:rPr lang="tr-TR" dirty="0" err="1">
                <a:latin typeface="Segoe UI" panose="020B0502040204020203" pitchFamily="34" charset="0"/>
              </a:rPr>
              <a:t>Orani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77674" y="5120640"/>
            <a:ext cx="235192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%58.2 (n = 6,135)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80760"/>
            <a:ext cx="132350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Avrupa </a:t>
            </a:r>
            <a:r>
              <a:rPr lang="tr-TR" dirty="0" err="1">
                <a:latin typeface="Segoe UI" panose="020B0502040204020203" pitchFamily="34" charset="0"/>
              </a:rPr>
              <a:t>Kokeni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28943" y="6035040"/>
            <a:ext cx="240065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%78.3 (n = 8,254)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07482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Madde Kategorisi </a:t>
            </a:r>
            <a:r>
              <a:rPr lang="tr-TR" dirty="0" err="1">
                <a:latin typeface="Segoe UI" panose="020B0502040204020203" pitchFamily="34" charset="0"/>
              </a:rPr>
              <a:t>Dagilimi</a:t>
            </a:r>
            <a:r>
              <a:rPr lang="tr-TR" dirty="0">
                <a:latin typeface="Segoe UI" panose="020B0502040204020203" pitchFamily="34" charset="0"/>
              </a:rPr>
              <a:t> ve Demografik </a:t>
            </a:r>
            <a:r>
              <a:rPr lang="tr-TR" dirty="0" err="1">
                <a:latin typeface="Segoe UI" panose="020B0502040204020203" pitchFamily="34" charset="0"/>
              </a:rPr>
              <a:t>Ozellikler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096"/>
                <a:gridCol w="1335024"/>
                <a:gridCol w="1432560"/>
                <a:gridCol w="1432560"/>
                <a:gridCol w="1432560"/>
                <a:gridCol w="143256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Grup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Yaş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ort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Erkek 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Kullanim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Kontrol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5,007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47.5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41.2 (13.4)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54.3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Alkol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2,183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20.7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46.8 (11.2)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67.2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18.4 (9.7)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Kokain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1,030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9.8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38.7 (9.4)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63.5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12.3 (7.8)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Opioid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1,360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12.9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42.1 (10.8)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51.8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8.7 (6.4)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Metamfetamin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35.2 (8.1)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58.3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6.2 (4.1)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Kannabis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194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32.4 (10.2)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68.0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9.8 (6.3)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Coklu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Madde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720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6.8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39.5 (10.6)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61.4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14.2 (8.9)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4573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DNA Metilasyon </a:t>
            </a:r>
            <a:r>
              <a:rPr lang="tr-TR" dirty="0" err="1">
                <a:latin typeface="Segoe UI" panose="020B0502040204020203" pitchFamily="34" charset="0"/>
              </a:rPr>
              <a:t>Ölçümu</a:t>
            </a:r>
            <a:r>
              <a:rPr lang="tr-TR" dirty="0">
                <a:latin typeface="Segoe UI" panose="020B0502040204020203" pitchFamily="34" charset="0"/>
              </a:rPr>
              <a:t> ve Kalite Kontrolu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9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ILLUMINA</a:t>
            </a:r>
            <a:r>
              <a:rPr lang="tr-TR" dirty="0">
                <a:latin typeface="Segoe UI" panose="020B0502040204020203" pitchFamily="34" charset="0"/>
              </a:rPr>
              <a:t> PLATFORMLARI: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Illumina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HumanMethylation450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BeadChip</a:t>
            </a:r>
            <a:r>
              <a:rPr lang="tr-TR" dirty="0">
                <a:latin typeface="Segoe UI" panose="020B0502040204020203" pitchFamily="34" charset="0"/>
              </a:rPr>
              <a:t> (n=7,234; %68.6)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Illumina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EPIC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BeadChip</a:t>
            </a:r>
            <a:r>
              <a:rPr lang="tr-TR" dirty="0">
                <a:latin typeface="Segoe UI" panose="020B0502040204020203" pitchFamily="34" charset="0"/>
              </a:rPr>
              <a:t> (n=3,308; %31.4)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Ortak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seti: n=452,626 </a:t>
            </a:r>
            <a:r>
              <a:rPr lang="tr-TR" dirty="0" err="1">
                <a:latin typeface="Segoe UI" panose="020B0502040204020203" pitchFamily="34" charset="0"/>
              </a:rPr>
              <a:t>probe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ÖRNEK </a:t>
            </a:r>
            <a:r>
              <a:rPr lang="tr-TR" dirty="0" err="1">
                <a:latin typeface="Segoe UI" panose="020B0502040204020203" pitchFamily="34" charset="0"/>
              </a:rPr>
              <a:t>SEVIYESI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KALITE</a:t>
            </a:r>
            <a:r>
              <a:rPr lang="tr-TR" dirty="0">
                <a:latin typeface="Segoe UI" panose="020B0502040204020203" pitchFamily="34" charset="0"/>
              </a:rPr>
              <a:t> KONTROLU: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Bisulfit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donusum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orani</a:t>
            </a:r>
            <a:r>
              <a:rPr lang="tr-TR" dirty="0">
                <a:latin typeface="Segoe UI" panose="020B0502040204020203" pitchFamily="34" charset="0"/>
              </a:rPr>
              <a:t> &gt;%95 gereksinimi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Örnek cinsiyet tahmini ve </a:t>
            </a:r>
            <a:r>
              <a:rPr lang="tr-TR" dirty="0" err="1">
                <a:latin typeface="Segoe UI" panose="020B0502040204020203" pitchFamily="34" charset="0"/>
              </a:rPr>
              <a:t>dogrulama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Genetik kimlik kontrolu (</a:t>
            </a:r>
            <a:r>
              <a:rPr lang="tr-TR" dirty="0" err="1">
                <a:latin typeface="Segoe UI" panose="020B0502040204020203" pitchFamily="34" charset="0"/>
              </a:rPr>
              <a:t>SNP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problari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Cikartilan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ornekler</a:t>
            </a:r>
            <a:r>
              <a:rPr lang="tr-TR" dirty="0">
                <a:latin typeface="Segoe UI" panose="020B0502040204020203" pitchFamily="34" charset="0"/>
              </a:rPr>
              <a:t>: n=312 (%2.9)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PROBE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SEVIYESI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KALITE</a:t>
            </a:r>
            <a:r>
              <a:rPr lang="tr-TR" dirty="0">
                <a:latin typeface="Segoe UI" panose="020B0502040204020203" pitchFamily="34" charset="0"/>
              </a:rPr>
              <a:t> KONTROLU: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Deteksiyon</a:t>
            </a:r>
            <a:r>
              <a:rPr lang="tr-TR" dirty="0">
                <a:latin typeface="Segoe UI" panose="020B0502040204020203" pitchFamily="34" charset="0"/>
              </a:rPr>
              <a:t> p-</a:t>
            </a:r>
            <a:r>
              <a:rPr lang="tr-TR" dirty="0" err="1">
                <a:latin typeface="Segoe UI" panose="020B0502040204020203" pitchFamily="34" charset="0"/>
              </a:rPr>
              <a:t>degeri</a:t>
            </a:r>
            <a:r>
              <a:rPr lang="tr-TR" dirty="0">
                <a:latin typeface="Segoe UI" panose="020B0502040204020203" pitchFamily="34" charset="0"/>
              </a:rPr>
              <a:t> &gt; 0.01 olan problar </a:t>
            </a:r>
            <a:r>
              <a:rPr lang="tr-TR" dirty="0" err="1">
                <a:latin typeface="Segoe UI" panose="020B0502040204020203" pitchFamily="34" charset="0"/>
              </a:rPr>
              <a:t>cikartildi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Cross-</a:t>
            </a:r>
            <a:r>
              <a:rPr lang="tr-TR" dirty="0" err="1">
                <a:latin typeface="Segoe UI" panose="020B0502040204020203" pitchFamily="34" charset="0"/>
              </a:rPr>
              <a:t>reactive</a:t>
            </a:r>
            <a:r>
              <a:rPr lang="tr-TR" dirty="0">
                <a:latin typeface="Segoe UI" panose="020B0502040204020203" pitchFamily="34" charset="0"/>
              </a:rPr>
              <a:t> problar ve </a:t>
            </a:r>
            <a:r>
              <a:rPr lang="tr-TR" dirty="0" err="1">
                <a:latin typeface="Segoe UI" panose="020B0502040204020203" pitchFamily="34" charset="0"/>
              </a:rPr>
              <a:t>SNP-overlapping</a:t>
            </a:r>
            <a:r>
              <a:rPr lang="tr-TR" dirty="0">
                <a:latin typeface="Segoe UI" panose="020B0502040204020203" pitchFamily="34" charset="0"/>
              </a:rPr>
              <a:t> problar </a:t>
            </a:r>
            <a:r>
              <a:rPr lang="tr-TR" dirty="0" err="1">
                <a:latin typeface="Segoe UI" panose="020B0502040204020203" pitchFamily="34" charset="0"/>
              </a:rPr>
              <a:t>kaldirildi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X ve Y kromozomu </a:t>
            </a:r>
            <a:r>
              <a:rPr lang="tr-TR" dirty="0" err="1">
                <a:latin typeface="Segoe UI" panose="020B0502040204020203" pitchFamily="34" charset="0"/>
              </a:rPr>
              <a:t>problari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cikartildi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Final </a:t>
            </a:r>
            <a:r>
              <a:rPr lang="tr-TR" dirty="0" err="1">
                <a:latin typeface="Segoe UI" panose="020B0502040204020203" pitchFamily="34" charset="0"/>
              </a:rPr>
              <a:t>probe</a:t>
            </a:r>
            <a:r>
              <a:rPr lang="tr-TR" dirty="0">
                <a:latin typeface="Segoe UI" panose="020B0502040204020203" pitchFamily="34" charset="0"/>
              </a:rPr>
              <a:t> seti: n=438,457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NORMALIZASYON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Background </a:t>
            </a:r>
            <a:r>
              <a:rPr lang="tr-TR" dirty="0" err="1">
                <a:latin typeface="Segoe UI" panose="020B0502040204020203" pitchFamily="34" charset="0"/>
              </a:rPr>
              <a:t>subtraction</a:t>
            </a:r>
            <a:r>
              <a:rPr lang="tr-TR" dirty="0">
                <a:latin typeface="Segoe UI" panose="020B0502040204020203" pitchFamily="34" charset="0"/>
              </a:rPr>
              <a:t> ve </a:t>
            </a:r>
            <a:r>
              <a:rPr lang="tr-TR" dirty="0" err="1">
                <a:latin typeface="Segoe UI" panose="020B0502040204020203" pitchFamily="34" charset="0"/>
              </a:rPr>
              <a:t>dye-bias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correction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Beta-</a:t>
            </a:r>
            <a:r>
              <a:rPr lang="tr-TR" dirty="0" err="1">
                <a:latin typeface="Segoe UI" panose="020B0502040204020203" pitchFamily="34" charset="0"/>
              </a:rPr>
              <a:t>Mixture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Quantile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BMIQ</a:t>
            </a:r>
            <a:r>
              <a:rPr lang="tr-TR" dirty="0">
                <a:latin typeface="Segoe UI" panose="020B0502040204020203" pitchFamily="34" charset="0"/>
              </a:rPr>
              <a:t>) normalizasyonu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ComBat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batch</a:t>
            </a:r>
            <a:r>
              <a:rPr lang="tr-TR" dirty="0">
                <a:latin typeface="Segoe UI" panose="020B0502040204020203" pitchFamily="34" charset="0"/>
              </a:rPr>
              <a:t> etkisi </a:t>
            </a:r>
            <a:r>
              <a:rPr lang="tr-TR" dirty="0" err="1">
                <a:latin typeface="Segoe UI" panose="020B0502040204020203" pitchFamily="34" charset="0"/>
              </a:rPr>
              <a:t>duzeltmesi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00978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Epigenetik Saat Hesaplama Metodolojisi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CLOCK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CALCULATOR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IMPLEMENTASYONU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Orijinal </a:t>
            </a:r>
            <a:r>
              <a:rPr lang="tr-TR" dirty="0" err="1">
                <a:latin typeface="Segoe UI" panose="020B0502040204020203" pitchFamily="34" charset="0"/>
              </a:rPr>
              <a:t>yayinlardan</a:t>
            </a:r>
            <a:r>
              <a:rPr lang="tr-TR" dirty="0">
                <a:latin typeface="Segoe UI" panose="020B0502040204020203" pitchFamily="34" charset="0"/>
              </a:rPr>
              <a:t> elde edilen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agirliklari</a:t>
            </a:r>
            <a:r>
              <a:rPr lang="tr-TR" dirty="0">
                <a:latin typeface="Segoe UI" panose="020B0502040204020203" pitchFamily="34" charset="0"/>
              </a:rPr>
              <a:t> ve </a:t>
            </a:r>
            <a:r>
              <a:rPr lang="tr-TR" dirty="0" err="1">
                <a:latin typeface="Segoe UI" panose="020B0502040204020203" pitchFamily="34" charset="0"/>
              </a:rPr>
              <a:t>katsayilari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kullanilarak</a:t>
            </a:r>
            <a:r>
              <a:rPr lang="tr-TR" dirty="0">
                <a:latin typeface="Segoe UI" panose="020B0502040204020203" pitchFamily="34" charset="0"/>
              </a:rPr>
              <a:t> her </a:t>
            </a:r>
            <a:r>
              <a:rPr lang="tr-TR" dirty="0" err="1">
                <a:latin typeface="Segoe UI" panose="020B0502040204020203" pitchFamily="34" charset="0"/>
              </a:rPr>
              <a:t>ornekte</a:t>
            </a:r>
            <a:r>
              <a:rPr lang="tr-TR" dirty="0">
                <a:latin typeface="Segoe UI" panose="020B0502040204020203" pitchFamily="34" charset="0"/>
              </a:rPr>
              <a:t> 5 epigenetik saat </a:t>
            </a:r>
            <a:r>
              <a:rPr lang="tr-TR" dirty="0" err="1">
                <a:latin typeface="Segoe UI" panose="020B0502040204020203" pitchFamily="34" charset="0"/>
              </a:rPr>
              <a:t>hesaplanmistir</a:t>
            </a:r>
            <a:r>
              <a:rPr lang="tr-TR" dirty="0">
                <a:latin typeface="Segoe UI" panose="020B0502040204020203" pitchFamily="34" charset="0"/>
              </a:rPr>
              <a:t>.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HORVATH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SAATI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DNAm</a:t>
            </a:r>
            <a:r>
              <a:rPr lang="tr-TR" dirty="0">
                <a:latin typeface="Segoe UI" panose="020B0502040204020203" pitchFamily="34" charset="0"/>
              </a:rPr>
              <a:t> Age = </a:t>
            </a:r>
            <a:r>
              <a:rPr lang="tr-TR" dirty="0" err="1">
                <a:latin typeface="Segoe UI" panose="020B0502040204020203" pitchFamily="34" charset="0"/>
              </a:rPr>
              <a:t>anti.F</a:t>
            </a:r>
            <a:r>
              <a:rPr lang="tr-TR" dirty="0">
                <a:latin typeface="Segoe UI" panose="020B0502040204020203" pitchFamily="34" charset="0"/>
              </a:rPr>
              <a:t>(</a:t>
            </a:r>
            <a:r>
              <a:rPr lang="tr-TR" dirty="0" err="1">
                <a:latin typeface="Segoe UI" panose="020B0502040204020203" pitchFamily="34" charset="0"/>
              </a:rPr>
              <a:t>sum</a:t>
            </a:r>
            <a:r>
              <a:rPr lang="tr-TR" dirty="0">
                <a:latin typeface="Segoe UI" panose="020B0502040204020203" pitchFamily="34" charset="0"/>
              </a:rPr>
              <a:t>(353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* </a:t>
            </a:r>
            <a:r>
              <a:rPr lang="tr-TR" dirty="0" err="1">
                <a:latin typeface="Segoe UI" panose="020B0502040204020203" pitchFamily="34" charset="0"/>
              </a:rPr>
              <a:t>w_i</a:t>
            </a:r>
            <a:r>
              <a:rPr lang="tr-TR" dirty="0">
                <a:latin typeface="Segoe UI" panose="020B0502040204020203" pitchFamily="34" charset="0"/>
              </a:rPr>
              <a:t>) + </a:t>
            </a:r>
            <a:r>
              <a:rPr lang="tr-TR" dirty="0" err="1">
                <a:latin typeface="Segoe UI" panose="020B0502040204020203" pitchFamily="34" charset="0"/>
              </a:rPr>
              <a:t>intercept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- 110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yasla pozitif korelasyon (</a:t>
            </a:r>
            <a:r>
              <a:rPr lang="tr-TR" dirty="0" err="1">
                <a:latin typeface="Segoe UI" panose="020B0502040204020203" pitchFamily="34" charset="0"/>
              </a:rPr>
              <a:t>hipermetilasyon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- 243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yasla negatif korelasyon (</a:t>
            </a:r>
            <a:r>
              <a:rPr lang="tr-TR" dirty="0" err="1">
                <a:latin typeface="Segoe UI" panose="020B0502040204020203" pitchFamily="34" charset="0"/>
              </a:rPr>
              <a:t>hipometilasyon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PHENOAGE</a:t>
            </a:r>
            <a:r>
              <a:rPr lang="tr-TR" dirty="0">
                <a:latin typeface="Segoe UI" panose="020B0502040204020203" pitchFamily="34" charset="0"/>
              </a:rPr>
              <a:t> VE </a:t>
            </a:r>
            <a:r>
              <a:rPr lang="tr-TR" dirty="0" err="1">
                <a:latin typeface="Segoe UI" panose="020B0502040204020203" pitchFamily="34" charset="0"/>
              </a:rPr>
              <a:t>GRIMAGE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PhenoAge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Levine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coefficients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doi:10.18632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aging.101414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GrimAge</a:t>
            </a:r>
            <a:r>
              <a:rPr lang="tr-TR" dirty="0">
                <a:latin typeface="Segoe UI" panose="020B0502040204020203" pitchFamily="34" charset="0"/>
              </a:rPr>
              <a:t>: Lu </a:t>
            </a:r>
            <a:r>
              <a:rPr lang="tr-TR" dirty="0" err="1">
                <a:latin typeface="Segoe UI" panose="020B0502040204020203" pitchFamily="34" charset="0"/>
              </a:rPr>
              <a:t>coefficients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doi:10.18632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aging.101684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DNAm-based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plasma</a:t>
            </a:r>
            <a:r>
              <a:rPr lang="tr-TR" dirty="0">
                <a:latin typeface="Segoe UI" panose="020B0502040204020203" pitchFamily="34" charset="0"/>
              </a:rPr>
              <a:t> protein </a:t>
            </a:r>
            <a:r>
              <a:rPr lang="tr-TR" dirty="0" err="1">
                <a:latin typeface="Segoe UI" panose="020B0502040204020203" pitchFamily="34" charset="0"/>
              </a:rPr>
              <a:t>surrogates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hesaplandi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DUNEDINPACE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- 173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ile yaslanma </a:t>
            </a:r>
            <a:r>
              <a:rPr lang="tr-TR" dirty="0" err="1">
                <a:latin typeface="Segoe UI" panose="020B0502040204020203" pitchFamily="34" charset="0"/>
              </a:rPr>
              <a:t>hizi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pace</a:t>
            </a:r>
            <a:r>
              <a:rPr lang="tr-TR" dirty="0">
                <a:latin typeface="Segoe UI" panose="020B0502040204020203" pitchFamily="34" charset="0"/>
              </a:rPr>
              <a:t>) hesabi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Cikti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Yillik</a:t>
            </a:r>
            <a:r>
              <a:rPr lang="tr-TR" dirty="0">
                <a:latin typeface="Segoe UI" panose="020B0502040204020203" pitchFamily="34" charset="0"/>
              </a:rPr>
              <a:t> yaslanma </a:t>
            </a:r>
            <a:r>
              <a:rPr lang="tr-TR" dirty="0" err="1">
                <a:latin typeface="Segoe UI" panose="020B0502040204020203" pitchFamily="34" charset="0"/>
              </a:rPr>
              <a:t>orani</a:t>
            </a:r>
            <a:r>
              <a:rPr lang="tr-TR" dirty="0">
                <a:latin typeface="Segoe UI" panose="020B0502040204020203" pitchFamily="34" charset="0"/>
              </a:rPr>
              <a:t> (1.0 = normal)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EPİGENETİK YAŞ </a:t>
            </a:r>
            <a:r>
              <a:rPr lang="tr-TR" dirty="0" err="1">
                <a:latin typeface="Segoe UI" panose="020B0502040204020203" pitchFamily="34" charset="0"/>
              </a:rPr>
              <a:t>İVMELENMESI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):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= Epigenetik Yaş - Kronolojik Yas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Residual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rEAA</a:t>
            </a:r>
            <a:r>
              <a:rPr lang="tr-TR" dirty="0">
                <a:latin typeface="Segoe UI" panose="020B0502040204020203" pitchFamily="34" charset="0"/>
              </a:rPr>
              <a:t>): Yaş ve </a:t>
            </a:r>
            <a:r>
              <a:rPr lang="tr-TR" dirty="0" err="1">
                <a:latin typeface="Segoe UI" panose="020B0502040204020203" pitchFamily="34" charset="0"/>
              </a:rPr>
              <a:t>diger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kovaryatlar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duzeltilmis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44346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İstatistiksel Analiz Yöntemleri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TANIMI </a:t>
            </a:r>
            <a:r>
              <a:rPr lang="tr-TR" dirty="0" err="1">
                <a:latin typeface="Segoe UI" panose="020B0502040204020203" pitchFamily="34" charset="0"/>
              </a:rPr>
              <a:t>LAYICI</a:t>
            </a:r>
            <a:r>
              <a:rPr lang="tr-TR" dirty="0">
                <a:latin typeface="Segoe UI" panose="020B0502040204020203" pitchFamily="34" charset="0"/>
              </a:rPr>
              <a:t> İSTATİSTİKLER: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Surekli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degiskenler</a:t>
            </a:r>
            <a:r>
              <a:rPr lang="tr-TR" dirty="0">
                <a:latin typeface="Segoe UI" panose="020B0502040204020203" pitchFamily="34" charset="0"/>
              </a:rPr>
              <a:t>: Ortalama (</a:t>
            </a:r>
            <a:r>
              <a:rPr lang="tr-TR" dirty="0" err="1">
                <a:latin typeface="Segoe UI" panose="020B0502040204020203" pitchFamily="34" charset="0"/>
              </a:rPr>
              <a:t>SS</a:t>
            </a:r>
            <a:r>
              <a:rPr lang="tr-TR" dirty="0">
                <a:latin typeface="Segoe UI" panose="020B0502040204020203" pitchFamily="34" charset="0"/>
              </a:rPr>
              <a:t>), medyan (</a:t>
            </a:r>
            <a:r>
              <a:rPr lang="tr-TR" dirty="0" err="1">
                <a:latin typeface="Segoe UI" panose="020B0502040204020203" pitchFamily="34" charset="0"/>
              </a:rPr>
              <a:t>IQR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Kategorik </a:t>
            </a:r>
            <a:r>
              <a:rPr lang="tr-TR" dirty="0" err="1">
                <a:latin typeface="Segoe UI" panose="020B0502040204020203" pitchFamily="34" charset="0"/>
              </a:rPr>
              <a:t>degiskenler</a:t>
            </a:r>
            <a:r>
              <a:rPr lang="tr-TR" dirty="0">
                <a:latin typeface="Segoe UI" panose="020B0502040204020203" pitchFamily="34" charset="0"/>
              </a:rPr>
              <a:t>: Frekans (%)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Grup </a:t>
            </a:r>
            <a:r>
              <a:rPr lang="tr-TR" dirty="0" err="1">
                <a:latin typeface="Segoe UI" panose="020B0502040204020203" pitchFamily="34" charset="0"/>
              </a:rPr>
              <a:t>karsilastirmalari</a:t>
            </a:r>
            <a:r>
              <a:rPr lang="tr-TR" dirty="0">
                <a:latin typeface="Segoe UI" panose="020B0502040204020203" pitchFamily="34" charset="0"/>
              </a:rPr>
              <a:t>: t-test, </a:t>
            </a:r>
            <a:r>
              <a:rPr lang="tr-TR" dirty="0" err="1">
                <a:latin typeface="Segoe UI" panose="020B0502040204020203" pitchFamily="34" charset="0"/>
              </a:rPr>
              <a:t>ANOVA</a:t>
            </a:r>
            <a:r>
              <a:rPr lang="tr-TR" dirty="0">
                <a:latin typeface="Segoe UI" panose="020B0502040204020203" pitchFamily="34" charset="0"/>
              </a:rPr>
              <a:t>, Ki-kare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EPIGENETIK</a:t>
            </a:r>
            <a:r>
              <a:rPr lang="tr-TR" dirty="0">
                <a:latin typeface="Segoe UI" panose="020B0502040204020203" pitchFamily="34" charset="0"/>
              </a:rPr>
              <a:t> YAŞ </a:t>
            </a:r>
            <a:r>
              <a:rPr lang="tr-TR" dirty="0" err="1">
                <a:latin typeface="Segoe UI" panose="020B0502040204020203" pitchFamily="34" charset="0"/>
              </a:rPr>
              <a:t>İVMELENMESI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ANALİZI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Lineer regresyon: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~ Madde Durumu + </a:t>
            </a:r>
            <a:r>
              <a:rPr lang="tr-TR" dirty="0" err="1">
                <a:latin typeface="Segoe UI" panose="020B0502040204020203" pitchFamily="34" charset="0"/>
              </a:rPr>
              <a:t>Kovaryatlar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Kovaryatlar</a:t>
            </a:r>
            <a:r>
              <a:rPr lang="tr-TR" dirty="0">
                <a:latin typeface="Segoe UI" panose="020B0502040204020203" pitchFamily="34" charset="0"/>
              </a:rPr>
              <a:t>: Yaş, cinsiyet, etnisite, </a:t>
            </a:r>
            <a:r>
              <a:rPr lang="tr-TR" dirty="0" err="1">
                <a:latin typeface="Segoe UI" panose="020B0502040204020203" pitchFamily="34" charset="0"/>
              </a:rPr>
              <a:t>BMI</a:t>
            </a:r>
            <a:r>
              <a:rPr lang="tr-TR" dirty="0">
                <a:latin typeface="Segoe UI" panose="020B0502040204020203" pitchFamily="34" charset="0"/>
              </a:rPr>
              <a:t>, sigara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Coklu</a:t>
            </a:r>
            <a:r>
              <a:rPr lang="tr-TR" dirty="0">
                <a:latin typeface="Segoe UI" panose="020B0502040204020203" pitchFamily="34" charset="0"/>
              </a:rPr>
              <a:t> test </a:t>
            </a:r>
            <a:r>
              <a:rPr lang="tr-TR" dirty="0" err="1">
                <a:latin typeface="Segoe UI" panose="020B0502040204020203" pitchFamily="34" charset="0"/>
              </a:rPr>
              <a:t>duzeltmesi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Bonferroni</a:t>
            </a:r>
            <a:r>
              <a:rPr lang="tr-TR" dirty="0">
                <a:latin typeface="Segoe UI" panose="020B0502040204020203" pitchFamily="34" charset="0"/>
              </a:rPr>
              <a:t> ve </a:t>
            </a:r>
            <a:r>
              <a:rPr lang="tr-TR" dirty="0" err="1">
                <a:latin typeface="Segoe UI" panose="020B0502040204020203" pitchFamily="34" charset="0"/>
              </a:rPr>
              <a:t>FDR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ETKI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BUYUKLUGU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Cohen's</a:t>
            </a:r>
            <a:r>
              <a:rPr lang="tr-TR" dirty="0">
                <a:latin typeface="Segoe UI" panose="020B0502040204020203" pitchFamily="34" charset="0"/>
              </a:rPr>
              <a:t> d = (</a:t>
            </a:r>
            <a:r>
              <a:rPr lang="tr-TR" dirty="0" err="1">
                <a:latin typeface="Segoe UI" panose="020B0502040204020203" pitchFamily="34" charset="0"/>
              </a:rPr>
              <a:t>M1</a:t>
            </a:r>
            <a:r>
              <a:rPr lang="tr-TR" dirty="0">
                <a:latin typeface="Segoe UI" panose="020B0502040204020203" pitchFamily="34" charset="0"/>
              </a:rPr>
              <a:t> - </a:t>
            </a:r>
            <a:r>
              <a:rPr lang="tr-TR" dirty="0" err="1">
                <a:latin typeface="Segoe UI" panose="020B0502040204020203" pitchFamily="34" charset="0"/>
              </a:rPr>
              <a:t>M2</a:t>
            </a:r>
            <a:r>
              <a:rPr lang="tr-TR" dirty="0">
                <a:latin typeface="Segoe UI" panose="020B0502040204020203" pitchFamily="34" charset="0"/>
              </a:rPr>
              <a:t>) / </a:t>
            </a:r>
            <a:r>
              <a:rPr lang="tr-TR" dirty="0" err="1">
                <a:latin typeface="Segoe UI" panose="020B0502040204020203" pitchFamily="34" charset="0"/>
              </a:rPr>
              <a:t>pooled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SD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d &lt; 0.2: </a:t>
            </a:r>
            <a:r>
              <a:rPr lang="tr-TR" dirty="0" err="1">
                <a:latin typeface="Segoe UI" panose="020B0502040204020203" pitchFamily="34" charset="0"/>
              </a:rPr>
              <a:t>Kucuk</a:t>
            </a:r>
            <a:r>
              <a:rPr lang="tr-TR" dirty="0">
                <a:latin typeface="Segoe UI" panose="020B0502040204020203" pitchFamily="34" charset="0"/>
              </a:rPr>
              <a:t>, 0.2-0.8: Orta, &gt; 0.8: </a:t>
            </a:r>
            <a:r>
              <a:rPr lang="tr-TR" dirty="0" err="1">
                <a:latin typeface="Segoe UI" panose="020B0502040204020203" pitchFamily="34" charset="0"/>
              </a:rPr>
              <a:t>Buyuk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DIFERANSIYEL</a:t>
            </a:r>
            <a:r>
              <a:rPr lang="tr-TR" dirty="0">
                <a:latin typeface="Segoe UI" panose="020B0502040204020203" pitchFamily="34" charset="0"/>
              </a:rPr>
              <a:t> METİLASYON </a:t>
            </a:r>
            <a:r>
              <a:rPr lang="tr-TR" dirty="0" err="1">
                <a:latin typeface="Segoe UI" panose="020B0502040204020203" pitchFamily="34" charset="0"/>
              </a:rPr>
              <a:t>ANALİZI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Lineer model (</a:t>
            </a:r>
            <a:r>
              <a:rPr lang="tr-TR" dirty="0" err="1">
                <a:latin typeface="Segoe UI" panose="020B0502040204020203" pitchFamily="34" charset="0"/>
              </a:rPr>
              <a:t>limma</a:t>
            </a:r>
            <a:r>
              <a:rPr lang="tr-TR" dirty="0">
                <a:latin typeface="Segoe UI" panose="020B0502040204020203" pitchFamily="34" charset="0"/>
              </a:rPr>
              <a:t> paketi)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beta_delta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threshold</a:t>
            </a:r>
            <a:r>
              <a:rPr lang="tr-TR" dirty="0">
                <a:latin typeface="Segoe UI" panose="020B0502040204020203" pitchFamily="34" charset="0"/>
              </a:rPr>
              <a:t>: |Delta beta| &gt; 0.05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p-</a:t>
            </a:r>
            <a:r>
              <a:rPr lang="tr-TR" dirty="0" err="1">
                <a:latin typeface="Segoe UI" panose="020B0502040204020203" pitchFamily="34" charset="0"/>
              </a:rPr>
              <a:t>deger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thresholdu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FDR</a:t>
            </a:r>
            <a:r>
              <a:rPr lang="tr-TR" dirty="0">
                <a:latin typeface="Segoe UI" panose="020B0502040204020203" pitchFamily="34" charset="0"/>
              </a:rPr>
              <a:t> &lt; 0.05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YAZILIM: R 4.2.0, Python 3.10, </a:t>
            </a:r>
            <a:r>
              <a:rPr lang="tr-TR" dirty="0" err="1">
                <a:latin typeface="Segoe UI" panose="020B0502040204020203" pitchFamily="34" charset="0"/>
              </a:rPr>
              <a:t>scikit-learn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statsmodels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89589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Mediyasyon</a:t>
            </a:r>
            <a:r>
              <a:rPr lang="tr-TR" dirty="0">
                <a:latin typeface="Segoe UI" panose="020B0502040204020203" pitchFamily="34" charset="0"/>
              </a:rPr>
              <a:t> Analizi Metodolojisi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94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TEORİK TEMEL: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Mediyasyon</a:t>
            </a:r>
            <a:r>
              <a:rPr lang="tr-TR" dirty="0">
                <a:latin typeface="Segoe UI" panose="020B0502040204020203" pitchFamily="34" charset="0"/>
              </a:rPr>
              <a:t> analizi, </a:t>
            </a:r>
            <a:r>
              <a:rPr lang="tr-TR" dirty="0" err="1">
                <a:latin typeface="Segoe UI" panose="020B0502040204020203" pitchFamily="34" charset="0"/>
              </a:rPr>
              <a:t>bagimsiz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degiskenin</a:t>
            </a:r>
            <a:r>
              <a:rPr lang="tr-TR" dirty="0">
                <a:latin typeface="Segoe UI" panose="020B0502040204020203" pitchFamily="34" charset="0"/>
              </a:rPr>
              <a:t> (X: madde </a:t>
            </a:r>
            <a:r>
              <a:rPr lang="tr-TR" dirty="0" err="1">
                <a:latin typeface="Segoe UI" panose="020B0502040204020203" pitchFamily="34" charset="0"/>
              </a:rPr>
              <a:t>kullanimi</a:t>
            </a:r>
            <a:r>
              <a:rPr lang="tr-TR" dirty="0">
                <a:latin typeface="Segoe UI" panose="020B0502040204020203" pitchFamily="34" charset="0"/>
              </a:rPr>
              <a:t>) </a:t>
            </a:r>
            <a:r>
              <a:rPr lang="tr-TR" dirty="0" err="1">
                <a:latin typeface="Segoe UI" panose="020B0502040204020203" pitchFamily="34" charset="0"/>
              </a:rPr>
              <a:t>bagimli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degisken</a:t>
            </a:r>
            <a:r>
              <a:rPr lang="tr-TR" dirty="0">
                <a:latin typeface="Segoe UI" panose="020B0502040204020203" pitchFamily="34" charset="0"/>
              </a:rPr>
              <a:t> (Y: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) </a:t>
            </a:r>
            <a:r>
              <a:rPr lang="tr-TR" dirty="0" err="1">
                <a:latin typeface="Segoe UI" panose="020B0502040204020203" pitchFamily="34" charset="0"/>
              </a:rPr>
              <a:t>uzerindeki</a:t>
            </a:r>
            <a:r>
              <a:rPr lang="tr-TR" dirty="0">
                <a:latin typeface="Segoe UI" panose="020B0502040204020203" pitchFamily="34" charset="0"/>
              </a:rPr>
              <a:t> etkisinin bir </a:t>
            </a:r>
            <a:r>
              <a:rPr lang="tr-TR" dirty="0" err="1">
                <a:latin typeface="Segoe UI" panose="020B0502040204020203" pitchFamily="34" charset="0"/>
              </a:rPr>
              <a:t>kismininin</a:t>
            </a:r>
            <a:r>
              <a:rPr lang="tr-TR" dirty="0">
                <a:latin typeface="Segoe UI" panose="020B0502040204020203" pitchFamily="34" charset="0"/>
              </a:rPr>
              <a:t> bir </a:t>
            </a:r>
            <a:r>
              <a:rPr lang="tr-TR" dirty="0" err="1">
                <a:latin typeface="Segoe UI" panose="020B0502040204020203" pitchFamily="34" charset="0"/>
              </a:rPr>
              <a:t>mediyator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degisken</a:t>
            </a:r>
            <a:r>
              <a:rPr lang="tr-TR" dirty="0">
                <a:latin typeface="Segoe UI" panose="020B0502040204020203" pitchFamily="34" charset="0"/>
              </a:rPr>
              <a:t> (M) </a:t>
            </a:r>
            <a:r>
              <a:rPr lang="tr-TR" dirty="0" err="1">
                <a:latin typeface="Segoe UI" panose="020B0502040204020203" pitchFamily="34" charset="0"/>
              </a:rPr>
              <a:t>araciligiyla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gerceklesip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gerceklesmedegini</a:t>
            </a:r>
            <a:r>
              <a:rPr lang="tr-TR" dirty="0">
                <a:latin typeface="Segoe UI" panose="020B0502040204020203" pitchFamily="34" charset="0"/>
              </a:rPr>
              <a:t> test eder.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BARON VE </a:t>
            </a:r>
            <a:r>
              <a:rPr lang="tr-TR" dirty="0" err="1">
                <a:latin typeface="Segoe UI" panose="020B0502040204020203" pitchFamily="34" charset="0"/>
              </a:rPr>
              <a:t>KENNY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YAKLASIMI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1. X -&gt; Y </a:t>
            </a:r>
            <a:r>
              <a:rPr lang="tr-TR" dirty="0" err="1">
                <a:latin typeface="Segoe UI" panose="020B0502040204020203" pitchFamily="34" charset="0"/>
              </a:rPr>
              <a:t>anlamli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olmali</a:t>
            </a:r>
            <a:r>
              <a:rPr lang="tr-TR" dirty="0">
                <a:latin typeface="Segoe UI" panose="020B0502040204020203" pitchFamily="34" charset="0"/>
              </a:rPr>
              <a:t> (c yolu)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2. X -&gt; M </a:t>
            </a:r>
            <a:r>
              <a:rPr lang="tr-TR" dirty="0" err="1">
                <a:latin typeface="Segoe UI" panose="020B0502040204020203" pitchFamily="34" charset="0"/>
              </a:rPr>
              <a:t>anlamli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olmali</a:t>
            </a:r>
            <a:r>
              <a:rPr lang="tr-TR" dirty="0">
                <a:latin typeface="Segoe UI" panose="020B0502040204020203" pitchFamily="34" charset="0"/>
              </a:rPr>
              <a:t> (a yolu)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3. M -&gt; Y (X kontrol </a:t>
            </a:r>
            <a:r>
              <a:rPr lang="tr-TR" dirty="0" err="1">
                <a:latin typeface="Segoe UI" panose="020B0502040204020203" pitchFamily="34" charset="0"/>
              </a:rPr>
              <a:t>edildiginde</a:t>
            </a:r>
            <a:r>
              <a:rPr lang="tr-TR" dirty="0">
                <a:latin typeface="Segoe UI" panose="020B0502040204020203" pitchFamily="34" charset="0"/>
              </a:rPr>
              <a:t>) </a:t>
            </a:r>
            <a:r>
              <a:rPr lang="tr-TR" dirty="0" err="1">
                <a:latin typeface="Segoe UI" panose="020B0502040204020203" pitchFamily="34" charset="0"/>
              </a:rPr>
              <a:t>anlamli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olmali</a:t>
            </a:r>
            <a:r>
              <a:rPr lang="tr-TR" dirty="0">
                <a:latin typeface="Segoe UI" panose="020B0502040204020203" pitchFamily="34" charset="0"/>
              </a:rPr>
              <a:t> (b yolu)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4. X -&gt; Y (M kontrol </a:t>
            </a:r>
            <a:r>
              <a:rPr lang="tr-TR" dirty="0" err="1">
                <a:latin typeface="Segoe UI" panose="020B0502040204020203" pitchFamily="34" charset="0"/>
              </a:rPr>
              <a:t>edildiginde</a:t>
            </a:r>
            <a:r>
              <a:rPr lang="tr-TR" dirty="0">
                <a:latin typeface="Segoe UI" panose="020B0502040204020203" pitchFamily="34" charset="0"/>
              </a:rPr>
              <a:t>) </a:t>
            </a:r>
            <a:r>
              <a:rPr lang="tr-TR" dirty="0" err="1">
                <a:latin typeface="Segoe UI" panose="020B0502040204020203" pitchFamily="34" charset="0"/>
              </a:rPr>
              <a:t>azalmali</a:t>
            </a:r>
            <a:r>
              <a:rPr lang="tr-TR" dirty="0">
                <a:latin typeface="Segoe UI" panose="020B0502040204020203" pitchFamily="34" charset="0"/>
              </a:rPr>
              <a:t> (c' yolu)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INDIREKT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ETKI</a:t>
            </a:r>
            <a:r>
              <a:rPr lang="tr-TR" dirty="0">
                <a:latin typeface="Segoe UI" panose="020B0502040204020203" pitchFamily="34" charset="0"/>
              </a:rPr>
              <a:t> Hesabı: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Indirect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Effect</a:t>
            </a:r>
            <a:r>
              <a:rPr lang="tr-TR" dirty="0">
                <a:latin typeface="Segoe UI" panose="020B0502040204020203" pitchFamily="34" charset="0"/>
              </a:rPr>
              <a:t> = a * b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Bootstrap</a:t>
            </a:r>
            <a:r>
              <a:rPr lang="tr-TR" dirty="0">
                <a:latin typeface="Segoe UI" panose="020B0502040204020203" pitchFamily="34" charset="0"/>
              </a:rPr>
              <a:t> (10,000 </a:t>
            </a:r>
            <a:r>
              <a:rPr lang="tr-TR" dirty="0" err="1">
                <a:latin typeface="Segoe UI" panose="020B0502040204020203" pitchFamily="34" charset="0"/>
              </a:rPr>
              <a:t>resampling</a:t>
            </a:r>
            <a:r>
              <a:rPr lang="tr-TR" dirty="0">
                <a:latin typeface="Segoe UI" panose="020B0502040204020203" pitchFamily="34" charset="0"/>
              </a:rPr>
              <a:t>) ile %95 </a:t>
            </a:r>
            <a:r>
              <a:rPr lang="tr-TR" dirty="0" err="1">
                <a:latin typeface="Segoe UI" panose="020B0502040204020203" pitchFamily="34" charset="0"/>
              </a:rPr>
              <a:t>guven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araligi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Sobel</a:t>
            </a:r>
            <a:r>
              <a:rPr lang="tr-TR" dirty="0">
                <a:latin typeface="Segoe UI" panose="020B0502040204020203" pitchFamily="34" charset="0"/>
              </a:rPr>
              <a:t> test ile istatistiksel </a:t>
            </a:r>
            <a:r>
              <a:rPr lang="tr-TR" dirty="0" err="1">
                <a:latin typeface="Segoe UI" panose="020B0502040204020203" pitchFamily="34" charset="0"/>
              </a:rPr>
              <a:t>anlamlilik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MEDIYATORLER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Insulin</a:t>
            </a:r>
            <a:r>
              <a:rPr lang="tr-TR" dirty="0">
                <a:latin typeface="Segoe UI" panose="020B0502040204020203" pitchFamily="34" charset="0"/>
              </a:rPr>
              <a:t> Direnci (</a:t>
            </a:r>
            <a:r>
              <a:rPr lang="tr-TR" dirty="0" err="1">
                <a:latin typeface="Segoe UI" panose="020B0502040204020203" pitchFamily="34" charset="0"/>
              </a:rPr>
              <a:t>HOMA-IR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HPA</a:t>
            </a:r>
            <a:r>
              <a:rPr lang="tr-TR" dirty="0">
                <a:latin typeface="Segoe UI" panose="020B0502040204020203" pitchFamily="34" charset="0"/>
              </a:rPr>
              <a:t> Eksen (Kortizol/</a:t>
            </a:r>
            <a:r>
              <a:rPr lang="tr-TR" dirty="0" err="1">
                <a:latin typeface="Segoe UI" panose="020B0502040204020203" pitchFamily="34" charset="0"/>
              </a:rPr>
              <a:t>ACTH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orani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Sistemik </a:t>
            </a:r>
            <a:r>
              <a:rPr lang="tr-TR" dirty="0" err="1">
                <a:latin typeface="Segoe UI" panose="020B0502040204020203" pitchFamily="34" charset="0"/>
              </a:rPr>
              <a:t>Inflamasyon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CRP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IL</a:t>
            </a:r>
            <a:r>
              <a:rPr lang="tr-TR" dirty="0">
                <a:latin typeface="Segoe UI" panose="020B0502040204020203" pitchFamily="34" charset="0"/>
              </a:rPr>
              <a:t>-6)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YAZILIM: Hayes </a:t>
            </a:r>
            <a:r>
              <a:rPr lang="tr-TR" dirty="0" err="1">
                <a:latin typeface="Segoe UI" panose="020B0502040204020203" pitchFamily="34" charset="0"/>
              </a:rPr>
              <a:t>PROCESS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macro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lavaan</a:t>
            </a:r>
            <a:r>
              <a:rPr lang="tr-TR" dirty="0">
                <a:latin typeface="Segoe UI" panose="020B0502040204020203" pitchFamily="34" charset="0"/>
              </a:rPr>
              <a:t> R paketi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9519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Moderasyon</a:t>
            </a:r>
            <a:r>
              <a:rPr lang="tr-TR" dirty="0">
                <a:latin typeface="Segoe UI" panose="020B0502040204020203" pitchFamily="34" charset="0"/>
              </a:rPr>
              <a:t> Analizi Metodolojisi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944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TEORİK TEMEL: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Moderasyon</a:t>
            </a:r>
            <a:r>
              <a:rPr lang="tr-TR" dirty="0">
                <a:latin typeface="Segoe UI" panose="020B0502040204020203" pitchFamily="34" charset="0"/>
              </a:rPr>
              <a:t> analizi, </a:t>
            </a:r>
            <a:r>
              <a:rPr lang="tr-TR" dirty="0" err="1">
                <a:latin typeface="Segoe UI" panose="020B0502040204020203" pitchFamily="34" charset="0"/>
              </a:rPr>
              <a:t>bagimsiz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degiskenin</a:t>
            </a:r>
            <a:r>
              <a:rPr lang="tr-TR" dirty="0">
                <a:latin typeface="Segoe UI" panose="020B0502040204020203" pitchFamily="34" charset="0"/>
              </a:rPr>
              <a:t> (X) </a:t>
            </a:r>
            <a:r>
              <a:rPr lang="tr-TR" dirty="0" err="1">
                <a:latin typeface="Segoe UI" panose="020B0502040204020203" pitchFamily="34" charset="0"/>
              </a:rPr>
              <a:t>bagimli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degisken</a:t>
            </a:r>
            <a:r>
              <a:rPr lang="tr-TR" dirty="0">
                <a:latin typeface="Segoe UI" panose="020B0502040204020203" pitchFamily="34" charset="0"/>
              </a:rPr>
              <a:t> (Y) </a:t>
            </a:r>
            <a:r>
              <a:rPr lang="tr-TR" dirty="0" err="1">
                <a:latin typeface="Segoe UI" panose="020B0502040204020203" pitchFamily="34" charset="0"/>
              </a:rPr>
              <a:t>uzerindeki</a:t>
            </a:r>
            <a:r>
              <a:rPr lang="tr-TR" dirty="0">
                <a:latin typeface="Segoe UI" panose="020B0502040204020203" pitchFamily="34" charset="0"/>
              </a:rPr>
              <a:t> etkisinin bir </a:t>
            </a:r>
            <a:r>
              <a:rPr lang="tr-TR" dirty="0" err="1">
                <a:latin typeface="Segoe UI" panose="020B0502040204020203" pitchFamily="34" charset="0"/>
              </a:rPr>
              <a:t>moderator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degisken</a:t>
            </a:r>
            <a:r>
              <a:rPr lang="tr-TR" dirty="0">
                <a:latin typeface="Segoe UI" panose="020B0502040204020203" pitchFamily="34" charset="0"/>
              </a:rPr>
              <a:t> (W) </a:t>
            </a:r>
            <a:r>
              <a:rPr lang="tr-TR" dirty="0" err="1">
                <a:latin typeface="Segoe UI" panose="020B0502040204020203" pitchFamily="34" charset="0"/>
              </a:rPr>
              <a:t>tarafindan</a:t>
            </a:r>
            <a:r>
              <a:rPr lang="tr-TR" dirty="0">
                <a:latin typeface="Segoe UI" panose="020B0502040204020203" pitchFamily="34" charset="0"/>
              </a:rPr>
              <a:t> etkilenip </a:t>
            </a:r>
            <a:r>
              <a:rPr lang="tr-TR" dirty="0" err="1">
                <a:latin typeface="Segoe UI" panose="020B0502040204020203" pitchFamily="34" charset="0"/>
              </a:rPr>
              <a:t>etkilenmedegini</a:t>
            </a:r>
            <a:r>
              <a:rPr lang="tr-TR" dirty="0">
                <a:latin typeface="Segoe UI" panose="020B0502040204020203" pitchFamily="34" charset="0"/>
              </a:rPr>
              <a:t> test eder.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ETKILESIM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MODELI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Y = </a:t>
            </a:r>
            <a:r>
              <a:rPr lang="tr-TR" dirty="0" err="1">
                <a:latin typeface="Segoe UI" panose="020B0502040204020203" pitchFamily="34" charset="0"/>
              </a:rPr>
              <a:t>b0</a:t>
            </a:r>
            <a:r>
              <a:rPr lang="tr-TR" dirty="0">
                <a:latin typeface="Segoe UI" panose="020B0502040204020203" pitchFamily="34" charset="0"/>
              </a:rPr>
              <a:t> + </a:t>
            </a:r>
            <a:r>
              <a:rPr lang="tr-TR" dirty="0" err="1">
                <a:latin typeface="Segoe UI" panose="020B0502040204020203" pitchFamily="34" charset="0"/>
              </a:rPr>
              <a:t>b1</a:t>
            </a:r>
            <a:r>
              <a:rPr lang="tr-TR" dirty="0">
                <a:latin typeface="Segoe UI" panose="020B0502040204020203" pitchFamily="34" charset="0"/>
              </a:rPr>
              <a:t>*X + </a:t>
            </a:r>
            <a:r>
              <a:rPr lang="tr-TR" dirty="0" err="1">
                <a:latin typeface="Segoe UI" panose="020B0502040204020203" pitchFamily="34" charset="0"/>
              </a:rPr>
              <a:t>b2</a:t>
            </a:r>
            <a:r>
              <a:rPr lang="tr-TR" dirty="0">
                <a:latin typeface="Segoe UI" panose="020B0502040204020203" pitchFamily="34" charset="0"/>
              </a:rPr>
              <a:t>*W + </a:t>
            </a:r>
            <a:r>
              <a:rPr lang="tr-TR" dirty="0" err="1">
                <a:latin typeface="Segoe UI" panose="020B0502040204020203" pitchFamily="34" charset="0"/>
              </a:rPr>
              <a:t>b3</a:t>
            </a:r>
            <a:r>
              <a:rPr lang="tr-TR" dirty="0">
                <a:latin typeface="Segoe UI" panose="020B0502040204020203" pitchFamily="34" charset="0"/>
              </a:rPr>
              <a:t>*X*W + 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b3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Etkilesim</a:t>
            </a:r>
            <a:r>
              <a:rPr lang="tr-TR" dirty="0">
                <a:latin typeface="Segoe UI" panose="020B0502040204020203" pitchFamily="34" charset="0"/>
              </a:rPr>
              <a:t> terimi (</a:t>
            </a:r>
            <a:r>
              <a:rPr lang="tr-TR" dirty="0" err="1">
                <a:latin typeface="Segoe UI" panose="020B0502040204020203" pitchFamily="34" charset="0"/>
              </a:rPr>
              <a:t>moderasyon</a:t>
            </a:r>
            <a:r>
              <a:rPr lang="tr-TR" dirty="0">
                <a:latin typeface="Segoe UI" panose="020B0502040204020203" pitchFamily="34" charset="0"/>
              </a:rPr>
              <a:t> etkisi)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Anlamli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b3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Moderasyon</a:t>
            </a:r>
            <a:r>
              <a:rPr lang="tr-TR" dirty="0">
                <a:latin typeface="Segoe UI" panose="020B0502040204020203" pitchFamily="34" charset="0"/>
              </a:rPr>
              <a:t> mevcut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SIMPLE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SLOPES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ANALİZI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Moderator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dusuk</a:t>
            </a:r>
            <a:r>
              <a:rPr lang="tr-TR" dirty="0">
                <a:latin typeface="Segoe UI" panose="020B0502040204020203" pitchFamily="34" charset="0"/>
              </a:rPr>
              <a:t> seviyede (-1 </a:t>
            </a:r>
            <a:r>
              <a:rPr lang="tr-TR" dirty="0" err="1">
                <a:latin typeface="Segoe UI" panose="020B0502040204020203" pitchFamily="34" charset="0"/>
              </a:rPr>
              <a:t>SD</a:t>
            </a:r>
            <a:r>
              <a:rPr lang="tr-TR" dirty="0">
                <a:latin typeface="Segoe UI" panose="020B0502040204020203" pitchFamily="34" charset="0"/>
              </a:rPr>
              <a:t>): Etki </a:t>
            </a:r>
            <a:r>
              <a:rPr lang="tr-TR" dirty="0" err="1">
                <a:latin typeface="Segoe UI" panose="020B0502040204020203" pitchFamily="34" charset="0"/>
              </a:rPr>
              <a:t>buyuklugu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Moderator</a:t>
            </a:r>
            <a:r>
              <a:rPr lang="tr-TR" dirty="0">
                <a:latin typeface="Segoe UI" panose="020B0502040204020203" pitchFamily="34" charset="0"/>
              </a:rPr>
              <a:t> ortalama seviyede: Etki </a:t>
            </a:r>
            <a:r>
              <a:rPr lang="tr-TR" dirty="0" err="1">
                <a:latin typeface="Segoe UI" panose="020B0502040204020203" pitchFamily="34" charset="0"/>
              </a:rPr>
              <a:t>buyuklugu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Moderator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seviyede (+1 </a:t>
            </a:r>
            <a:r>
              <a:rPr lang="tr-TR" dirty="0" err="1">
                <a:latin typeface="Segoe UI" panose="020B0502040204020203" pitchFamily="34" charset="0"/>
              </a:rPr>
              <a:t>SD</a:t>
            </a:r>
            <a:r>
              <a:rPr lang="tr-TR" dirty="0">
                <a:latin typeface="Segoe UI" panose="020B0502040204020203" pitchFamily="34" charset="0"/>
              </a:rPr>
              <a:t>): Etki </a:t>
            </a:r>
            <a:r>
              <a:rPr lang="tr-TR" dirty="0" err="1">
                <a:latin typeface="Segoe UI" panose="020B0502040204020203" pitchFamily="34" charset="0"/>
              </a:rPr>
              <a:t>buyuklugu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JOHNSON-</a:t>
            </a:r>
            <a:r>
              <a:rPr lang="tr-TR" dirty="0" err="1">
                <a:latin typeface="Segoe UI" panose="020B0502040204020203" pitchFamily="34" charset="0"/>
              </a:rPr>
              <a:t>NEYMAN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TEKNIGI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Moderatorun</a:t>
            </a:r>
            <a:r>
              <a:rPr lang="tr-TR" dirty="0">
                <a:latin typeface="Segoe UI" panose="020B0502040204020203" pitchFamily="34" charset="0"/>
              </a:rPr>
              <a:t> hangi </a:t>
            </a:r>
            <a:r>
              <a:rPr lang="tr-TR" dirty="0" err="1">
                <a:latin typeface="Segoe UI" panose="020B0502040204020203" pitchFamily="34" charset="0"/>
              </a:rPr>
              <a:t>degerinde</a:t>
            </a:r>
            <a:r>
              <a:rPr lang="tr-TR" dirty="0">
                <a:latin typeface="Segoe UI" panose="020B0502040204020203" pitchFamily="34" charset="0"/>
              </a:rPr>
              <a:t> etki </a:t>
            </a:r>
            <a:r>
              <a:rPr lang="tr-TR" dirty="0" err="1">
                <a:latin typeface="Segoe UI" panose="020B0502040204020203" pitchFamily="34" charset="0"/>
              </a:rPr>
              <a:t>anlamli</a:t>
            </a:r>
            <a:r>
              <a:rPr lang="tr-TR" dirty="0">
                <a:latin typeface="Segoe UI" panose="020B0502040204020203" pitchFamily="34" charset="0"/>
              </a:rPr>
              <a:t> hale gelir?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'</a:t>
            </a:r>
            <a:r>
              <a:rPr lang="tr-TR" dirty="0" err="1">
                <a:latin typeface="Segoe UI" panose="020B0502040204020203" pitchFamily="34" charset="0"/>
              </a:rPr>
              <a:t>Region</a:t>
            </a:r>
            <a:r>
              <a:rPr lang="tr-TR" dirty="0">
                <a:latin typeface="Segoe UI" panose="020B0502040204020203" pitchFamily="34" charset="0"/>
              </a:rPr>
              <a:t> of </a:t>
            </a:r>
            <a:r>
              <a:rPr lang="tr-TR" dirty="0" err="1">
                <a:latin typeface="Segoe UI" panose="020B0502040204020203" pitchFamily="34" charset="0"/>
              </a:rPr>
              <a:t>significance</a:t>
            </a:r>
            <a:r>
              <a:rPr lang="tr-TR" dirty="0">
                <a:latin typeface="Segoe UI" panose="020B0502040204020203" pitchFamily="34" charset="0"/>
              </a:rPr>
              <a:t>' </a:t>
            </a:r>
            <a:r>
              <a:rPr lang="tr-TR" dirty="0" err="1">
                <a:latin typeface="Segoe UI" panose="020B0502040204020203" pitchFamily="34" charset="0"/>
              </a:rPr>
              <a:t>tanimlanir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MODERATORLER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Duygu Düzenleme (DERS - </a:t>
            </a:r>
            <a:r>
              <a:rPr lang="tr-TR" dirty="0" err="1">
                <a:latin typeface="Segoe UI" panose="020B0502040204020203" pitchFamily="34" charset="0"/>
              </a:rPr>
              <a:t>Difficulties</a:t>
            </a:r>
            <a:r>
              <a:rPr lang="tr-TR" dirty="0">
                <a:latin typeface="Segoe UI" panose="020B0502040204020203" pitchFamily="34" charset="0"/>
              </a:rPr>
              <a:t> in </a:t>
            </a:r>
            <a:r>
              <a:rPr lang="tr-TR" dirty="0" err="1">
                <a:latin typeface="Segoe UI" panose="020B0502040204020203" pitchFamily="34" charset="0"/>
              </a:rPr>
              <a:t>Emotion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Regulation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Scale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Oz</a:t>
            </a:r>
            <a:r>
              <a:rPr lang="tr-TR" dirty="0">
                <a:latin typeface="Segoe UI" panose="020B0502040204020203" pitchFamily="34" charset="0"/>
              </a:rPr>
              <a:t>-Kontrol (</a:t>
            </a:r>
            <a:r>
              <a:rPr lang="tr-TR" dirty="0" err="1">
                <a:latin typeface="Segoe UI" panose="020B0502040204020203" pitchFamily="34" charset="0"/>
              </a:rPr>
              <a:t>SCS</a:t>
            </a:r>
            <a:r>
              <a:rPr lang="tr-TR" dirty="0">
                <a:latin typeface="Segoe UI" panose="020B0502040204020203" pitchFamily="34" charset="0"/>
              </a:rPr>
              <a:t>-B - </a:t>
            </a:r>
            <a:r>
              <a:rPr lang="tr-TR" dirty="0" err="1">
                <a:latin typeface="Segoe UI" panose="020B0502040204020203" pitchFamily="34" charset="0"/>
              </a:rPr>
              <a:t>Brief</a:t>
            </a:r>
            <a:r>
              <a:rPr lang="tr-TR" dirty="0">
                <a:latin typeface="Segoe UI" panose="020B0502040204020203" pitchFamily="34" charset="0"/>
              </a:rPr>
              <a:t> Self-Control </a:t>
            </a:r>
            <a:r>
              <a:rPr lang="tr-TR" dirty="0" err="1">
                <a:latin typeface="Segoe UI" panose="020B0502040204020203" pitchFamily="34" charset="0"/>
              </a:rPr>
              <a:t>Scale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2724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Makine </a:t>
            </a:r>
            <a:r>
              <a:rPr lang="tr-TR" dirty="0" err="1">
                <a:latin typeface="Segoe UI" panose="020B0502040204020203" pitchFamily="34" charset="0"/>
              </a:rPr>
              <a:t>Ogrenmesi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Siniflandirma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Pipeline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AMAÇ: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DNA metilasyon profillerinden madde turu </a:t>
            </a:r>
            <a:r>
              <a:rPr lang="tr-TR" dirty="0" err="1">
                <a:latin typeface="Segoe UI" panose="020B0502040204020203" pitchFamily="34" charset="0"/>
              </a:rPr>
              <a:t>siniflandirmasi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OZELLIK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SECIMI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Diferansiyel metilasyon analizinden top 500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Variance-based</a:t>
            </a:r>
            <a:r>
              <a:rPr lang="tr-TR" dirty="0">
                <a:latin typeface="Segoe UI" panose="020B0502040204020203" pitchFamily="34" charset="0"/>
              </a:rPr>
              <a:t> filtreleme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Recursive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Feature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Elimination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RFE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MODEL </a:t>
            </a:r>
            <a:r>
              <a:rPr lang="tr-TR" dirty="0" err="1">
                <a:latin typeface="Segoe UI" panose="020B0502040204020203" pitchFamily="34" charset="0"/>
              </a:rPr>
              <a:t>ARSITEKTURISI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Random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Forest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Siniflandirici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n_estimators</a:t>
            </a:r>
            <a:r>
              <a:rPr lang="tr-TR" dirty="0">
                <a:latin typeface="Segoe UI" panose="020B0502040204020203" pitchFamily="34" charset="0"/>
              </a:rPr>
              <a:t> = 500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max_depth</a:t>
            </a:r>
            <a:r>
              <a:rPr lang="tr-TR" dirty="0">
                <a:latin typeface="Segoe UI" panose="020B0502040204020203" pitchFamily="34" charset="0"/>
              </a:rPr>
              <a:t> = 20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class_weight</a:t>
            </a:r>
            <a:r>
              <a:rPr lang="tr-TR" dirty="0">
                <a:latin typeface="Segoe UI" panose="020B0502040204020203" pitchFamily="34" charset="0"/>
              </a:rPr>
              <a:t> = '</a:t>
            </a:r>
            <a:r>
              <a:rPr lang="tr-TR" dirty="0" err="1">
                <a:latin typeface="Segoe UI" panose="020B0502040204020203" pitchFamily="34" charset="0"/>
              </a:rPr>
              <a:t>balanced</a:t>
            </a:r>
            <a:r>
              <a:rPr lang="tr-TR" dirty="0">
                <a:latin typeface="Segoe UI" panose="020B0502040204020203" pitchFamily="34" charset="0"/>
              </a:rPr>
              <a:t>' (dengesiz </a:t>
            </a:r>
            <a:r>
              <a:rPr lang="tr-TR" dirty="0" err="1">
                <a:latin typeface="Segoe UI" panose="020B0502040204020203" pitchFamily="34" charset="0"/>
              </a:rPr>
              <a:t>siniflar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VALIDASYON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STRATEJISI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- 10-</a:t>
            </a:r>
            <a:r>
              <a:rPr lang="tr-TR" dirty="0" err="1">
                <a:latin typeface="Segoe UI" panose="020B0502040204020203" pitchFamily="34" charset="0"/>
              </a:rPr>
              <a:t>fold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stratified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cross-validation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Holdout</a:t>
            </a:r>
            <a:r>
              <a:rPr lang="tr-TR" dirty="0">
                <a:latin typeface="Segoe UI" panose="020B0502040204020203" pitchFamily="34" charset="0"/>
              </a:rPr>
              <a:t> test seti (%20)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PERFORMANS </a:t>
            </a:r>
            <a:r>
              <a:rPr lang="tr-TR" dirty="0" err="1">
                <a:latin typeface="Segoe UI" panose="020B0502040204020203" pitchFamily="34" charset="0"/>
              </a:rPr>
              <a:t>METRIKLERI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Precision, </a:t>
            </a:r>
            <a:r>
              <a:rPr lang="tr-TR" dirty="0" err="1">
                <a:latin typeface="Segoe UI" panose="020B0502040204020203" pitchFamily="34" charset="0"/>
              </a:rPr>
              <a:t>Recall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F1-Score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ROC-AUC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multiclass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Confusion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matrix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51561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Postmortem Validasyon Metodolojisi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BEYIN</a:t>
            </a:r>
            <a:r>
              <a:rPr lang="tr-TR" dirty="0">
                <a:latin typeface="Segoe UI" panose="020B0502040204020203" pitchFamily="34" charset="0"/>
              </a:rPr>
              <a:t> DOKUSU </a:t>
            </a:r>
            <a:r>
              <a:rPr lang="tr-TR" dirty="0" err="1">
                <a:latin typeface="Segoe UI" panose="020B0502040204020203" pitchFamily="34" charset="0"/>
              </a:rPr>
              <a:t>ORNEKLERI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Toplam n = 108 postmortem </a:t>
            </a:r>
            <a:r>
              <a:rPr lang="tr-TR" dirty="0" err="1">
                <a:latin typeface="Segoe UI" panose="020B0502040204020203" pitchFamily="34" charset="0"/>
              </a:rPr>
              <a:t>ornek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PMI</a:t>
            </a:r>
            <a:r>
              <a:rPr lang="tr-TR" dirty="0">
                <a:latin typeface="Segoe UI" panose="020B0502040204020203" pitchFamily="34" charset="0"/>
              </a:rPr>
              <a:t> (Postmortem </a:t>
            </a:r>
            <a:r>
              <a:rPr lang="tr-TR" dirty="0" err="1">
                <a:latin typeface="Segoe UI" panose="020B0502040204020203" pitchFamily="34" charset="0"/>
              </a:rPr>
              <a:t>Interval</a:t>
            </a:r>
            <a:r>
              <a:rPr lang="tr-TR" dirty="0">
                <a:latin typeface="Segoe UI" panose="020B0502040204020203" pitchFamily="34" charset="0"/>
              </a:rPr>
              <a:t>) </a:t>
            </a:r>
            <a:r>
              <a:rPr lang="tr-TR" dirty="0" err="1">
                <a:latin typeface="Segoe UI" panose="020B0502040204020203" pitchFamily="34" charset="0"/>
              </a:rPr>
              <a:t>araligi</a:t>
            </a:r>
            <a:r>
              <a:rPr lang="tr-TR" dirty="0">
                <a:latin typeface="Segoe UI" panose="020B0502040204020203" pitchFamily="34" charset="0"/>
              </a:rPr>
              <a:t>: 6-48 saat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Doku pH </a:t>
            </a:r>
            <a:r>
              <a:rPr lang="tr-TR" dirty="0" err="1">
                <a:latin typeface="Segoe UI" panose="020B0502040204020203" pitchFamily="34" charset="0"/>
              </a:rPr>
              <a:t>araligi</a:t>
            </a:r>
            <a:r>
              <a:rPr lang="tr-TR" dirty="0">
                <a:latin typeface="Segoe UI" panose="020B0502040204020203" pitchFamily="34" charset="0"/>
              </a:rPr>
              <a:t>: 5.2-7.1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BEYIN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BOLGELERI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Prefrontal</a:t>
            </a:r>
            <a:r>
              <a:rPr lang="tr-TR" dirty="0">
                <a:latin typeface="Segoe UI" panose="020B0502040204020203" pitchFamily="34" charset="0"/>
              </a:rPr>
              <a:t> Korteks (n=48): Karar verme, </a:t>
            </a:r>
            <a:r>
              <a:rPr lang="tr-TR" dirty="0" err="1">
                <a:latin typeface="Segoe UI" panose="020B0502040204020203" pitchFamily="34" charset="0"/>
              </a:rPr>
              <a:t>durtü</a:t>
            </a:r>
            <a:r>
              <a:rPr lang="tr-TR" dirty="0">
                <a:latin typeface="Segoe UI" panose="020B0502040204020203" pitchFamily="34" charset="0"/>
              </a:rPr>
              <a:t> kontrolu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Nucleus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Accumbens</a:t>
            </a:r>
            <a:r>
              <a:rPr lang="tr-TR" dirty="0">
                <a:latin typeface="Segoe UI" panose="020B0502040204020203" pitchFamily="34" charset="0"/>
              </a:rPr>
              <a:t> (n=36): </a:t>
            </a:r>
            <a:r>
              <a:rPr lang="tr-TR" dirty="0" err="1">
                <a:latin typeface="Segoe UI" panose="020B0502040204020203" pitchFamily="34" charset="0"/>
              </a:rPr>
              <a:t>Odul</a:t>
            </a:r>
            <a:r>
              <a:rPr lang="tr-TR" dirty="0">
                <a:latin typeface="Segoe UI" panose="020B0502040204020203" pitchFamily="34" charset="0"/>
              </a:rPr>
              <a:t> sistemi, </a:t>
            </a:r>
            <a:r>
              <a:rPr lang="tr-TR" dirty="0" err="1">
                <a:latin typeface="Segoe UI" panose="020B0502040204020203" pitchFamily="34" charset="0"/>
              </a:rPr>
              <a:t>bagimlilik</a:t>
            </a:r>
            <a:r>
              <a:rPr lang="tr-TR" dirty="0">
                <a:latin typeface="Segoe UI" panose="020B0502040204020203" pitchFamily="34" charset="0"/>
              </a:rPr>
              <a:t> merkezi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Hippokampus</a:t>
            </a:r>
            <a:r>
              <a:rPr lang="tr-TR" dirty="0">
                <a:latin typeface="Segoe UI" panose="020B0502040204020203" pitchFamily="34" charset="0"/>
              </a:rPr>
              <a:t> (n=24): Bellek, </a:t>
            </a:r>
            <a:r>
              <a:rPr lang="tr-TR" dirty="0" err="1">
                <a:latin typeface="Segoe UI" panose="020B0502040204020203" pitchFamily="34" charset="0"/>
              </a:rPr>
              <a:t>ogrenme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PMI</a:t>
            </a:r>
            <a:r>
              <a:rPr lang="tr-TR" dirty="0">
                <a:latin typeface="Segoe UI" panose="020B0502040204020203" pitchFamily="34" charset="0"/>
              </a:rPr>
              <a:t> DÜZELTME </a:t>
            </a:r>
            <a:r>
              <a:rPr lang="tr-TR" dirty="0" err="1">
                <a:latin typeface="Segoe UI" panose="020B0502040204020203" pitchFamily="34" charset="0"/>
              </a:rPr>
              <a:t>ALGORITMASI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PMI-bagli</a:t>
            </a:r>
            <a:r>
              <a:rPr lang="tr-TR" dirty="0">
                <a:latin typeface="Segoe UI" panose="020B0502040204020203" pitchFamily="34" charset="0"/>
              </a:rPr>
              <a:t> metilasyon </a:t>
            </a:r>
            <a:r>
              <a:rPr lang="tr-TR" dirty="0" err="1">
                <a:latin typeface="Segoe UI" panose="020B0502040204020203" pitchFamily="34" charset="0"/>
              </a:rPr>
              <a:t>drift</a:t>
            </a:r>
            <a:r>
              <a:rPr lang="tr-TR" dirty="0">
                <a:latin typeface="Segoe UI" panose="020B0502040204020203" pitchFamily="34" charset="0"/>
              </a:rPr>
              <a:t> modellemesi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Lineer regresyon: </a:t>
            </a:r>
            <a:r>
              <a:rPr lang="tr-TR" dirty="0" err="1">
                <a:latin typeface="Segoe UI" panose="020B0502040204020203" pitchFamily="34" charset="0"/>
              </a:rPr>
              <a:t>Error</a:t>
            </a:r>
            <a:r>
              <a:rPr lang="tr-TR" dirty="0">
                <a:latin typeface="Segoe UI" panose="020B0502040204020203" pitchFamily="34" charset="0"/>
              </a:rPr>
              <a:t> = 0.08 * </a:t>
            </a:r>
            <a:r>
              <a:rPr lang="tr-TR" dirty="0" err="1">
                <a:latin typeface="Segoe UI" panose="020B0502040204020203" pitchFamily="34" charset="0"/>
              </a:rPr>
              <a:t>PMI</a:t>
            </a:r>
            <a:r>
              <a:rPr lang="tr-TR" dirty="0">
                <a:latin typeface="Segoe UI" panose="020B0502040204020203" pitchFamily="34" charset="0"/>
              </a:rPr>
              <a:t> + 0.12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Her 10 saat </a:t>
            </a:r>
            <a:r>
              <a:rPr lang="tr-TR" dirty="0" err="1">
                <a:latin typeface="Segoe UI" panose="020B0502040204020203" pitchFamily="34" charset="0"/>
              </a:rPr>
              <a:t>PMI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~0.8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ek hata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DOKU </a:t>
            </a:r>
            <a:r>
              <a:rPr lang="tr-TR" dirty="0" err="1">
                <a:latin typeface="Segoe UI" panose="020B0502040204020203" pitchFamily="34" charset="0"/>
              </a:rPr>
              <a:t>KALITESI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DEGERLENDIRMESI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pH-</a:t>
            </a:r>
            <a:r>
              <a:rPr lang="tr-TR" dirty="0" err="1">
                <a:latin typeface="Segoe UI" panose="020B0502040204020203" pitchFamily="34" charset="0"/>
              </a:rPr>
              <a:t>bazli</a:t>
            </a:r>
            <a:r>
              <a:rPr lang="tr-TR" dirty="0">
                <a:latin typeface="Segoe UI" panose="020B0502040204020203" pitchFamily="34" charset="0"/>
              </a:rPr>
              <a:t> kategorizasyon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RIN</a:t>
            </a:r>
            <a:r>
              <a:rPr lang="tr-TR" dirty="0">
                <a:latin typeface="Segoe UI" panose="020B0502040204020203" pitchFamily="34" charset="0"/>
              </a:rPr>
              <a:t> (RNA </a:t>
            </a:r>
            <a:r>
              <a:rPr lang="tr-TR" dirty="0" err="1">
                <a:latin typeface="Segoe UI" panose="020B0502040204020203" pitchFamily="34" charset="0"/>
              </a:rPr>
              <a:t>Integrity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Number</a:t>
            </a:r>
            <a:r>
              <a:rPr lang="tr-TR" dirty="0">
                <a:latin typeface="Segoe UI" panose="020B0502040204020203" pitchFamily="34" charset="0"/>
              </a:rPr>
              <a:t>) kontrolu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pH &gt; 6.0 </a:t>
            </a:r>
            <a:r>
              <a:rPr lang="tr-TR" dirty="0" err="1">
                <a:latin typeface="Segoe UI" panose="020B0502040204020203" pitchFamily="34" charset="0"/>
              </a:rPr>
              <a:t>ornekler</a:t>
            </a:r>
            <a:r>
              <a:rPr lang="tr-TR" dirty="0">
                <a:latin typeface="Segoe UI" panose="020B0502040204020203" pitchFamily="34" charset="0"/>
              </a:rPr>
              <a:t> optimal olarak kabul edildi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66264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Gen </a:t>
            </a:r>
            <a:r>
              <a:rPr lang="tr-TR" dirty="0" err="1">
                <a:latin typeface="Segoe UI" panose="020B0502040204020203" pitchFamily="34" charset="0"/>
              </a:rPr>
              <a:t>Ontology</a:t>
            </a:r>
            <a:r>
              <a:rPr lang="tr-TR" dirty="0">
                <a:latin typeface="Segoe UI" panose="020B0502040204020203" pitchFamily="34" charset="0"/>
              </a:rPr>
              <a:t> ve </a:t>
            </a:r>
            <a:r>
              <a:rPr lang="tr-TR" dirty="0" err="1">
                <a:latin typeface="Segoe UI" panose="020B0502040204020203" pitchFamily="34" charset="0"/>
              </a:rPr>
              <a:t>Pathway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Enrichment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AMAÇ: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Diferansiyel metile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sitelerinin </a:t>
            </a:r>
            <a:r>
              <a:rPr lang="tr-TR" dirty="0" err="1">
                <a:latin typeface="Segoe UI" panose="020B0502040204020203" pitchFamily="34" charset="0"/>
              </a:rPr>
              <a:t>iliskilendigi</a:t>
            </a:r>
            <a:r>
              <a:rPr lang="tr-TR" dirty="0">
                <a:latin typeface="Segoe UI" panose="020B0502040204020203" pitchFamily="34" charset="0"/>
              </a:rPr>
              <a:t> genlerin fonksiyonel </a:t>
            </a:r>
            <a:r>
              <a:rPr lang="tr-TR" dirty="0" err="1">
                <a:latin typeface="Segoe UI" panose="020B0502040204020203" pitchFamily="34" charset="0"/>
              </a:rPr>
              <a:t>zenginlestirme</a:t>
            </a:r>
            <a:r>
              <a:rPr lang="tr-TR" dirty="0">
                <a:latin typeface="Segoe UI" panose="020B0502040204020203" pitchFamily="34" charset="0"/>
              </a:rPr>
              <a:t> analizi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METODOLOJI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-&gt; Gen haritalama (</a:t>
            </a:r>
            <a:r>
              <a:rPr lang="tr-TR" dirty="0" err="1">
                <a:latin typeface="Segoe UI" panose="020B0502040204020203" pitchFamily="34" charset="0"/>
              </a:rPr>
              <a:t>Illumina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annotation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Hypergeometric</a:t>
            </a:r>
            <a:r>
              <a:rPr lang="tr-TR" dirty="0">
                <a:latin typeface="Segoe UI" panose="020B0502040204020203" pitchFamily="34" charset="0"/>
              </a:rPr>
              <a:t> test ile </a:t>
            </a:r>
            <a:r>
              <a:rPr lang="tr-TR" dirty="0" err="1">
                <a:latin typeface="Segoe UI" panose="020B0502040204020203" pitchFamily="34" charset="0"/>
              </a:rPr>
              <a:t>overrepresentation</a:t>
            </a:r>
            <a:r>
              <a:rPr lang="tr-TR" dirty="0">
                <a:latin typeface="Segoe UI" panose="020B0502040204020203" pitchFamily="34" charset="0"/>
              </a:rPr>
              <a:t> analizi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Background: </a:t>
            </a:r>
            <a:r>
              <a:rPr lang="tr-TR" dirty="0" err="1">
                <a:latin typeface="Segoe UI" panose="020B0502040204020203" pitchFamily="34" charset="0"/>
              </a:rPr>
              <a:t>Tum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array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problarinin</a:t>
            </a:r>
            <a:r>
              <a:rPr lang="tr-TR" dirty="0">
                <a:latin typeface="Segoe UI" panose="020B0502040204020203" pitchFamily="34" charset="0"/>
              </a:rPr>
              <a:t> gen seti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VERITABANLARI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Gene </a:t>
            </a:r>
            <a:r>
              <a:rPr lang="tr-TR" dirty="0" err="1">
                <a:latin typeface="Segoe UI" panose="020B0502040204020203" pitchFamily="34" charset="0"/>
              </a:rPr>
              <a:t>Ontology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GO</a:t>
            </a:r>
            <a:r>
              <a:rPr lang="tr-TR" dirty="0">
                <a:latin typeface="Segoe UI" panose="020B0502040204020203" pitchFamily="34" charset="0"/>
              </a:rPr>
              <a:t>): </a:t>
            </a:r>
            <a:r>
              <a:rPr lang="tr-TR" dirty="0" err="1">
                <a:latin typeface="Segoe UI" panose="020B0502040204020203" pitchFamily="34" charset="0"/>
              </a:rPr>
              <a:t>Biological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Process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Molecular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Function</a:t>
            </a:r>
            <a:r>
              <a:rPr lang="tr-TR" dirty="0">
                <a:latin typeface="Segoe UI" panose="020B0502040204020203" pitchFamily="34" charset="0"/>
              </a:rPr>
              <a:t>, Cellular Component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KEGG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Pathway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Reactome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Pathway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COK</a:t>
            </a:r>
            <a:r>
              <a:rPr lang="tr-TR" dirty="0">
                <a:latin typeface="Segoe UI" panose="020B0502040204020203" pitchFamily="34" charset="0"/>
              </a:rPr>
              <a:t> LU TEST </a:t>
            </a:r>
            <a:r>
              <a:rPr lang="tr-TR" dirty="0" err="1">
                <a:latin typeface="Segoe UI" panose="020B0502040204020203" pitchFamily="34" charset="0"/>
              </a:rPr>
              <a:t>DÜZELTMESI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FDR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Benjamini-Hochberg</a:t>
            </a:r>
            <a:r>
              <a:rPr lang="tr-TR" dirty="0">
                <a:latin typeface="Segoe UI" panose="020B0502040204020203" pitchFamily="34" charset="0"/>
              </a:rPr>
              <a:t>) &lt; 0.05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YAZILIM: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clusterProfiler</a:t>
            </a:r>
            <a:r>
              <a:rPr lang="tr-TR" dirty="0">
                <a:latin typeface="Segoe UI" panose="020B0502040204020203" pitchFamily="34" charset="0"/>
              </a:rPr>
              <a:t> R paketi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g:Profiler</a:t>
            </a:r>
            <a:r>
              <a:rPr lang="tr-TR" dirty="0">
                <a:latin typeface="Segoe UI" panose="020B0502040204020203" pitchFamily="34" charset="0"/>
              </a:rPr>
              <a:t> web </a:t>
            </a:r>
            <a:r>
              <a:rPr lang="tr-TR" dirty="0" err="1">
                <a:latin typeface="Segoe UI" panose="020B0502040204020203" pitchFamily="34" charset="0"/>
              </a:rPr>
              <a:t>arac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DAVID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Functional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Annotation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97456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Duyarlilik</a:t>
            </a:r>
            <a:r>
              <a:rPr lang="tr-TR" dirty="0">
                <a:latin typeface="Segoe UI" panose="020B0502040204020203" pitchFamily="34" charset="0"/>
              </a:rPr>
              <a:t> ve </a:t>
            </a:r>
            <a:r>
              <a:rPr lang="tr-TR" dirty="0" err="1">
                <a:latin typeface="Segoe UI" panose="020B0502040204020203" pitchFamily="34" charset="0"/>
              </a:rPr>
              <a:t>Robustluk</a:t>
            </a:r>
            <a:r>
              <a:rPr lang="tr-TR" dirty="0">
                <a:latin typeface="Segoe UI" panose="020B0502040204020203" pitchFamily="34" charset="0"/>
              </a:rPr>
              <a:t> Analizleri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KOVARYAT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SETLERI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ANALİZI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Model 1: Yaş + Cinsiyet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Model 2: + Madde </a:t>
            </a:r>
            <a:r>
              <a:rPr lang="tr-TR" dirty="0" err="1">
                <a:latin typeface="Segoe UI" panose="020B0502040204020203" pitchFamily="34" charset="0"/>
              </a:rPr>
              <a:t>kullanim</a:t>
            </a:r>
            <a:r>
              <a:rPr lang="tr-TR" dirty="0">
                <a:latin typeface="Segoe UI" panose="020B0502040204020203" pitchFamily="34" charset="0"/>
              </a:rPr>
              <a:t> suresi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Model 3: + Fizyolojik </a:t>
            </a:r>
            <a:r>
              <a:rPr lang="tr-TR" dirty="0" err="1">
                <a:latin typeface="Segoe UI" panose="020B0502040204020203" pitchFamily="34" charset="0"/>
              </a:rPr>
              <a:t>mediyatorler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Model 4: + Psikolojik </a:t>
            </a:r>
            <a:r>
              <a:rPr lang="tr-TR" dirty="0" err="1">
                <a:latin typeface="Segoe UI" panose="020B0502040204020203" pitchFamily="34" charset="0"/>
              </a:rPr>
              <a:t>moderatorler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Sonuçlarin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kovaryat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seciminden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etkilenmedigi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dogrulandi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PLATFORM </a:t>
            </a:r>
            <a:r>
              <a:rPr lang="tr-TR" dirty="0" err="1">
                <a:latin typeface="Segoe UI" panose="020B0502040204020203" pitchFamily="34" charset="0"/>
              </a:rPr>
              <a:t>DÜZELTMESI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450K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vs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EPIC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ayri</a:t>
            </a:r>
            <a:r>
              <a:rPr lang="tr-TR" dirty="0">
                <a:latin typeface="Segoe UI" panose="020B0502040204020203" pitchFamily="34" charset="0"/>
              </a:rPr>
              <a:t> analizler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Meta-analiz ile </a:t>
            </a:r>
            <a:r>
              <a:rPr lang="tr-TR" dirty="0" err="1">
                <a:latin typeface="Segoe UI" panose="020B0502040204020203" pitchFamily="34" charset="0"/>
              </a:rPr>
              <a:t>sonuc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birlestirilmesi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Platform-spesifik </a:t>
            </a:r>
            <a:r>
              <a:rPr lang="tr-TR" dirty="0" err="1">
                <a:latin typeface="Segoe UI" panose="020B0502040204020203" pitchFamily="34" charset="0"/>
              </a:rPr>
              <a:t>batch</a:t>
            </a:r>
            <a:r>
              <a:rPr lang="tr-TR" dirty="0">
                <a:latin typeface="Segoe UI" panose="020B0502040204020203" pitchFamily="34" charset="0"/>
              </a:rPr>
              <a:t> efekti kontrolu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OUTLIER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ANALİZI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IQR-bazli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outlier</a:t>
            </a:r>
            <a:r>
              <a:rPr lang="tr-TR" dirty="0">
                <a:latin typeface="Segoe UI" panose="020B0502040204020203" pitchFamily="34" charset="0"/>
              </a:rPr>
              <a:t> tespiti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Outlier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cikartilmis</a:t>
            </a:r>
            <a:r>
              <a:rPr lang="tr-TR" dirty="0">
                <a:latin typeface="Segoe UI" panose="020B0502040204020203" pitchFamily="34" charset="0"/>
              </a:rPr>
              <a:t> analizler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Sonuçlarin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robust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oldugu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dogrulandi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BOOTSTRAP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VALIDASYONU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- 10,000 </a:t>
            </a:r>
            <a:r>
              <a:rPr lang="tr-TR" dirty="0" err="1">
                <a:latin typeface="Segoe UI" panose="020B0502040204020203" pitchFamily="34" charset="0"/>
              </a:rPr>
              <a:t>bootstrap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resampling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Bias-corrected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accelerated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BCa</a:t>
            </a:r>
            <a:r>
              <a:rPr lang="tr-TR" dirty="0">
                <a:latin typeface="Segoe UI" panose="020B0502040204020203" pitchFamily="34" charset="0"/>
              </a:rPr>
              <a:t>) </a:t>
            </a:r>
            <a:r>
              <a:rPr lang="tr-TR" dirty="0" err="1">
                <a:latin typeface="Segoe UI" panose="020B0502040204020203" pitchFamily="34" charset="0"/>
              </a:rPr>
              <a:t>guven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araliklari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23919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Yazilim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Ortami</a:t>
            </a:r>
            <a:r>
              <a:rPr lang="tr-TR" dirty="0">
                <a:latin typeface="Segoe UI" panose="020B0502040204020203" pitchFamily="34" charset="0"/>
              </a:rPr>
              <a:t> ve Tekrarlanabilirlik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9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PROGRAMLAMA </a:t>
            </a:r>
            <a:r>
              <a:rPr lang="tr-TR" dirty="0" err="1">
                <a:latin typeface="Segoe UI" panose="020B0502040204020203" pitchFamily="34" charset="0"/>
              </a:rPr>
              <a:t>DILLERI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R 4.2.0: İstatistiksel analizler, epigenetik saat hesaplama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Python 3.10: Makine </a:t>
            </a:r>
            <a:r>
              <a:rPr lang="tr-TR" dirty="0" err="1">
                <a:latin typeface="Segoe UI" panose="020B0502040204020203" pitchFamily="34" charset="0"/>
              </a:rPr>
              <a:t>ogrenmesi</a:t>
            </a:r>
            <a:r>
              <a:rPr lang="tr-TR" dirty="0">
                <a:latin typeface="Segoe UI" panose="020B0502040204020203" pitchFamily="34" charset="0"/>
              </a:rPr>
              <a:t>, veri isleme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R </a:t>
            </a:r>
            <a:r>
              <a:rPr lang="tr-TR" dirty="0" err="1">
                <a:latin typeface="Segoe UI" panose="020B0502040204020203" pitchFamily="34" charset="0"/>
              </a:rPr>
              <a:t>PAKETLERI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minfi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ChAMP</a:t>
            </a:r>
            <a:r>
              <a:rPr lang="tr-TR" dirty="0">
                <a:latin typeface="Segoe UI" panose="020B0502040204020203" pitchFamily="34" charset="0"/>
              </a:rPr>
              <a:t>: DNA metilasyon </a:t>
            </a:r>
            <a:r>
              <a:rPr lang="tr-TR" dirty="0" err="1">
                <a:latin typeface="Segoe UI" panose="020B0502040204020203" pitchFamily="34" charset="0"/>
              </a:rPr>
              <a:t>preprocessing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limma</a:t>
            </a:r>
            <a:r>
              <a:rPr lang="tr-TR" dirty="0">
                <a:latin typeface="Segoe UI" panose="020B0502040204020203" pitchFamily="34" charset="0"/>
              </a:rPr>
              <a:t>: Diferansiyel metilasyon analizi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sva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Batch</a:t>
            </a:r>
            <a:r>
              <a:rPr lang="tr-TR" dirty="0">
                <a:latin typeface="Segoe UI" panose="020B0502040204020203" pitchFamily="34" charset="0"/>
              </a:rPr>
              <a:t> etkisi </a:t>
            </a:r>
            <a:r>
              <a:rPr lang="tr-TR" dirty="0" err="1">
                <a:latin typeface="Segoe UI" panose="020B0502040204020203" pitchFamily="34" charset="0"/>
              </a:rPr>
              <a:t>duzeltmesi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ComBat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lavaan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Mediyasyon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moderasyon</a:t>
            </a:r>
            <a:r>
              <a:rPr lang="tr-TR" dirty="0">
                <a:latin typeface="Segoe UI" panose="020B0502040204020203" pitchFamily="34" charset="0"/>
              </a:rPr>
              <a:t> analizi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ggplot2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plotly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Gorsellestirme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PYTHON </a:t>
            </a:r>
            <a:r>
              <a:rPr lang="tr-TR" dirty="0" err="1">
                <a:latin typeface="Segoe UI" panose="020B0502040204020203" pitchFamily="34" charset="0"/>
              </a:rPr>
              <a:t>KUTUPHANELERI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pandas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numpy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scipy</a:t>
            </a:r>
            <a:r>
              <a:rPr lang="tr-TR" dirty="0">
                <a:latin typeface="Segoe UI" panose="020B0502040204020203" pitchFamily="34" charset="0"/>
              </a:rPr>
              <a:t>: Veri </a:t>
            </a:r>
            <a:r>
              <a:rPr lang="tr-TR" dirty="0" err="1">
                <a:latin typeface="Segoe UI" panose="020B0502040204020203" pitchFamily="34" charset="0"/>
              </a:rPr>
              <a:t>manipulasyonu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scikit-learn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xgboost</a:t>
            </a:r>
            <a:r>
              <a:rPr lang="tr-TR" dirty="0">
                <a:latin typeface="Segoe UI" panose="020B0502040204020203" pitchFamily="34" charset="0"/>
              </a:rPr>
              <a:t>: Makine </a:t>
            </a:r>
            <a:r>
              <a:rPr lang="tr-TR" dirty="0" err="1">
                <a:latin typeface="Segoe UI" panose="020B0502040204020203" pitchFamily="34" charset="0"/>
              </a:rPr>
              <a:t>ogrenmesi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pytorch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Graph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Neural</a:t>
            </a:r>
            <a:r>
              <a:rPr lang="tr-TR" dirty="0">
                <a:latin typeface="Segoe UI" panose="020B0502040204020203" pitchFamily="34" charset="0"/>
              </a:rPr>
              <a:t> Network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rdkit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Molekul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islemleri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KOD PAYLAŞIMI: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GitHub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github.com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mortemdulcem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epi</a:t>
            </a:r>
            <a:r>
              <a:rPr lang="tr-TR" dirty="0">
                <a:latin typeface="Segoe UI" panose="020B0502040204020203" pitchFamily="34" charset="0"/>
              </a:rPr>
              <a:t>-</a:t>
            </a:r>
            <a:r>
              <a:rPr lang="tr-TR" dirty="0" err="1">
                <a:latin typeface="Segoe UI" panose="020B0502040204020203" pitchFamily="34" charset="0"/>
              </a:rPr>
              <a:t>clock</a:t>
            </a:r>
            <a:r>
              <a:rPr lang="tr-TR" dirty="0">
                <a:latin typeface="Segoe UI" panose="020B0502040204020203" pitchFamily="34" charset="0"/>
              </a:rPr>
              <a:t>-DNA-</a:t>
            </a:r>
            <a:r>
              <a:rPr lang="tr-TR" dirty="0" err="1">
                <a:latin typeface="Segoe UI" panose="020B0502040204020203" pitchFamily="34" charset="0"/>
              </a:rPr>
              <a:t>mtl</a:t>
            </a:r>
            <a:r>
              <a:rPr lang="tr-TR" dirty="0">
                <a:latin typeface="Segoe UI" panose="020B0502040204020203" pitchFamily="34" charset="0"/>
              </a:rPr>
              <a:t>-</a:t>
            </a:r>
            <a:r>
              <a:rPr lang="tr-TR" dirty="0" err="1">
                <a:latin typeface="Segoe UI" panose="020B0502040204020203" pitchFamily="34" charset="0"/>
              </a:rPr>
              <a:t>prototype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Tam analiz </a:t>
            </a:r>
            <a:r>
              <a:rPr lang="tr-TR" dirty="0" err="1">
                <a:latin typeface="Segoe UI" panose="020B0502040204020203" pitchFamily="34" charset="0"/>
              </a:rPr>
              <a:t>pipeline</a:t>
            </a:r>
            <a:r>
              <a:rPr lang="tr-TR" dirty="0">
                <a:latin typeface="Segoe UI" panose="020B0502040204020203" pitchFamily="34" charset="0"/>
              </a:rPr>
              <a:t> mevcut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Docker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containerization</a:t>
            </a:r>
            <a:r>
              <a:rPr lang="tr-TR" dirty="0">
                <a:latin typeface="Segoe UI" panose="020B0502040204020203" pitchFamily="34" charset="0"/>
              </a:rPr>
              <a:t> ile </a:t>
            </a:r>
            <a:r>
              <a:rPr lang="tr-TR" dirty="0" err="1">
                <a:latin typeface="Segoe UI" panose="020B0502040204020203" pitchFamily="34" charset="0"/>
              </a:rPr>
              <a:t>reproducibility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4878" y="1828800"/>
            <a:ext cx="145424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BÖLÜM 2.5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PLATFORM </a:t>
            </a:r>
            <a:r>
              <a:rPr lang="tr-TR" dirty="0" err="1">
                <a:latin typeface="Segoe UI" panose="020B0502040204020203" pitchFamily="34" charset="0"/>
              </a:rPr>
              <a:t>VERITABANI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İSTATİSTİKLERI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2546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Entegre Genomik Varyant </a:t>
            </a:r>
            <a:r>
              <a:rPr lang="tr-TR" dirty="0" err="1">
                <a:latin typeface="Segoe UI" panose="020B0502040204020203" pitchFamily="34" charset="0"/>
              </a:rPr>
              <a:t>Veritabanlari</a:t>
            </a:r>
            <a:r>
              <a:rPr lang="tr-TR" dirty="0">
                <a:latin typeface="Segoe UI" panose="020B0502040204020203" pitchFamily="34" charset="0"/>
              </a:rPr>
              <a:t> (~1.33 Milyar)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86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Veritabani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Varyant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Sayisi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Birey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Erisim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Maliyet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gnomAD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v4.0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750,000,000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807,162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Acik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Ucretsiz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7593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TOPMed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400,000,000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150,000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dbGaP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Ucretsiz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UK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Biobank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96,000,000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500,000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Basvuru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Akademik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1000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Genomes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84,700,000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2,504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Acik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Ucretsiz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GWAS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Catalog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500,000+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Acik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Ucretsiz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TOPLAM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~1.33 Milyar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~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1.46M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41146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DNA Metilasyon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Veritabani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Platform/Kategori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CpG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Sayisi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Gen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Kapsami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Durum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WGBS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Tum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Genom)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28,000,000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Tum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genom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2010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Altin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Standart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Illumina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EPIC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v2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935,000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21,645+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2023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En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Guncel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Illumina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EPIC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866,895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21,645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2016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Mevcut Standart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Illumina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450K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485,577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21,231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2011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Yaygin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450K-EPIC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Ortak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452,626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Karşılaştırma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Platform Benzersiz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23,847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Bağımlılık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86756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Madde Tespit </a:t>
            </a:r>
            <a:r>
              <a:rPr lang="tr-TR" dirty="0" err="1">
                <a:latin typeface="Segoe UI" panose="020B0502040204020203" pitchFamily="34" charset="0"/>
              </a:rPr>
              <a:t>Veritabani</a:t>
            </a:r>
            <a:r>
              <a:rPr lang="tr-TR" dirty="0">
                <a:latin typeface="Segoe UI" panose="020B0502040204020203" pitchFamily="34" charset="0"/>
              </a:rPr>
              <a:t>: 36,000+ </a:t>
            </a:r>
            <a:r>
              <a:rPr lang="tr-TR" dirty="0" err="1">
                <a:latin typeface="Segoe UI" panose="020B0502040204020203" pitchFamily="34" charset="0"/>
              </a:rPr>
              <a:t>Kayit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45661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Temel Maddeler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21365" y="1463040"/>
            <a:ext cx="80823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~140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23110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NPS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Turevleri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21365" y="2377440"/>
            <a:ext cx="80823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200+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25247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Polisubstans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Kombinasyonlari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04961" y="3291840"/>
            <a:ext cx="10246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5,900+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19132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Kimyasal Reaksiyonlar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04961" y="4206240"/>
            <a:ext cx="10246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1,000+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16420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Metabolik Yolaklar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21365" y="5120640"/>
            <a:ext cx="80823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500+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80760"/>
            <a:ext cx="144975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GENEL TOPLAM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57484" y="6035040"/>
            <a:ext cx="117211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36,000+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73342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NPS</a:t>
            </a:r>
            <a:r>
              <a:rPr lang="tr-TR" dirty="0">
                <a:latin typeface="Segoe UI" panose="020B0502040204020203" pitchFamily="34" charset="0"/>
              </a:rPr>
              <a:t> (Yeni Psikoaktif Maddeler) </a:t>
            </a:r>
            <a:r>
              <a:rPr lang="tr-TR" dirty="0" err="1">
                <a:latin typeface="Segoe UI" panose="020B0502040204020203" pitchFamily="34" charset="0"/>
              </a:rPr>
              <a:t>Veritabani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NPS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Sinifi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Turev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Örnek Maddeler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Sentetik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Kannabinoidler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40+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JWH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-018, AM-2201,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ADB-FUBINACA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Fentanil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Analoglari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30+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Carfentanil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Acetylfentanyl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Sentetik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Katinonlar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30+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MDPV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Alpha-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PVP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Mephedrone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Feniletilaminer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25+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2C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-B,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25I-NBOMe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DOB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Triptaminler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20+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DMT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5-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MeO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DMT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AMT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Benzodiazepin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Analoglari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20+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Flualprazolam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Etizolam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Benzofuranlar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15+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6-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APB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5-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APB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5-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MAPB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Piperazinler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15+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BZP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TFMPP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mCPP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Aminoindanlar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10+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MDAI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5,6-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MDAI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64093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Entegre </a:t>
            </a:r>
            <a:r>
              <a:rPr lang="tr-TR" dirty="0" err="1">
                <a:latin typeface="Segoe UI" panose="020B0502040204020203" pitchFamily="34" charset="0"/>
              </a:rPr>
              <a:t>GWAS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Çalışmalari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Ozellik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GWAS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ID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Örnek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Vaka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Kontrol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SNP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Sigara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Baslama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GCST007458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1,232,091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12M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Alkol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Tuketimi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GCST007474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941,280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12M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Alkol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Bagimliligi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GCST90012877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274,424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52,848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221,576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9.69M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Kannabis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Bozuklugu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GCST90016614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384,032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14,080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369,952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Opioid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Bozuklugu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GCST90000032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82,707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10,544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72,163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7.2M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35986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Reseptor</a:t>
            </a:r>
            <a:r>
              <a:rPr lang="tr-TR" dirty="0">
                <a:latin typeface="Segoe UI" panose="020B0502040204020203" pitchFamily="34" charset="0"/>
              </a:rPr>
              <a:t> Hedef </a:t>
            </a:r>
            <a:r>
              <a:rPr lang="tr-TR" dirty="0" err="1">
                <a:latin typeface="Segoe UI" panose="020B0502040204020203" pitchFamily="34" charset="0"/>
              </a:rPr>
              <a:t>Veritabani</a:t>
            </a:r>
            <a:r>
              <a:rPr lang="tr-TR" dirty="0">
                <a:latin typeface="Segoe UI" panose="020B0502040204020203" pitchFamily="34" charset="0"/>
              </a:rPr>
              <a:t> (55+ Hedef)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4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Kategori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Sayi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Onemli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Örnekler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Bağımlılık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Agirligi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Opioid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MOR,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DOR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KOR,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NOP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%25-95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Dopaminerjik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DAT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D1-D5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%50-92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Serotonerjik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SERT, 5-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HT1A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-5-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HT3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%30-60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GABAerjik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GABA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-A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subunitleri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%45-75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Glutamaterjik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NMDA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AMPA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mGluR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%40-60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Kolinerjik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nAChR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mAChR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%30-85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Kannabinoid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CB1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CB2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%25-55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Adrenerjik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NET,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Alpha2A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%35-65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4523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Farmakogenetik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Veritabanlari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63666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PharmGKB</a:t>
            </a:r>
            <a:r>
              <a:rPr lang="tr-TR" dirty="0">
                <a:latin typeface="Segoe UI" panose="020B0502040204020203" pitchFamily="34" charset="0"/>
              </a:rPr>
              <a:t> Genleri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21365" y="1463040"/>
            <a:ext cx="80823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150+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4798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Ilac</a:t>
            </a:r>
            <a:r>
              <a:rPr lang="tr-TR" dirty="0">
                <a:latin typeface="Segoe UI" panose="020B0502040204020203" pitchFamily="34" charset="0"/>
              </a:rPr>
              <a:t>-Gen </a:t>
            </a:r>
            <a:r>
              <a:rPr lang="tr-TR" dirty="0" err="1">
                <a:latin typeface="Segoe UI" panose="020B0502040204020203" pitchFamily="34" charset="0"/>
              </a:rPr>
              <a:t>Iliskileri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04961" y="2377440"/>
            <a:ext cx="10246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2,000+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170020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Klinik </a:t>
            </a:r>
            <a:r>
              <a:rPr lang="tr-TR" dirty="0" err="1">
                <a:latin typeface="Segoe UI" panose="020B0502040204020203" pitchFamily="34" charset="0"/>
              </a:rPr>
              <a:t>Anotasyonlar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04961" y="3291840"/>
            <a:ext cx="10246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5,000+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140916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CPIC</a:t>
            </a:r>
            <a:r>
              <a:rPr lang="tr-TR" dirty="0">
                <a:latin typeface="Segoe UI" panose="020B0502040204020203" pitchFamily="34" charset="0"/>
              </a:rPr>
              <a:t> Rehberleri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49607" y="4206240"/>
            <a:ext cx="6799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50+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14782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DrugBank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Ilaclar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55882" y="5120640"/>
            <a:ext cx="11737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15,000+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80760"/>
            <a:ext cx="17895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ChEMBL</a:t>
            </a:r>
            <a:r>
              <a:rPr lang="tr-TR" dirty="0">
                <a:latin typeface="Segoe UI" panose="020B0502040204020203" pitchFamily="34" charset="0"/>
              </a:rPr>
              <a:t> Biyoaktivite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54653" y="6035040"/>
            <a:ext cx="97494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2.4M</a:t>
            </a:r>
            <a:r>
              <a:rPr lang="tr-TR" dirty="0">
                <a:latin typeface="Segoe UI" panose="020B0502040204020203" pitchFamily="34" charset="0"/>
              </a:rPr>
              <a:t>+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14517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Epigenetik Saat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Detaylari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Saat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CpG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Sayisi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Cikti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MAE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/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R2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Horvath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353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2013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Multi-doku yas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MAE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: 3.6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Hannum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71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2013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Kan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yasi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MAE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: 4.9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PhenoAge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513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2018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Fenotipik yas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MAE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: 4.3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GrimAge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1,030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2019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Mortalite riski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MAE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: 4.0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DunedinPACE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173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2022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Yaşlanma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hizi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R2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: 0.89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TOPLAM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2,140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53771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Platform Genel İstatistik Özeti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4784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Genomik Varyantlar (Toplam)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14066" y="1463040"/>
            <a:ext cx="171553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~1.33 Milyar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76061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Siteleri (</a:t>
            </a:r>
            <a:r>
              <a:rPr lang="tr-TR" dirty="0" err="1">
                <a:latin typeface="Segoe UI" panose="020B0502040204020203" pitchFamily="34" charset="0"/>
              </a:rPr>
              <a:t>WGBS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27266" y="2377440"/>
            <a:ext cx="150233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28,000,000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21779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Tespit Edilebilir Maddeler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57484" y="3291840"/>
            <a:ext cx="117211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36,000+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165942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Reseptor</a:t>
            </a:r>
            <a:r>
              <a:rPr lang="tr-TR" dirty="0">
                <a:latin typeface="Segoe UI" panose="020B0502040204020203" pitchFamily="34" charset="0"/>
              </a:rPr>
              <a:t> Hedefleri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49607" y="4206240"/>
            <a:ext cx="6799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55+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19507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GWAS</a:t>
            </a:r>
            <a:r>
              <a:rPr lang="tr-TR" dirty="0">
                <a:latin typeface="Segoe UI" panose="020B0502040204020203" pitchFamily="34" charset="0"/>
              </a:rPr>
              <a:t> Örnekleri (</a:t>
            </a:r>
            <a:r>
              <a:rPr lang="tr-TR" dirty="0" err="1">
                <a:latin typeface="Segoe UI" panose="020B0502040204020203" pitchFamily="34" charset="0"/>
              </a:rPr>
              <a:t>Max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25570" y="5120640"/>
            <a:ext cx="16040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1.23 Milyon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80760"/>
            <a:ext cx="199022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Referans DNA Profilleri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27403" y="6035040"/>
            <a:ext cx="100219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10,542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42885" y="1828800"/>
            <a:ext cx="12582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BÖLÜM 3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ARAŞTIRMA BULGULARI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73469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Ana Bulgular: Kritik İstatistikler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9151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Epigenetik Yaş İvmelenmesi (Kontrol </a:t>
            </a:r>
            <a:r>
              <a:rPr lang="tr-TR" dirty="0" err="1">
                <a:latin typeface="Segoe UI" panose="020B0502040204020203" pitchFamily="34" charset="0"/>
              </a:rPr>
              <a:t>vs</a:t>
            </a:r>
            <a:r>
              <a:rPr lang="tr-TR" dirty="0">
                <a:latin typeface="Segoe UI" panose="020B0502040204020203" pitchFamily="34" charset="0"/>
              </a:rPr>
              <a:t> Madde)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88895" y="1463040"/>
            <a:ext cx="234070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+3.4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(p&lt;0.001)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4272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En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Coklu</a:t>
            </a:r>
            <a:r>
              <a:rPr lang="tr-TR" dirty="0">
                <a:latin typeface="Segoe UI" panose="020B0502040204020203" pitchFamily="34" charset="0"/>
              </a:rPr>
              <a:t> Madde - </a:t>
            </a:r>
            <a:r>
              <a:rPr lang="tr-TR" dirty="0" err="1">
                <a:latin typeface="Segoe UI" panose="020B0502040204020203" pitchFamily="34" charset="0"/>
              </a:rPr>
              <a:t>GrimAge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47252" y="2377440"/>
            <a:ext cx="108234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+7.3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27295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Tanimlanan</a:t>
            </a:r>
            <a:r>
              <a:rPr lang="tr-TR" dirty="0">
                <a:latin typeface="Segoe UI" panose="020B0502040204020203" pitchFamily="34" charset="0"/>
              </a:rPr>
              <a:t> Maddeye Özgü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36783" y="3291840"/>
            <a:ext cx="209281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1,847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sitesi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211917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Siniflandirma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Dogrulugu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25747" y="4206240"/>
            <a:ext cx="330385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%87.3 (95% CI: 85.6-89.1)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240354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Toplam </a:t>
            </a:r>
            <a:r>
              <a:rPr lang="tr-TR" dirty="0" err="1">
                <a:latin typeface="Segoe UI" panose="020B0502040204020203" pitchFamily="34" charset="0"/>
              </a:rPr>
              <a:t>Mediyasyon</a:t>
            </a:r>
            <a:r>
              <a:rPr lang="tr-TR" dirty="0">
                <a:latin typeface="Segoe UI" panose="020B0502040204020203" pitchFamily="34" charset="0"/>
              </a:rPr>
              <a:t> Yüzdesi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27164" y="5120640"/>
            <a:ext cx="70243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%61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80760"/>
            <a:ext cx="21939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Moderasyon</a:t>
            </a:r>
            <a:r>
              <a:rPr lang="tr-TR" dirty="0">
                <a:latin typeface="Segoe UI" panose="020B0502040204020203" pitchFamily="34" charset="0"/>
              </a:rPr>
              <a:t> Etki </a:t>
            </a:r>
            <a:r>
              <a:rPr lang="tr-TR" dirty="0" err="1">
                <a:latin typeface="Segoe UI" panose="020B0502040204020203" pitchFamily="34" charset="0"/>
              </a:rPr>
              <a:t>Azaltimi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84671" y="6035040"/>
            <a:ext cx="11449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%50-70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81210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Epigenetik Yaş İvmelenmesi: </a:t>
            </a:r>
            <a:r>
              <a:rPr lang="tr-TR" dirty="0" err="1">
                <a:latin typeface="Segoe UI" panose="020B0502040204020203" pitchFamily="34" charset="0"/>
              </a:rPr>
              <a:t>Horvath</a:t>
            </a:r>
            <a:r>
              <a:rPr lang="tr-TR" dirty="0">
                <a:latin typeface="Segoe UI" panose="020B0502040204020203" pitchFamily="34" charset="0"/>
              </a:rPr>
              <a:t> Saati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Grup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EAA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95% 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Cohen's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degeri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Kontrol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5,007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+0.3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-0.1 - 0.7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Referans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Alkol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2,183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+2.8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2.3 - 3.4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0.52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Kokain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1,030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+3.2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2.5 - 3.9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0.61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Opioid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1,360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+2.4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1.9 - 3.0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0.44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Metamfetamin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+4.7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3.1 - 6.4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0.89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Kannabis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194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+1.3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0.6 - 2.1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0.27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0.003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Coklu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Madde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720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+5.8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4.9 - 6.8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1.08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16660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Epigenetik Yaş İvmelenmesi: </a:t>
            </a:r>
            <a:r>
              <a:rPr lang="tr-TR" dirty="0" err="1">
                <a:latin typeface="Segoe UI" panose="020B0502040204020203" pitchFamily="34" charset="0"/>
              </a:rPr>
              <a:t>GrimAge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Grup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EAA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95% 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Cohen's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degeri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Kontrol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5,007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+0.2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-0.2 - 0.6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Referans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Alkol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2,183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+3.6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3.0 - 4.2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0.68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Kokain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1,030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+4.1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3.3 - 4.9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0.78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Opioid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1,360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+2.9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2.3 - 3.6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0.54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Metamfetamin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+6.2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4.1 - 8.4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1.18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Kannabis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194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+1.6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0.8 - 2.5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0.32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Coklu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Madde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720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+7.3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6.2 - 8.5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1.28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27868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Yaşlanma Hızı: </a:t>
            </a:r>
            <a:r>
              <a:rPr lang="tr-TR" dirty="0" err="1">
                <a:latin typeface="Segoe UI" panose="020B0502040204020203" pitchFamily="34" charset="0"/>
              </a:rPr>
              <a:t>DunedinPACE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Sonuçlari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Grup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PACE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(oran)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95% 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Yorum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degeri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Kontrol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5,007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1.02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1.00-1.04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Normal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Referans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Alkol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2,183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1.14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1.11-1.17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+%14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hizli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Kokain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1,030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1.18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1.14-1.22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+%18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hizli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Opioid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1,360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1.11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1.08-1.14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+%11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hizli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Metamfetamin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1.26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1.16-1.37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+%26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hizli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Kannabis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194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1.06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1.02-1.11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+%6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hizli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0.008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Coklu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Madde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720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1.32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1.26-1.38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+%32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hizli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71421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5 Epigenetik Saat </a:t>
            </a:r>
            <a:r>
              <a:rPr lang="tr-TR" dirty="0" err="1">
                <a:latin typeface="Segoe UI" panose="020B0502040204020203" pitchFamily="34" charset="0"/>
              </a:rPr>
              <a:t>Karşılaştırmasi</a:t>
            </a:r>
            <a:r>
              <a:rPr lang="tr-TR" dirty="0">
                <a:latin typeface="Segoe UI" panose="020B0502040204020203" pitchFamily="34" charset="0"/>
              </a:rPr>
              <a:t>: Performans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05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ETKI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BUYUKLUGU</a:t>
            </a:r>
            <a:r>
              <a:rPr lang="tr-TR" dirty="0">
                <a:latin typeface="Segoe UI" panose="020B0502040204020203" pitchFamily="34" charset="0"/>
              </a:rPr>
              <a:t> SIRALAMASI (</a:t>
            </a:r>
            <a:r>
              <a:rPr lang="tr-TR" dirty="0" err="1">
                <a:latin typeface="Segoe UI" panose="020B0502040204020203" pitchFamily="34" charset="0"/>
              </a:rPr>
              <a:t>Cohen's</a:t>
            </a:r>
            <a:r>
              <a:rPr lang="tr-TR" dirty="0">
                <a:latin typeface="Segoe UI" panose="020B0502040204020203" pitchFamily="34" charset="0"/>
              </a:rPr>
              <a:t> d):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1. </a:t>
            </a:r>
            <a:r>
              <a:rPr lang="tr-TR" dirty="0" err="1">
                <a:latin typeface="Segoe UI" panose="020B0502040204020203" pitchFamily="34" charset="0"/>
              </a:rPr>
              <a:t>GrimAge</a:t>
            </a:r>
            <a:r>
              <a:rPr lang="tr-TR" dirty="0">
                <a:latin typeface="Segoe UI" panose="020B0502040204020203" pitchFamily="34" charset="0"/>
              </a:rPr>
              <a:t>: En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ayirt</a:t>
            </a:r>
            <a:r>
              <a:rPr lang="tr-TR" dirty="0">
                <a:latin typeface="Segoe UI" panose="020B0502040204020203" pitchFamily="34" charset="0"/>
              </a:rPr>
              <a:t> edicilik (d = 0.32-1.28)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2. </a:t>
            </a:r>
            <a:r>
              <a:rPr lang="tr-TR" dirty="0" err="1">
                <a:latin typeface="Segoe UI" panose="020B0502040204020203" pitchFamily="34" charset="0"/>
              </a:rPr>
              <a:t>DunedinPACE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hassasiyet (d = 0.27-1.18)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3. </a:t>
            </a:r>
            <a:r>
              <a:rPr lang="tr-TR" dirty="0" err="1">
                <a:latin typeface="Segoe UI" panose="020B0502040204020203" pitchFamily="34" charset="0"/>
              </a:rPr>
              <a:t>PhenoAge</a:t>
            </a:r>
            <a:r>
              <a:rPr lang="tr-TR" dirty="0">
                <a:latin typeface="Segoe UI" panose="020B0502040204020203" pitchFamily="34" charset="0"/>
              </a:rPr>
              <a:t>: Orta-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performans (d = 0.25-1.05)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4. </a:t>
            </a:r>
            <a:r>
              <a:rPr lang="tr-TR" dirty="0" err="1">
                <a:latin typeface="Segoe UI" panose="020B0502040204020203" pitchFamily="34" charset="0"/>
              </a:rPr>
              <a:t>Horvath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Pan-tissue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guclu</a:t>
            </a:r>
            <a:r>
              <a:rPr lang="tr-TR" dirty="0">
                <a:latin typeface="Segoe UI" panose="020B0502040204020203" pitchFamily="34" charset="0"/>
              </a:rPr>
              <a:t> performans (d = 0.27-1.08)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5. </a:t>
            </a:r>
            <a:r>
              <a:rPr lang="tr-TR" dirty="0" err="1">
                <a:latin typeface="Segoe UI" panose="020B0502040204020203" pitchFamily="34" charset="0"/>
              </a:rPr>
              <a:t>Hannum</a:t>
            </a:r>
            <a:r>
              <a:rPr lang="tr-TR" dirty="0">
                <a:latin typeface="Segoe UI" panose="020B0502040204020203" pitchFamily="34" charset="0"/>
              </a:rPr>
              <a:t>: En </a:t>
            </a:r>
            <a:r>
              <a:rPr lang="tr-TR" dirty="0" err="1">
                <a:latin typeface="Segoe UI" panose="020B0502040204020203" pitchFamily="34" charset="0"/>
              </a:rPr>
              <a:t>dusuk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ayirt</a:t>
            </a:r>
            <a:r>
              <a:rPr lang="tr-TR" dirty="0">
                <a:latin typeface="Segoe UI" panose="020B0502040204020203" pitchFamily="34" charset="0"/>
              </a:rPr>
              <a:t> edicilik (d = 0.18-0.76)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SAAT KORELASYONLARI: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Horvath-Hannum</a:t>
            </a:r>
            <a:r>
              <a:rPr lang="tr-TR" dirty="0">
                <a:latin typeface="Segoe UI" panose="020B0502040204020203" pitchFamily="34" charset="0"/>
              </a:rPr>
              <a:t>: r = 0.94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PhenoAge-GrimAge</a:t>
            </a:r>
            <a:r>
              <a:rPr lang="tr-TR" dirty="0">
                <a:latin typeface="Segoe UI" panose="020B0502040204020203" pitchFamily="34" charset="0"/>
              </a:rPr>
              <a:t>: r = 0.89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GrimAge-DunedinPACE</a:t>
            </a:r>
            <a:r>
              <a:rPr lang="tr-TR" dirty="0">
                <a:latin typeface="Segoe UI" panose="020B0502040204020203" pitchFamily="34" charset="0"/>
              </a:rPr>
              <a:t>: r = 0.82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ÖNERİ: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Klinik uygulama: </a:t>
            </a:r>
            <a:r>
              <a:rPr lang="tr-TR" dirty="0" err="1">
                <a:latin typeface="Segoe UI" panose="020B0502040204020203" pitchFamily="34" charset="0"/>
              </a:rPr>
              <a:t>GrimAge</a:t>
            </a:r>
            <a:r>
              <a:rPr lang="tr-TR" dirty="0">
                <a:latin typeface="Segoe UI" panose="020B0502040204020203" pitchFamily="34" charset="0"/>
              </a:rPr>
              <a:t> (en iyi mortalite tahmini)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Mudahale</a:t>
            </a:r>
            <a:r>
              <a:rPr lang="tr-TR" dirty="0">
                <a:latin typeface="Segoe UI" panose="020B0502040204020203" pitchFamily="34" charset="0"/>
              </a:rPr>
              <a:t> izleme: </a:t>
            </a:r>
            <a:r>
              <a:rPr lang="tr-TR" dirty="0" err="1">
                <a:latin typeface="Segoe UI" panose="020B0502040204020203" pitchFamily="34" charset="0"/>
              </a:rPr>
              <a:t>DunedinPACE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degisime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duyarli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Doku-spesifik analiz: </a:t>
            </a:r>
            <a:r>
              <a:rPr lang="tr-TR" dirty="0" err="1">
                <a:latin typeface="Segoe UI" panose="020B0502040204020203" pitchFamily="34" charset="0"/>
              </a:rPr>
              <a:t>Horvath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pan-tissue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Ensemble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yaklasim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Coklu</a:t>
            </a:r>
            <a:r>
              <a:rPr lang="tr-TR" dirty="0">
                <a:latin typeface="Segoe UI" panose="020B0502040204020203" pitchFamily="34" charset="0"/>
              </a:rPr>
              <a:t> saat kombinasyonu </a:t>
            </a:r>
            <a:r>
              <a:rPr lang="tr-TR" dirty="0" err="1">
                <a:latin typeface="Segoe UI" panose="020B0502040204020203" pitchFamily="34" charset="0"/>
              </a:rPr>
              <a:t>superiordur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42714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Maddeye Özgü Diferansiyel Metile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Sayilari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Madde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Toplam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CpG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Hipermetile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Hipometile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Core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Signature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Alkol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387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198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189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436 ortak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Kokain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289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147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142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436 ortak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Opioid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312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156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156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436 ortak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Metamfetamin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289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147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142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436 ortak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Kannabis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183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89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94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436 ortak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Paylasilmis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Core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436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223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213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TOPLAM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BENZERSIZ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1,847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8247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En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İstatistiksel </a:t>
            </a:r>
            <a:r>
              <a:rPr lang="tr-TR" dirty="0" err="1">
                <a:latin typeface="Segoe UI" panose="020B0502040204020203" pitchFamily="34" charset="0"/>
              </a:rPr>
              <a:t>Anlamlilik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Gosteren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Siteleri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CpG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Gen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Madde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Delta Beta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degeri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cg05575921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AHRR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Alkol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+0.34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1.2x10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^-48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cg21566642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ALPPL2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Alkol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+0.28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3.4x10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^-36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cg05951221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ANKRD34B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Kokain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-0.31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5.7x10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^-24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cg26963277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LRFN2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Kokain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+0.23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8.1x10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^-19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cg01940273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OPRM1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Opioid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+0.26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2.1x10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^-12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cg11554391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PDYN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Opioid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+0.22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4.3x10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^-9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cg23193759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SLC6A3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/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DAT1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Metamfetamin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-0.29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1.8x10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^-7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90041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Gen </a:t>
            </a:r>
            <a:r>
              <a:rPr lang="tr-TR" dirty="0" err="1">
                <a:latin typeface="Segoe UI" panose="020B0502040204020203" pitchFamily="34" charset="0"/>
              </a:rPr>
              <a:t>Ontology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Enrichment</a:t>
            </a:r>
            <a:r>
              <a:rPr lang="tr-TR" dirty="0">
                <a:latin typeface="Segoe UI" panose="020B0502040204020203" pitchFamily="34" charset="0"/>
              </a:rPr>
              <a:t>: Maddeye Özgü Yolaklar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Madde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GO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Term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GO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ID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FDR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Alkol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Xenobiotic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metabolic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process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GO:0006805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1.2x10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^-8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Alkol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Response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to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oxidative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stress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GO:0006979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3.4x10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^-7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Alkol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Inflammatory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response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GO:0006954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8.1x10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^-6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Kokain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Chemical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synaptic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transmission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GO:0007268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2.3x10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^-9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Kokain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Learning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GO:0007612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5.7x10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^-7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Opioid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G protein-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coupled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receptor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signaling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GO:0007186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1.8x10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^-7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Core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DNA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repair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GO:0006281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1.5x10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^-12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Core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Cellular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response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to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DNA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damage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GO:0006974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3.2x10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^-11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Core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Chromatin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organization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GO:0006325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7.8x10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^-10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6253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Madde </a:t>
            </a:r>
            <a:r>
              <a:rPr lang="tr-TR" dirty="0" err="1">
                <a:latin typeface="Segoe UI" panose="020B0502040204020203" pitchFamily="34" charset="0"/>
              </a:rPr>
              <a:t>Siniflandirma</a:t>
            </a:r>
            <a:r>
              <a:rPr lang="tr-TR" dirty="0">
                <a:latin typeface="Segoe UI" panose="020B0502040204020203" pitchFamily="34" charset="0"/>
              </a:rPr>
              <a:t> Performans Metrikleri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Madde Turu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Precision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Recall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F1-Score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ROC-AUC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Alkol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0.89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0.87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0.88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0.94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Kokain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0.84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0.89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0.86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0.96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Opioid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0.86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0.87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0.87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0.95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Metamfetamin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0.29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0.65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0.40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0.88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Kannabis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0.73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0.76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0.74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0.91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Coklu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Madde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0.84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0.77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0.81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0.93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Kontrol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0.99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0.98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0.98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0.99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9420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Siniflandirma</a:t>
            </a:r>
            <a:r>
              <a:rPr lang="tr-TR" dirty="0">
                <a:latin typeface="Segoe UI" panose="020B0502040204020203" pitchFamily="34" charset="0"/>
              </a:rPr>
              <a:t>: En </a:t>
            </a:r>
            <a:r>
              <a:rPr lang="tr-TR" dirty="0" err="1">
                <a:latin typeface="Segoe UI" panose="020B0502040204020203" pitchFamily="34" charset="0"/>
              </a:rPr>
              <a:t>Ayirt</a:t>
            </a:r>
            <a:r>
              <a:rPr lang="tr-TR" dirty="0">
                <a:latin typeface="Segoe UI" panose="020B0502040204020203" pitchFamily="34" charset="0"/>
              </a:rPr>
              <a:t> Edici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Siteleri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841248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RANDOM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FOREST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FEATURE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IMPORTANCE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TOP 10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MARKERI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1. </a:t>
            </a:r>
            <a:r>
              <a:rPr lang="tr-TR" dirty="0" err="1">
                <a:latin typeface="Segoe UI" panose="020B0502040204020203" pitchFamily="34" charset="0"/>
              </a:rPr>
              <a:t>cg05575921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AHRR</a:t>
            </a:r>
            <a:r>
              <a:rPr lang="tr-TR" dirty="0">
                <a:latin typeface="Segoe UI" panose="020B0502040204020203" pitchFamily="34" charset="0"/>
              </a:rPr>
              <a:t>): </a:t>
            </a:r>
            <a:r>
              <a:rPr lang="tr-TR" dirty="0" err="1">
                <a:latin typeface="Segoe UI" panose="020B0502040204020203" pitchFamily="34" charset="0"/>
              </a:rPr>
              <a:t>Importance</a:t>
            </a:r>
            <a:r>
              <a:rPr lang="tr-TR" dirty="0">
                <a:latin typeface="Segoe UI" panose="020B0502040204020203" pitchFamily="34" charset="0"/>
              </a:rPr>
              <a:t> = 0.089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2. </a:t>
            </a:r>
            <a:r>
              <a:rPr lang="tr-TR" dirty="0" err="1">
                <a:latin typeface="Segoe UI" panose="020B0502040204020203" pitchFamily="34" charset="0"/>
              </a:rPr>
              <a:t>cg21566642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ALPPL2</a:t>
            </a:r>
            <a:r>
              <a:rPr lang="tr-TR" dirty="0">
                <a:latin typeface="Segoe UI" panose="020B0502040204020203" pitchFamily="34" charset="0"/>
              </a:rPr>
              <a:t>): </a:t>
            </a:r>
            <a:r>
              <a:rPr lang="tr-TR" dirty="0" err="1">
                <a:latin typeface="Segoe UI" panose="020B0502040204020203" pitchFamily="34" charset="0"/>
              </a:rPr>
              <a:t>Importance</a:t>
            </a:r>
            <a:r>
              <a:rPr lang="tr-TR" dirty="0">
                <a:latin typeface="Segoe UI" panose="020B0502040204020203" pitchFamily="34" charset="0"/>
              </a:rPr>
              <a:t> = 0.076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3. </a:t>
            </a:r>
            <a:r>
              <a:rPr lang="tr-TR" dirty="0" err="1">
                <a:latin typeface="Segoe UI" panose="020B0502040204020203" pitchFamily="34" charset="0"/>
              </a:rPr>
              <a:t>cg05951221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ANKRD34B</a:t>
            </a:r>
            <a:r>
              <a:rPr lang="tr-TR" dirty="0">
                <a:latin typeface="Segoe UI" panose="020B0502040204020203" pitchFamily="34" charset="0"/>
              </a:rPr>
              <a:t>): </a:t>
            </a:r>
            <a:r>
              <a:rPr lang="tr-TR" dirty="0" err="1">
                <a:latin typeface="Segoe UI" panose="020B0502040204020203" pitchFamily="34" charset="0"/>
              </a:rPr>
              <a:t>Importance</a:t>
            </a:r>
            <a:r>
              <a:rPr lang="tr-TR" dirty="0">
                <a:latin typeface="Segoe UI" panose="020B0502040204020203" pitchFamily="34" charset="0"/>
              </a:rPr>
              <a:t> = 0.072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4. </a:t>
            </a:r>
            <a:r>
              <a:rPr lang="tr-TR" dirty="0" err="1">
                <a:latin typeface="Segoe UI" panose="020B0502040204020203" pitchFamily="34" charset="0"/>
              </a:rPr>
              <a:t>cg01940273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OPRM1</a:t>
            </a:r>
            <a:r>
              <a:rPr lang="tr-TR" dirty="0">
                <a:latin typeface="Segoe UI" panose="020B0502040204020203" pitchFamily="34" charset="0"/>
              </a:rPr>
              <a:t>): </a:t>
            </a:r>
            <a:r>
              <a:rPr lang="tr-TR" dirty="0" err="1">
                <a:latin typeface="Segoe UI" panose="020B0502040204020203" pitchFamily="34" charset="0"/>
              </a:rPr>
              <a:t>Importance</a:t>
            </a:r>
            <a:r>
              <a:rPr lang="tr-TR" dirty="0">
                <a:latin typeface="Segoe UI" panose="020B0502040204020203" pitchFamily="34" charset="0"/>
              </a:rPr>
              <a:t> = 0.068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5. </a:t>
            </a:r>
            <a:r>
              <a:rPr lang="tr-TR" dirty="0" err="1">
                <a:latin typeface="Segoe UI" panose="020B0502040204020203" pitchFamily="34" charset="0"/>
              </a:rPr>
              <a:t>cg23193759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SLC6A3</a:t>
            </a:r>
            <a:r>
              <a:rPr lang="tr-TR" dirty="0">
                <a:latin typeface="Segoe UI" panose="020B0502040204020203" pitchFamily="34" charset="0"/>
              </a:rPr>
              <a:t>): </a:t>
            </a:r>
            <a:r>
              <a:rPr lang="tr-TR" dirty="0" err="1">
                <a:latin typeface="Segoe UI" panose="020B0502040204020203" pitchFamily="34" charset="0"/>
              </a:rPr>
              <a:t>Importance</a:t>
            </a:r>
            <a:r>
              <a:rPr lang="tr-TR" dirty="0">
                <a:latin typeface="Segoe UI" panose="020B0502040204020203" pitchFamily="34" charset="0"/>
              </a:rPr>
              <a:t> = 0.061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6. </a:t>
            </a:r>
            <a:r>
              <a:rPr lang="tr-TR" dirty="0" err="1">
                <a:latin typeface="Segoe UI" panose="020B0502040204020203" pitchFamily="34" charset="0"/>
              </a:rPr>
              <a:t>cg26963277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LRFN2</a:t>
            </a:r>
            <a:r>
              <a:rPr lang="tr-TR" dirty="0">
                <a:latin typeface="Segoe UI" panose="020B0502040204020203" pitchFamily="34" charset="0"/>
              </a:rPr>
              <a:t>): </a:t>
            </a:r>
            <a:r>
              <a:rPr lang="tr-TR" dirty="0" err="1">
                <a:latin typeface="Segoe UI" panose="020B0502040204020203" pitchFamily="34" charset="0"/>
              </a:rPr>
              <a:t>Importance</a:t>
            </a:r>
            <a:r>
              <a:rPr lang="tr-TR" dirty="0">
                <a:latin typeface="Segoe UI" panose="020B0502040204020203" pitchFamily="34" charset="0"/>
              </a:rPr>
              <a:t> = 0.054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7. </a:t>
            </a:r>
            <a:r>
              <a:rPr lang="tr-TR" dirty="0" err="1">
                <a:latin typeface="Segoe UI" panose="020B0502040204020203" pitchFamily="34" charset="0"/>
              </a:rPr>
              <a:t>cg11554391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PDYN</a:t>
            </a:r>
            <a:r>
              <a:rPr lang="tr-TR" dirty="0">
                <a:latin typeface="Segoe UI" panose="020B0502040204020203" pitchFamily="34" charset="0"/>
              </a:rPr>
              <a:t>): </a:t>
            </a:r>
            <a:r>
              <a:rPr lang="tr-TR" dirty="0" err="1">
                <a:latin typeface="Segoe UI" panose="020B0502040204020203" pitchFamily="34" charset="0"/>
              </a:rPr>
              <a:t>Importance</a:t>
            </a:r>
            <a:r>
              <a:rPr lang="tr-TR" dirty="0">
                <a:latin typeface="Segoe UI" panose="020B0502040204020203" pitchFamily="34" charset="0"/>
              </a:rPr>
              <a:t> = 0.048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8. </a:t>
            </a:r>
            <a:r>
              <a:rPr lang="tr-TR" dirty="0" err="1">
                <a:latin typeface="Segoe UI" panose="020B0502040204020203" pitchFamily="34" charset="0"/>
              </a:rPr>
              <a:t>cg14976642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DRD2</a:t>
            </a:r>
            <a:r>
              <a:rPr lang="tr-TR" dirty="0">
                <a:latin typeface="Segoe UI" panose="020B0502040204020203" pitchFamily="34" charset="0"/>
              </a:rPr>
              <a:t>): </a:t>
            </a:r>
            <a:r>
              <a:rPr lang="tr-TR" dirty="0" err="1">
                <a:latin typeface="Segoe UI" panose="020B0502040204020203" pitchFamily="34" charset="0"/>
              </a:rPr>
              <a:t>Importance</a:t>
            </a:r>
            <a:r>
              <a:rPr lang="tr-TR" dirty="0">
                <a:latin typeface="Segoe UI" panose="020B0502040204020203" pitchFamily="34" charset="0"/>
              </a:rPr>
              <a:t> = 0.043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9. </a:t>
            </a:r>
            <a:r>
              <a:rPr lang="tr-TR" dirty="0" err="1">
                <a:latin typeface="Segoe UI" panose="020B0502040204020203" pitchFamily="34" charset="0"/>
              </a:rPr>
              <a:t>cg06500161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COMT</a:t>
            </a:r>
            <a:r>
              <a:rPr lang="tr-TR" dirty="0">
                <a:latin typeface="Segoe UI" panose="020B0502040204020203" pitchFamily="34" charset="0"/>
              </a:rPr>
              <a:t>): </a:t>
            </a:r>
            <a:r>
              <a:rPr lang="tr-TR" dirty="0" err="1">
                <a:latin typeface="Segoe UI" panose="020B0502040204020203" pitchFamily="34" charset="0"/>
              </a:rPr>
              <a:t>Importance</a:t>
            </a:r>
            <a:r>
              <a:rPr lang="tr-TR" dirty="0">
                <a:latin typeface="Segoe UI" panose="020B0502040204020203" pitchFamily="34" charset="0"/>
              </a:rPr>
              <a:t> = 0.039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10. </a:t>
            </a:r>
            <a:r>
              <a:rPr lang="tr-TR" dirty="0" err="1">
                <a:latin typeface="Segoe UI" panose="020B0502040204020203" pitchFamily="34" charset="0"/>
              </a:rPr>
              <a:t>cg21161138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GABRA1</a:t>
            </a:r>
            <a:r>
              <a:rPr lang="tr-TR" dirty="0">
                <a:latin typeface="Segoe UI" panose="020B0502040204020203" pitchFamily="34" charset="0"/>
              </a:rPr>
              <a:t>): </a:t>
            </a:r>
            <a:r>
              <a:rPr lang="tr-TR" dirty="0" err="1">
                <a:latin typeface="Segoe UI" panose="020B0502040204020203" pitchFamily="34" charset="0"/>
              </a:rPr>
              <a:t>Importance</a:t>
            </a:r>
            <a:r>
              <a:rPr lang="tr-TR" dirty="0">
                <a:latin typeface="Segoe UI" panose="020B0502040204020203" pitchFamily="34" charset="0"/>
              </a:rPr>
              <a:t> = 0.035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YORUM: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AHRR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aryl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hydrocarbon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receptor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repressor</a:t>
            </a:r>
            <a:r>
              <a:rPr lang="tr-TR" dirty="0">
                <a:latin typeface="Segoe UI" panose="020B0502040204020203" pitchFamily="34" charset="0"/>
              </a:rPr>
              <a:t>) en </a:t>
            </a:r>
            <a:r>
              <a:rPr lang="tr-TR" dirty="0" err="1">
                <a:latin typeface="Segoe UI" panose="020B0502040204020203" pitchFamily="34" charset="0"/>
              </a:rPr>
              <a:t>ayirt</a:t>
            </a:r>
            <a:r>
              <a:rPr lang="tr-TR" dirty="0">
                <a:latin typeface="Segoe UI" panose="020B0502040204020203" pitchFamily="34" charset="0"/>
              </a:rPr>
              <a:t> edici marker olup, </a:t>
            </a:r>
            <a:r>
              <a:rPr lang="tr-TR" dirty="0" err="1">
                <a:latin typeface="Segoe UI" panose="020B0502040204020203" pitchFamily="34" charset="0"/>
              </a:rPr>
              <a:t>xenobiotic</a:t>
            </a:r>
            <a:r>
              <a:rPr lang="tr-TR" dirty="0">
                <a:latin typeface="Segoe UI" panose="020B0502040204020203" pitchFamily="34" charset="0"/>
              </a:rPr>
              <a:t> metabolizma ve inflamasyonla </a:t>
            </a:r>
            <a:r>
              <a:rPr lang="tr-TR" dirty="0" err="1">
                <a:latin typeface="Segoe UI" panose="020B0502040204020203" pitchFamily="34" charset="0"/>
              </a:rPr>
              <a:t>iliskilidir</a:t>
            </a:r>
            <a:r>
              <a:rPr lang="tr-TR" dirty="0">
                <a:latin typeface="Segoe UI" panose="020B0502040204020203" pitchFamily="34" charset="0"/>
              </a:rPr>
              <a:t>. Bu bulgu, alkol ve sigara </a:t>
            </a:r>
            <a:r>
              <a:rPr lang="tr-TR" dirty="0" err="1">
                <a:latin typeface="Segoe UI" panose="020B0502040204020203" pitchFamily="34" charset="0"/>
              </a:rPr>
              <a:t>arastirmalarindaki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literatur</a:t>
            </a:r>
            <a:r>
              <a:rPr lang="tr-TR" dirty="0">
                <a:latin typeface="Segoe UI" panose="020B0502040204020203" pitchFamily="34" charset="0"/>
              </a:rPr>
              <a:t> ile </a:t>
            </a:r>
            <a:r>
              <a:rPr lang="tr-TR" dirty="0" err="1">
                <a:latin typeface="Segoe UI" panose="020B0502040204020203" pitchFamily="34" charset="0"/>
              </a:rPr>
              <a:t>tutarlidir</a:t>
            </a:r>
            <a:r>
              <a:rPr lang="tr-TR" dirty="0">
                <a:latin typeface="Segoe UI" panose="020B0502040204020203" pitchFamily="34" charset="0"/>
              </a:rPr>
              <a:t>.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52751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Siniflandirma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Performansi</a:t>
            </a:r>
            <a:r>
              <a:rPr lang="tr-TR" dirty="0">
                <a:latin typeface="Segoe UI" panose="020B0502040204020203" pitchFamily="34" charset="0"/>
              </a:rPr>
              <a:t>: Yorum ve Limitasyonlar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05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GENEL </a:t>
            </a:r>
            <a:r>
              <a:rPr lang="tr-TR" dirty="0" err="1">
                <a:latin typeface="Segoe UI" panose="020B0502040204020203" pitchFamily="34" charset="0"/>
              </a:rPr>
              <a:t>DOGRULUK</a:t>
            </a:r>
            <a:r>
              <a:rPr lang="tr-TR" dirty="0">
                <a:latin typeface="Segoe UI" panose="020B0502040204020203" pitchFamily="34" charset="0"/>
              </a:rPr>
              <a:t>: %87.3 (95% CI: 85.6-89.1)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GUCLU</a:t>
            </a:r>
            <a:r>
              <a:rPr lang="tr-TR" dirty="0">
                <a:latin typeface="Segoe UI" panose="020B0502040204020203" pitchFamily="34" charset="0"/>
              </a:rPr>
              <a:t> PERFORMANS: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Kontrol grubu: </a:t>
            </a:r>
            <a:r>
              <a:rPr lang="tr-TR" dirty="0" err="1">
                <a:latin typeface="Segoe UI" panose="020B0502040204020203" pitchFamily="34" charset="0"/>
              </a:rPr>
              <a:t>F1</a:t>
            </a:r>
            <a:r>
              <a:rPr lang="tr-TR" dirty="0">
                <a:latin typeface="Segoe UI" panose="020B0502040204020203" pitchFamily="34" charset="0"/>
              </a:rPr>
              <a:t>=0.98, </a:t>
            </a:r>
            <a:r>
              <a:rPr lang="tr-TR" dirty="0" err="1">
                <a:latin typeface="Segoe UI" panose="020B0502040204020203" pitchFamily="34" charset="0"/>
              </a:rPr>
              <a:t>ROC-AUC</a:t>
            </a:r>
            <a:r>
              <a:rPr lang="tr-TR" dirty="0">
                <a:latin typeface="Segoe UI" panose="020B0502040204020203" pitchFamily="34" charset="0"/>
              </a:rPr>
              <a:t>=0.99 - Neredeyse </a:t>
            </a:r>
            <a:r>
              <a:rPr lang="tr-TR" dirty="0" err="1">
                <a:latin typeface="Segoe UI" panose="020B0502040204020203" pitchFamily="34" charset="0"/>
              </a:rPr>
              <a:t>mukemmel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ayirim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Alkol: </a:t>
            </a:r>
            <a:r>
              <a:rPr lang="tr-TR" dirty="0" err="1">
                <a:latin typeface="Segoe UI" panose="020B0502040204020203" pitchFamily="34" charset="0"/>
              </a:rPr>
              <a:t>F1</a:t>
            </a:r>
            <a:r>
              <a:rPr lang="tr-TR" dirty="0">
                <a:latin typeface="Segoe UI" panose="020B0502040204020203" pitchFamily="34" charset="0"/>
              </a:rPr>
              <a:t>=0.88, </a:t>
            </a:r>
            <a:r>
              <a:rPr lang="tr-TR" dirty="0" err="1">
                <a:latin typeface="Segoe UI" panose="020B0502040204020203" pitchFamily="34" charset="0"/>
              </a:rPr>
              <a:t>ROC-AUC</a:t>
            </a:r>
            <a:r>
              <a:rPr lang="tr-TR" dirty="0">
                <a:latin typeface="Segoe UI" panose="020B0502040204020203" pitchFamily="34" charset="0"/>
              </a:rPr>
              <a:t>=0.94 -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ayirt</a:t>
            </a:r>
            <a:r>
              <a:rPr lang="tr-TR" dirty="0">
                <a:latin typeface="Segoe UI" panose="020B0502040204020203" pitchFamily="34" charset="0"/>
              </a:rPr>
              <a:t> edicilik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Kokain: </a:t>
            </a:r>
            <a:r>
              <a:rPr lang="tr-TR" dirty="0" err="1">
                <a:latin typeface="Segoe UI" panose="020B0502040204020203" pitchFamily="34" charset="0"/>
              </a:rPr>
              <a:t>F1</a:t>
            </a:r>
            <a:r>
              <a:rPr lang="tr-TR" dirty="0">
                <a:latin typeface="Segoe UI" panose="020B0502040204020203" pitchFamily="34" charset="0"/>
              </a:rPr>
              <a:t>=0.86, </a:t>
            </a:r>
            <a:r>
              <a:rPr lang="tr-TR" dirty="0" err="1">
                <a:latin typeface="Segoe UI" panose="020B0502040204020203" pitchFamily="34" charset="0"/>
              </a:rPr>
              <a:t>ROC-AUC</a:t>
            </a:r>
            <a:r>
              <a:rPr lang="tr-TR" dirty="0">
                <a:latin typeface="Segoe UI" panose="020B0502040204020203" pitchFamily="34" charset="0"/>
              </a:rPr>
              <a:t>=0.96 - </a:t>
            </a:r>
            <a:r>
              <a:rPr lang="tr-TR" dirty="0" err="1">
                <a:latin typeface="Segoe UI" panose="020B0502040204020203" pitchFamily="34" charset="0"/>
              </a:rPr>
              <a:t>Cok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ROC-AUC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Opioid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F1</a:t>
            </a:r>
            <a:r>
              <a:rPr lang="tr-TR" dirty="0">
                <a:latin typeface="Segoe UI" panose="020B0502040204020203" pitchFamily="34" charset="0"/>
              </a:rPr>
              <a:t>=0.87, </a:t>
            </a:r>
            <a:r>
              <a:rPr lang="tr-TR" dirty="0" err="1">
                <a:latin typeface="Segoe UI" panose="020B0502040204020203" pitchFamily="34" charset="0"/>
              </a:rPr>
              <a:t>ROC-AUC</a:t>
            </a:r>
            <a:r>
              <a:rPr lang="tr-TR" dirty="0">
                <a:latin typeface="Segoe UI" panose="020B0502040204020203" pitchFamily="34" charset="0"/>
              </a:rPr>
              <a:t>=0.95 - </a:t>
            </a:r>
            <a:r>
              <a:rPr lang="tr-TR" dirty="0" err="1">
                <a:latin typeface="Segoe UI" panose="020B0502040204020203" pitchFamily="34" charset="0"/>
              </a:rPr>
              <a:t>Tutarli</a:t>
            </a:r>
            <a:r>
              <a:rPr lang="tr-TR" dirty="0">
                <a:latin typeface="Segoe UI" panose="020B0502040204020203" pitchFamily="34" charset="0"/>
              </a:rPr>
              <a:t> performans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ZAYIF PERFORMANS: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Metamfetamin: </a:t>
            </a:r>
            <a:r>
              <a:rPr lang="tr-TR" dirty="0" err="1">
                <a:latin typeface="Segoe UI" panose="020B0502040204020203" pitchFamily="34" charset="0"/>
              </a:rPr>
              <a:t>F1</a:t>
            </a:r>
            <a:r>
              <a:rPr lang="tr-TR" dirty="0">
                <a:latin typeface="Segoe UI" panose="020B0502040204020203" pitchFamily="34" charset="0"/>
              </a:rPr>
              <a:t>=0.40, Precision=0.29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Neden? </a:t>
            </a:r>
            <a:r>
              <a:rPr lang="tr-TR" dirty="0" err="1">
                <a:latin typeface="Segoe UI" panose="020B0502040204020203" pitchFamily="34" charset="0"/>
              </a:rPr>
              <a:t>Kucuk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ornek</a:t>
            </a:r>
            <a:r>
              <a:rPr lang="tr-TR" dirty="0">
                <a:latin typeface="Segoe UI" panose="020B0502040204020203" pitchFamily="34" charset="0"/>
              </a:rPr>
              <a:t> boyutu (n=48)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</a:t>
            </a:r>
            <a:r>
              <a:rPr lang="tr-TR" dirty="0" err="1">
                <a:latin typeface="Segoe UI" panose="020B0502040204020203" pitchFamily="34" charset="0"/>
              </a:rPr>
              <a:t>Diger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stimulanlarla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karismasi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ozellikle</a:t>
            </a:r>
            <a:r>
              <a:rPr lang="tr-TR" dirty="0">
                <a:latin typeface="Segoe UI" panose="020B0502040204020203" pitchFamily="34" charset="0"/>
              </a:rPr>
              <a:t> kokain)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ADLI Uygulama </a:t>
            </a:r>
            <a:r>
              <a:rPr lang="tr-TR" dirty="0" err="1">
                <a:latin typeface="Segoe UI" panose="020B0502040204020203" pitchFamily="34" charset="0"/>
              </a:rPr>
              <a:t>POTANSIYELI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ROC-AUC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degerleri</a:t>
            </a:r>
            <a:r>
              <a:rPr lang="tr-TR" dirty="0">
                <a:latin typeface="Segoe UI" panose="020B0502040204020203" pitchFamily="34" charset="0"/>
              </a:rPr>
              <a:t> (0.88-0.99) </a:t>
            </a:r>
            <a:r>
              <a:rPr lang="tr-TR" dirty="0" err="1">
                <a:latin typeface="Segoe UI" panose="020B0502040204020203" pitchFamily="34" charset="0"/>
              </a:rPr>
              <a:t>screening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uygun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Kontrol-madde </a:t>
            </a:r>
            <a:r>
              <a:rPr lang="tr-TR" dirty="0" err="1">
                <a:latin typeface="Segoe UI" panose="020B0502040204020203" pitchFamily="34" charset="0"/>
              </a:rPr>
              <a:t>kullanici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ayrimi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mukemmel</a:t>
            </a:r>
            <a:r>
              <a:rPr lang="tr-TR" dirty="0">
                <a:latin typeface="Segoe UI" panose="020B0502040204020203" pitchFamily="34" charset="0"/>
              </a:rPr>
              <a:t> performans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Spesifik madde turu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destekleyici </a:t>
            </a:r>
            <a:r>
              <a:rPr lang="tr-TR" dirty="0" err="1">
                <a:latin typeface="Segoe UI" panose="020B0502040204020203" pitchFamily="34" charset="0"/>
              </a:rPr>
              <a:t>kanit</a:t>
            </a:r>
            <a:r>
              <a:rPr lang="tr-TR" dirty="0">
                <a:latin typeface="Segoe UI" panose="020B0502040204020203" pitchFamily="34" charset="0"/>
              </a:rPr>
              <a:t> olarak </a:t>
            </a:r>
            <a:r>
              <a:rPr lang="tr-TR" dirty="0" err="1">
                <a:latin typeface="Segoe UI" panose="020B0502040204020203" pitchFamily="34" charset="0"/>
              </a:rPr>
              <a:t>kullanilabilir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29888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Mediyasyon</a:t>
            </a:r>
            <a:r>
              <a:rPr lang="tr-TR" dirty="0">
                <a:latin typeface="Segoe UI" panose="020B0502040204020203" pitchFamily="34" charset="0"/>
              </a:rPr>
              <a:t> Analizi: Fizyolojik Yolaklar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288"/>
                <a:gridCol w="1322832"/>
                <a:gridCol w="1432560"/>
                <a:gridCol w="1432560"/>
                <a:gridCol w="1432560"/>
                <a:gridCol w="143256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Mediyator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Toplam Etki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Direkt Etki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Indirekt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Etki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Mediyasyon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Insulin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Direnci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HOMA-IR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2,847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0.62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0.40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0.21 (p&lt;0.001)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34%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HPA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Eksen (Kortizol/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ACTH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1,523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0.58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0.41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0.17 (p=0.003)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29%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Sistemik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Inflamasyon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CRP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/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-6)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2,134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0.64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0.40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0.24 (p&lt;0.001)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37%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96571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Mediyasyon</a:t>
            </a:r>
            <a:r>
              <a:rPr lang="tr-TR" dirty="0">
                <a:latin typeface="Segoe UI" panose="020B0502040204020203" pitchFamily="34" charset="0"/>
              </a:rPr>
              <a:t> Analizi: </a:t>
            </a:r>
            <a:r>
              <a:rPr lang="tr-TR" dirty="0" err="1">
                <a:latin typeface="Segoe UI" panose="020B0502040204020203" pitchFamily="34" charset="0"/>
              </a:rPr>
              <a:t>Path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Katsayilari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Mediyator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Path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a (Madde-&gt;M)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Path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b (M-&gt;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EAA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Insulin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Direnci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0.48 (0.05)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0.44 (0.04)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HPA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Eksen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0.39 (0.06)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0.43 (0.05)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Sistemik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Inflamasyon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0.52 (0.05)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0.46 (0.04)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1040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Maddeye Özgü </a:t>
            </a:r>
            <a:r>
              <a:rPr lang="tr-TR" dirty="0" err="1">
                <a:latin typeface="Segoe UI" panose="020B0502040204020203" pitchFamily="34" charset="0"/>
              </a:rPr>
              <a:t>Mediyasyon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Insulin</a:t>
            </a:r>
            <a:r>
              <a:rPr lang="tr-TR" dirty="0">
                <a:latin typeface="Segoe UI" panose="020B0502040204020203" pitchFamily="34" charset="0"/>
              </a:rPr>
              <a:t> Direnci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Madde Turu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Mediyasyon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95% 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degeri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Alkol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38%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31-46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Kokain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29%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22-37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0.002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Opioid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36%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28-44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Metamfetamin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42%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18-68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0.018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71624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HPA</a:t>
            </a:r>
            <a:r>
              <a:rPr lang="tr-TR" dirty="0">
                <a:latin typeface="Segoe UI" panose="020B0502040204020203" pitchFamily="34" charset="0"/>
              </a:rPr>
              <a:t> Eksen </a:t>
            </a:r>
            <a:r>
              <a:rPr lang="tr-TR" dirty="0" err="1">
                <a:latin typeface="Segoe UI" panose="020B0502040204020203" pitchFamily="34" charset="0"/>
              </a:rPr>
              <a:t>Disregulasyonu</a:t>
            </a:r>
            <a:r>
              <a:rPr lang="tr-TR" dirty="0">
                <a:latin typeface="Segoe UI" panose="020B0502040204020203" pitchFamily="34" charset="0"/>
              </a:rPr>
              <a:t>: Madde </a:t>
            </a:r>
            <a:r>
              <a:rPr lang="tr-TR" dirty="0" err="1">
                <a:latin typeface="Segoe UI" panose="020B0502040204020203" pitchFamily="34" charset="0"/>
              </a:rPr>
              <a:t>Turleri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Madde Turu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Kortizol/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ACTH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Artis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degeri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Kontrol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Referans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Alkol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+34%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Kokain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+42%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Opioid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+51%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Metamfetamin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+38%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0.007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91253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Inflamatuar</a:t>
            </a:r>
            <a:r>
              <a:rPr lang="tr-TR" dirty="0">
                <a:latin typeface="Segoe UI" panose="020B0502040204020203" pitchFamily="34" charset="0"/>
              </a:rPr>
              <a:t> Marker Seviyeleri: Madde </a:t>
            </a:r>
            <a:r>
              <a:rPr lang="tr-TR" dirty="0" err="1">
                <a:latin typeface="Segoe UI" panose="020B0502040204020203" pitchFamily="34" charset="0"/>
              </a:rPr>
              <a:t>Turune</a:t>
            </a:r>
            <a:r>
              <a:rPr lang="tr-TR" dirty="0">
                <a:latin typeface="Segoe UI" panose="020B0502040204020203" pitchFamily="34" charset="0"/>
              </a:rPr>
              <a:t> Gore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Grup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CRP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(mg/L)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-6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pg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/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degeri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Kontrol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5,007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1.2 (0.8)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2.1 (1.3)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Referans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Alkol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2,183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3.8 (2.1)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5.7 (2.9)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Kokain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1,030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4.2 (2.4)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6.3 (3.2)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Opioid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1,360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3.4 (1.9)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4.9 (2.6)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Metamfetamin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5.1 (2.8)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7.8 (4.1)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Coklu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Madde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720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6.3 (3.2)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9.2 (4.7)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71315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Coklu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Mediyator</a:t>
            </a:r>
            <a:r>
              <a:rPr lang="tr-TR" dirty="0">
                <a:latin typeface="Segoe UI" panose="020B0502040204020203" pitchFamily="34" charset="0"/>
              </a:rPr>
              <a:t> Modeli </a:t>
            </a:r>
            <a:r>
              <a:rPr lang="tr-TR" dirty="0" err="1">
                <a:latin typeface="Segoe UI" panose="020B0502040204020203" pitchFamily="34" charset="0"/>
              </a:rPr>
              <a:t>Sonuçlari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Mediyator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Indirekt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Etki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95% 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Bagimsiz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Med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. 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Insulin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Direnci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1,289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0.14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0.09-0.19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22%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HPA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Eksen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1,289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0.05-0.14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14%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Sistemik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Inflamasyon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1,289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0.16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0.11-0.21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25%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Toplam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Indirekt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1,289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0.39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0.32-0.46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61%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Direkt Etki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1,289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0.25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0.17-0.33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39%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38277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Moderasyon</a:t>
            </a:r>
            <a:r>
              <a:rPr lang="tr-TR" dirty="0">
                <a:latin typeface="Segoe UI" panose="020B0502040204020203" pitchFamily="34" charset="0"/>
              </a:rPr>
              <a:t> Analizi: Duygu Düzenleme (DERS)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Model Terimi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Beta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95% 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degeri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Madde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Kullanim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Suresi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0.42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0.30-0.54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DERS Skoru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0.28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0.18-0.38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Madde x DERS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Etkilesimi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0.38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0.24-0.52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Model R-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squared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0.67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Etkilesim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Delta R-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squared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93850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Simple </a:t>
            </a:r>
            <a:r>
              <a:rPr lang="tr-TR" dirty="0" err="1">
                <a:latin typeface="Segoe UI" panose="020B0502040204020203" pitchFamily="34" charset="0"/>
              </a:rPr>
              <a:t>Slopes</a:t>
            </a:r>
            <a:r>
              <a:rPr lang="tr-TR" dirty="0">
                <a:latin typeface="Segoe UI" panose="020B0502040204020203" pitchFamily="34" charset="0"/>
              </a:rPr>
              <a:t> Analizi: Duygu Düzenleme Seviyeleri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DERS Seviyesi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Beta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95% 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Yorum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Dusuk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DERS (-1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SD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0.18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0.08-0.28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Iyi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duygu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duzenleme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Ortalama DERS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0.42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0.30-0.54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Orta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duzenleme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Yuksek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DERS (+1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SD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0.66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0.52-0.80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Zayif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duygu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duzenleme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96046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Kategorik Duygu Düzenleme Analizi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/>
                <a:gridCol w="1227908"/>
                <a:gridCol w="1227908"/>
                <a:gridCol w="1227908"/>
                <a:gridCol w="1227908"/>
                <a:gridCol w="1227908"/>
                <a:gridCol w="122791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DERS Kategorisi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Madde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EAA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Kontrol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EAA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Fark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t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Iyi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(DERS&lt;60)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387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+1.8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+0.2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+1.6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2.1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0.042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Orta (DERS 60-90)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624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+3.9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+0.1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+3.8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8.7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Zayif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(DERS&gt;90)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512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+6.2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+0.3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+5.9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12.4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49842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Moderasyon</a:t>
            </a:r>
            <a:r>
              <a:rPr lang="tr-TR" dirty="0">
                <a:latin typeface="Segoe UI" panose="020B0502040204020203" pitchFamily="34" charset="0"/>
              </a:rPr>
              <a:t> Analizi: </a:t>
            </a:r>
            <a:r>
              <a:rPr lang="tr-TR" dirty="0" err="1">
                <a:latin typeface="Segoe UI" panose="020B0502040204020203" pitchFamily="34" charset="0"/>
              </a:rPr>
              <a:t>Oz</a:t>
            </a:r>
            <a:r>
              <a:rPr lang="tr-TR" dirty="0">
                <a:latin typeface="Segoe UI" panose="020B0502040204020203" pitchFamily="34" charset="0"/>
              </a:rPr>
              <a:t>-Kontrol (</a:t>
            </a:r>
            <a:r>
              <a:rPr lang="tr-TR" dirty="0" err="1">
                <a:latin typeface="Segoe UI" panose="020B0502040204020203" pitchFamily="34" charset="0"/>
              </a:rPr>
              <a:t>SCS</a:t>
            </a:r>
            <a:r>
              <a:rPr lang="tr-TR" dirty="0">
                <a:latin typeface="Segoe UI" panose="020B0502040204020203" pitchFamily="34" charset="0"/>
              </a:rPr>
              <a:t>-B)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Model Terimi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Beta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95% 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degeri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Madde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Kullanim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Suresi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0.48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0.34-0.62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SCS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-B Skoru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-0.22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-0.34 - -0.10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Madde x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SCS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-B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Etkilesimi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-0.26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-0.42 - -0.10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0.002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Model R-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squared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0.61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Etkilesim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Delta R-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squared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6759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Simple </a:t>
            </a:r>
            <a:r>
              <a:rPr lang="tr-TR" dirty="0" err="1">
                <a:latin typeface="Segoe UI" panose="020B0502040204020203" pitchFamily="34" charset="0"/>
              </a:rPr>
              <a:t>Slopes</a:t>
            </a:r>
            <a:r>
              <a:rPr lang="tr-TR" dirty="0">
                <a:latin typeface="Segoe UI" panose="020B0502040204020203" pitchFamily="34" charset="0"/>
              </a:rPr>
              <a:t> Analizi: </a:t>
            </a:r>
            <a:r>
              <a:rPr lang="tr-TR" dirty="0" err="1">
                <a:latin typeface="Segoe UI" panose="020B0502040204020203" pitchFamily="34" charset="0"/>
              </a:rPr>
              <a:t>Oz</a:t>
            </a:r>
            <a:r>
              <a:rPr lang="tr-TR" dirty="0">
                <a:latin typeface="Segoe UI" panose="020B0502040204020203" pitchFamily="34" charset="0"/>
              </a:rPr>
              <a:t>-Kontrol Seviyeleri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SCS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-B Seviyesi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Beta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95% 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Yorum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Dusuk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Oz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-Kontrol (-1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SD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0.74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0.58-0.90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Zayif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oz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-kontrol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Ortalama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Oz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-Kontrol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0.48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0.34-0.62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Orta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oz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-kontrol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Yuksek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Oz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-Kontrol (+1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SD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0.22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0.08-0.36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0.003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Iyi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oz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-kontrol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98955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Kategorik </a:t>
            </a:r>
            <a:r>
              <a:rPr lang="tr-TR" dirty="0" err="1">
                <a:latin typeface="Segoe UI" panose="020B0502040204020203" pitchFamily="34" charset="0"/>
              </a:rPr>
              <a:t>Oz</a:t>
            </a:r>
            <a:r>
              <a:rPr lang="tr-TR" dirty="0">
                <a:latin typeface="Segoe UI" panose="020B0502040204020203" pitchFamily="34" charset="0"/>
              </a:rPr>
              <a:t>-Kontrol Analizi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SCS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-B Kategorisi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EAA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95% 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Fark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Dusuk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SCS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-B&lt;30)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342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+5.7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4.9-6.6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Referans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Orta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SCS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-B 30-40)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518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+3.4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2.8-4.1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-2.3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Yuksek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SCS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-B&gt;40)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429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+1.9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1.3-2.6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-3.8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07475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Moderated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Mediation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Oz</a:t>
            </a:r>
            <a:r>
              <a:rPr lang="tr-TR" dirty="0">
                <a:latin typeface="Segoe UI" panose="020B0502040204020203" pitchFamily="34" charset="0"/>
              </a:rPr>
              <a:t>-Kontrol -&gt; </a:t>
            </a:r>
            <a:r>
              <a:rPr lang="tr-TR" dirty="0" err="1">
                <a:latin typeface="Segoe UI" panose="020B0502040204020203" pitchFamily="34" charset="0"/>
              </a:rPr>
              <a:t>Insulin</a:t>
            </a:r>
            <a:r>
              <a:rPr lang="tr-TR" dirty="0">
                <a:latin typeface="Segoe UI" panose="020B0502040204020203" pitchFamily="34" charset="0"/>
              </a:rPr>
              <a:t> Direnci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Oz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-Kontrol Seviyesi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Indirekt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Etki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95% 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degeri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Dusuk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(-1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SD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987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0.34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0.26-0.43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Ortalama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987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0.21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0.16-0.27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Yuksek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(+1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SD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987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0.03-0.16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0.008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6546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Moderasyon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Bulgulari</a:t>
            </a:r>
            <a:r>
              <a:rPr lang="tr-TR" dirty="0">
                <a:latin typeface="Segoe UI" panose="020B0502040204020203" pitchFamily="34" charset="0"/>
              </a:rPr>
              <a:t>: Özet ve Yorum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DUYGU DÜZENLEME (DERS) </a:t>
            </a:r>
            <a:r>
              <a:rPr lang="tr-TR" dirty="0" err="1">
                <a:latin typeface="Segoe UI" panose="020B0502040204020203" pitchFamily="34" charset="0"/>
              </a:rPr>
              <a:t>ETKILERI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Zayif</a:t>
            </a:r>
            <a:r>
              <a:rPr lang="tr-TR" dirty="0">
                <a:latin typeface="Segoe UI" panose="020B0502040204020203" pitchFamily="34" charset="0"/>
              </a:rPr>
              <a:t> duygu </a:t>
            </a:r>
            <a:r>
              <a:rPr lang="tr-TR" dirty="0" err="1">
                <a:latin typeface="Segoe UI" panose="020B0502040204020203" pitchFamily="34" charset="0"/>
              </a:rPr>
              <a:t>duzenleme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etkisini ~3.7 kat </a:t>
            </a:r>
            <a:r>
              <a:rPr lang="tr-TR" dirty="0" err="1">
                <a:latin typeface="Segoe UI" panose="020B0502040204020203" pitchFamily="34" charset="0"/>
              </a:rPr>
              <a:t>artirmaktadir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Iyi</a:t>
            </a:r>
            <a:r>
              <a:rPr lang="tr-TR" dirty="0">
                <a:latin typeface="Segoe UI" panose="020B0502040204020203" pitchFamily="34" charset="0"/>
              </a:rPr>
              <a:t> duygu </a:t>
            </a:r>
            <a:r>
              <a:rPr lang="tr-TR" dirty="0" err="1">
                <a:latin typeface="Segoe UI" panose="020B0502040204020203" pitchFamily="34" charset="0"/>
              </a:rPr>
              <a:t>duzenleme</a:t>
            </a:r>
            <a:r>
              <a:rPr lang="tr-TR" dirty="0">
                <a:latin typeface="Segoe UI" panose="020B0502040204020203" pitchFamily="34" charset="0"/>
              </a:rPr>
              <a:t>: +1.8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Zayif</a:t>
            </a:r>
            <a:r>
              <a:rPr lang="tr-TR" dirty="0">
                <a:latin typeface="Segoe UI" panose="020B0502040204020203" pitchFamily="34" charset="0"/>
              </a:rPr>
              <a:t> duygu </a:t>
            </a:r>
            <a:r>
              <a:rPr lang="tr-TR" dirty="0" err="1">
                <a:latin typeface="Segoe UI" panose="020B0502040204020203" pitchFamily="34" charset="0"/>
              </a:rPr>
              <a:t>duzenleme</a:t>
            </a:r>
            <a:r>
              <a:rPr lang="tr-TR" dirty="0">
                <a:latin typeface="Segoe UI" panose="020B0502040204020203" pitchFamily="34" charset="0"/>
              </a:rPr>
              <a:t>: +6.2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Johnson-</a:t>
            </a:r>
            <a:r>
              <a:rPr lang="tr-TR" dirty="0" err="1">
                <a:latin typeface="Segoe UI" panose="020B0502040204020203" pitchFamily="34" charset="0"/>
              </a:rPr>
              <a:t>Neyman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threshold</a:t>
            </a:r>
            <a:r>
              <a:rPr lang="tr-TR" dirty="0">
                <a:latin typeface="Segoe UI" panose="020B0502040204020203" pitchFamily="34" charset="0"/>
              </a:rPr>
              <a:t>: DERS &gt; 68 (</a:t>
            </a:r>
            <a:r>
              <a:rPr lang="tr-TR" dirty="0" err="1">
                <a:latin typeface="Segoe UI" panose="020B0502040204020203" pitchFamily="34" charset="0"/>
              </a:rPr>
              <a:t>orneklemin</a:t>
            </a:r>
            <a:r>
              <a:rPr lang="tr-TR" dirty="0">
                <a:latin typeface="Segoe UI" panose="020B0502040204020203" pitchFamily="34" charset="0"/>
              </a:rPr>
              <a:t> %</a:t>
            </a:r>
            <a:r>
              <a:rPr lang="tr-TR" dirty="0" err="1">
                <a:latin typeface="Segoe UI" panose="020B0502040204020203" pitchFamily="34" charset="0"/>
              </a:rPr>
              <a:t>42'si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OZ</a:t>
            </a:r>
            <a:r>
              <a:rPr lang="tr-TR" dirty="0">
                <a:latin typeface="Segoe UI" panose="020B0502040204020203" pitchFamily="34" charset="0"/>
              </a:rPr>
              <a:t>-KONTROL (</a:t>
            </a:r>
            <a:r>
              <a:rPr lang="tr-TR" dirty="0" err="1">
                <a:latin typeface="Segoe UI" panose="020B0502040204020203" pitchFamily="34" charset="0"/>
              </a:rPr>
              <a:t>SCS</a:t>
            </a:r>
            <a:r>
              <a:rPr lang="tr-TR" dirty="0">
                <a:latin typeface="Segoe UI" panose="020B0502040204020203" pitchFamily="34" charset="0"/>
              </a:rPr>
              <a:t>-B) </a:t>
            </a:r>
            <a:r>
              <a:rPr lang="tr-TR" dirty="0" err="1">
                <a:latin typeface="Segoe UI" panose="020B0502040204020203" pitchFamily="34" charset="0"/>
              </a:rPr>
              <a:t>ETKILERI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oz</a:t>
            </a:r>
            <a:r>
              <a:rPr lang="tr-TR" dirty="0">
                <a:latin typeface="Segoe UI" panose="020B0502040204020203" pitchFamily="34" charset="0"/>
              </a:rPr>
              <a:t>-kontrol,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etkisini %54 </a:t>
            </a:r>
            <a:r>
              <a:rPr lang="tr-TR" dirty="0" err="1">
                <a:latin typeface="Segoe UI" panose="020B0502040204020203" pitchFamily="34" charset="0"/>
              </a:rPr>
              <a:t>azaltmaktadir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Dusuk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oz</a:t>
            </a:r>
            <a:r>
              <a:rPr lang="tr-TR" dirty="0">
                <a:latin typeface="Segoe UI" panose="020B0502040204020203" pitchFamily="34" charset="0"/>
              </a:rPr>
              <a:t>-kontrol: +5.7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oz</a:t>
            </a:r>
            <a:r>
              <a:rPr lang="tr-TR" dirty="0">
                <a:latin typeface="Segoe UI" panose="020B0502040204020203" pitchFamily="34" charset="0"/>
              </a:rPr>
              <a:t>-kontrol: +1.9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KLİNİK </a:t>
            </a:r>
            <a:r>
              <a:rPr lang="tr-TR" dirty="0" err="1">
                <a:latin typeface="Segoe UI" panose="020B0502040204020203" pitchFamily="34" charset="0"/>
              </a:rPr>
              <a:t>IMPLIKASYONLAR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Duygu </a:t>
            </a:r>
            <a:r>
              <a:rPr lang="tr-TR" dirty="0" err="1">
                <a:latin typeface="Segoe UI" panose="020B0502040204020203" pitchFamily="34" charset="0"/>
              </a:rPr>
              <a:t>duzenleme</a:t>
            </a:r>
            <a:r>
              <a:rPr lang="tr-TR" dirty="0">
                <a:latin typeface="Segoe UI" panose="020B0502040204020203" pitchFamily="34" charset="0"/>
              </a:rPr>
              <a:t> becerileri (</a:t>
            </a:r>
            <a:r>
              <a:rPr lang="tr-TR" dirty="0" err="1">
                <a:latin typeface="Segoe UI" panose="020B0502040204020203" pitchFamily="34" charset="0"/>
              </a:rPr>
              <a:t>DBT</a:t>
            </a:r>
            <a:r>
              <a:rPr lang="tr-TR" dirty="0">
                <a:latin typeface="Segoe UI" panose="020B0502040204020203" pitchFamily="34" charset="0"/>
              </a:rPr>
              <a:t> gibi terapiler) koruyucu olabilir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Oz</a:t>
            </a:r>
            <a:r>
              <a:rPr lang="tr-TR" dirty="0">
                <a:latin typeface="Segoe UI" panose="020B0502040204020203" pitchFamily="34" charset="0"/>
              </a:rPr>
              <a:t>-kontrol </a:t>
            </a:r>
            <a:r>
              <a:rPr lang="tr-TR" dirty="0" err="1">
                <a:latin typeface="Segoe UI" panose="020B0502040204020203" pitchFamily="34" charset="0"/>
              </a:rPr>
              <a:t>gelistirme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mudahaleleri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CBT</a:t>
            </a:r>
            <a:r>
              <a:rPr lang="tr-TR" dirty="0">
                <a:latin typeface="Segoe UI" panose="020B0502040204020203" pitchFamily="34" charset="0"/>
              </a:rPr>
              <a:t>) epigenetik </a:t>
            </a:r>
            <a:r>
              <a:rPr lang="tr-TR" dirty="0" err="1">
                <a:latin typeface="Segoe UI" panose="020B0502040204020203" pitchFamily="34" charset="0"/>
              </a:rPr>
              <a:t>yaslanmayi</a:t>
            </a:r>
            <a:r>
              <a:rPr lang="tr-TR" dirty="0">
                <a:latin typeface="Segoe UI" panose="020B0502040204020203" pitchFamily="34" charset="0"/>
              </a:rPr>
              <a:t> yavaşlatabilir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Psikolojik </a:t>
            </a:r>
            <a:r>
              <a:rPr lang="tr-TR" dirty="0" err="1">
                <a:latin typeface="Segoe UI" panose="020B0502040204020203" pitchFamily="34" charset="0"/>
              </a:rPr>
              <a:t>dayaniklilik</a:t>
            </a:r>
            <a:r>
              <a:rPr lang="tr-TR" dirty="0">
                <a:latin typeface="Segoe UI" panose="020B0502040204020203" pitchFamily="34" charset="0"/>
              </a:rPr>
              <a:t>, biyolojik yaslanma </a:t>
            </a:r>
            <a:r>
              <a:rPr lang="tr-TR" dirty="0" err="1">
                <a:latin typeface="Segoe UI" panose="020B0502040204020203" pitchFamily="34" charset="0"/>
              </a:rPr>
              <a:t>uzerinde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olculebilir</a:t>
            </a:r>
            <a:r>
              <a:rPr lang="tr-TR" dirty="0">
                <a:latin typeface="Segoe UI" panose="020B0502040204020203" pitchFamily="34" charset="0"/>
              </a:rPr>
              <a:t> etki </a:t>
            </a:r>
            <a:r>
              <a:rPr lang="tr-TR" dirty="0" err="1">
                <a:latin typeface="Segoe UI" panose="020B0502040204020203" pitchFamily="34" charset="0"/>
              </a:rPr>
              <a:t>gosterir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31871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Doz-</a:t>
            </a:r>
            <a:r>
              <a:rPr lang="tr-TR" dirty="0" err="1">
                <a:latin typeface="Segoe UI" panose="020B0502040204020203" pitchFamily="34" charset="0"/>
              </a:rPr>
              <a:t>Yanit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Iliskileri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Kullanim</a:t>
            </a:r>
            <a:r>
              <a:rPr lang="tr-TR" dirty="0">
                <a:latin typeface="Segoe UI" panose="020B0502040204020203" pitchFamily="34" charset="0"/>
              </a:rPr>
              <a:t> Suresi ve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473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LINEER</a:t>
            </a:r>
            <a:r>
              <a:rPr lang="tr-TR" dirty="0">
                <a:latin typeface="Segoe UI" panose="020B0502040204020203" pitchFamily="34" charset="0"/>
              </a:rPr>
              <a:t> REGRESYON SONUÇLARI: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ALKOL: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Her 5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kullanim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: +0.8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(95% CI: 0.6-1.0, p&lt;0.001)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KOKAIN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Her 5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kullanim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: +1.2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(95% CI: 0.9-1.5, p&lt;0.001)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OPIOID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Her 5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kullanim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: +0.9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(95% CI: 0.7-1.2, p&lt;0.001)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METAMFETAMIN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Her 5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kullanim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: +1.6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(95% CI: 0.8-2.4, p=0.002)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KANNABIS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Her 5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kullanim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: +0.4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(95% CI: 0.1-0.7, p=0.018)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YORUM: </a:t>
            </a:r>
            <a:r>
              <a:rPr lang="tr-TR" dirty="0" err="1">
                <a:latin typeface="Segoe UI" panose="020B0502040204020203" pitchFamily="34" charset="0"/>
              </a:rPr>
              <a:t>Kullanim</a:t>
            </a:r>
            <a:r>
              <a:rPr lang="tr-TR" dirty="0">
                <a:latin typeface="Segoe UI" panose="020B0502040204020203" pitchFamily="34" charset="0"/>
              </a:rPr>
              <a:t> suresi ile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arasinda</a:t>
            </a:r>
            <a:r>
              <a:rPr lang="tr-TR" dirty="0">
                <a:latin typeface="Segoe UI" panose="020B0502040204020203" pitchFamily="34" charset="0"/>
              </a:rPr>
              <a:t> net doz-</a:t>
            </a:r>
            <a:r>
              <a:rPr lang="tr-TR" dirty="0" err="1">
                <a:latin typeface="Segoe UI" panose="020B0502040204020203" pitchFamily="34" charset="0"/>
              </a:rPr>
              <a:t>yanit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iliskisi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vardir</a:t>
            </a:r>
            <a:r>
              <a:rPr lang="tr-TR" dirty="0">
                <a:latin typeface="Segoe UI" panose="020B0502040204020203" pitchFamily="34" charset="0"/>
              </a:rPr>
              <a:t>. </a:t>
            </a:r>
            <a:r>
              <a:rPr lang="tr-TR" dirty="0" err="1">
                <a:latin typeface="Segoe UI" panose="020B0502040204020203" pitchFamily="34" charset="0"/>
              </a:rPr>
              <a:t>Stimulanlar</a:t>
            </a:r>
            <a:r>
              <a:rPr lang="tr-TR" dirty="0">
                <a:latin typeface="Segoe UI" panose="020B0502040204020203" pitchFamily="34" charset="0"/>
              </a:rPr>
              <a:t> (kokain, metamfetamin) en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slope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gostermektedir</a:t>
            </a:r>
            <a:r>
              <a:rPr lang="tr-TR" dirty="0">
                <a:latin typeface="Segoe UI" panose="020B0502040204020203" pitchFamily="34" charset="0"/>
              </a:rPr>
              <a:t>.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77897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Baslangic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Yaşina</a:t>
            </a:r>
            <a:r>
              <a:rPr lang="tr-TR" dirty="0">
                <a:latin typeface="Segoe UI" panose="020B0502040204020203" pitchFamily="34" charset="0"/>
              </a:rPr>
              <a:t> Gore Epigenetik Yaş İvmelenmesi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Baslangic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Yaş Kategorisi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EAA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95% 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ANOVA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Trend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&lt;30 yas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1,247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+4.8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4.1-5.6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30-50 yas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2,834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+3.2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2.8-3.7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(Lineer azalma)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&gt;50 yas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1,454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+2.1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1.6-2.7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54134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Body </a:t>
            </a:r>
            <a:r>
              <a:rPr lang="tr-TR" dirty="0" err="1">
                <a:latin typeface="Segoe UI" panose="020B0502040204020203" pitchFamily="34" charset="0"/>
              </a:rPr>
              <a:t>Mass</a:t>
            </a:r>
            <a:r>
              <a:rPr lang="tr-TR" dirty="0">
                <a:latin typeface="Segoe UI" panose="020B0502040204020203" pitchFamily="34" charset="0"/>
              </a:rPr>
              <a:t> Index ve Epigenetik Yaş İvmelenmesi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BMI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Kategorisi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BMI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Araligi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EAA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95% 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Normal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18.5-25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2,347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+2.8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2.3-3.4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Fazla Kilolu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25-30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1,892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+3.6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3.1-4.2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Obez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&gt;30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1,296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+5.1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4.4-5.9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27248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Egitim</a:t>
            </a:r>
            <a:r>
              <a:rPr lang="tr-TR" dirty="0">
                <a:latin typeface="Segoe UI" panose="020B0502040204020203" pitchFamily="34" charset="0"/>
              </a:rPr>
              <a:t> Seviyesi ve Epigenetik Yaş İvmelenmesi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Egitim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Seviyesi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EAA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95% 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ANOVA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Trend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&lt;Lise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1,876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+4.7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4.1-5.4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Lise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2,143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+3.4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2.9-4.0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(Lineer azalma)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Universite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1,516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+2.1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1.6-2.7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Beta = -1.3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/seviye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24645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Egzersiz </a:t>
            </a:r>
            <a:r>
              <a:rPr lang="tr-TR" dirty="0" err="1">
                <a:latin typeface="Segoe UI" panose="020B0502040204020203" pitchFamily="34" charset="0"/>
              </a:rPr>
              <a:t>Sikligi</a:t>
            </a:r>
            <a:r>
              <a:rPr lang="tr-TR" dirty="0">
                <a:latin typeface="Segoe UI" panose="020B0502040204020203" pitchFamily="34" charset="0"/>
              </a:rPr>
              <a:t> ve Epigenetik Yaş İvmelenmesi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Egzersiz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Sikligi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EAA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95% 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ANOVA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Trend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Duzenli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(&gt;=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3x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/hafta)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1,124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+2.1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1.6-2.7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Ara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Sira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(1-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2x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/hafta)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1,687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+3.4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2.9-4.0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(Lineer azalma)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Hic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Yok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2,724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+4.9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4.3-5.6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9721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Hiyerarsik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Cok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Degiskenli</a:t>
            </a:r>
            <a:r>
              <a:rPr lang="tr-TR" dirty="0">
                <a:latin typeface="Segoe UI" panose="020B0502040204020203" pitchFamily="34" charset="0"/>
              </a:rPr>
              <a:t> Regresyon Analizi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Model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Eklenen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Degiskenler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R-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sq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Delta R-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sq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F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Model 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Yaş + Cinsiyet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0.12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Model 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 Madde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kullanim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suresi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0.30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0.18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287.4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Model 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 Fizyolojik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mediyatorler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0.37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0.07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94.3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Model 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 Psikolojik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moderatorler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0.42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67.8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42885" y="1828800"/>
            <a:ext cx="12582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BÖLÜM 4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KLİNİK VE ADLI UYGULAMALAR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8776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Postmortem Validasyon: Kritik Bulgular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1771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Postmortem Örnek </a:t>
            </a:r>
            <a:r>
              <a:rPr lang="tr-TR" dirty="0" err="1">
                <a:latin typeface="Segoe UI" panose="020B0502040204020203" pitchFamily="34" charset="0"/>
              </a:rPr>
              <a:t>Sayisi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24810" y="1463040"/>
            <a:ext cx="110479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n = 108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0502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PMI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Araligi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07700" y="2377440"/>
            <a:ext cx="132190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6-48 saat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14462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Doku pH </a:t>
            </a:r>
            <a:r>
              <a:rPr lang="tr-TR" dirty="0" err="1">
                <a:latin typeface="Segoe UI" panose="020B0502040204020203" pitchFamily="34" charset="0"/>
              </a:rPr>
              <a:t>Araligi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12975" y="3291840"/>
            <a:ext cx="10166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5.2-7.1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31582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PMI</a:t>
            </a:r>
            <a:r>
              <a:rPr lang="tr-TR" dirty="0">
                <a:latin typeface="Segoe UI" panose="020B0502040204020203" pitchFamily="34" charset="0"/>
              </a:rPr>
              <a:t> Düzeltme </a:t>
            </a:r>
            <a:r>
              <a:rPr lang="tr-TR" dirty="0" err="1">
                <a:latin typeface="Segoe UI" panose="020B0502040204020203" pitchFamily="34" charset="0"/>
              </a:rPr>
              <a:t>Sonrasi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MAE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Iyilesmesi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02158" y="4206240"/>
            <a:ext cx="72744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%47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15119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Optimal pH </a:t>
            </a:r>
            <a:r>
              <a:rPr lang="tr-TR" dirty="0" err="1">
                <a:latin typeface="Segoe UI" panose="020B0502040204020203" pitchFamily="34" charset="0"/>
              </a:rPr>
              <a:t>Esigi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80677" y="5120640"/>
            <a:ext cx="7489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&gt;6.0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29706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PMI</a:t>
            </a:r>
            <a:r>
              <a:rPr lang="tr-TR" dirty="0">
                <a:latin typeface="Segoe UI" panose="020B0502040204020203" pitchFamily="34" charset="0"/>
              </a:rPr>
              <a:t> Düzeltme </a:t>
            </a:r>
            <a:r>
              <a:rPr lang="tr-TR" dirty="0" err="1">
                <a:latin typeface="Segoe UI" panose="020B0502040204020203" pitchFamily="34" charset="0"/>
              </a:rPr>
              <a:t>Algoritmasi</a:t>
            </a:r>
            <a:r>
              <a:rPr lang="tr-TR" dirty="0">
                <a:latin typeface="Segoe UI" panose="020B0502040204020203" pitchFamily="34" charset="0"/>
              </a:rPr>
              <a:t> Performans </a:t>
            </a:r>
            <a:r>
              <a:rPr lang="tr-TR" dirty="0" err="1">
                <a:latin typeface="Segoe UI" panose="020B0502040204020203" pitchFamily="34" charset="0"/>
              </a:rPr>
              <a:t>Karşılaştırmasi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Metrik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Düzeltme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Oncesi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Düzeltme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Sonrasi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Iyilesme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MAE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7.2 (6.4-8.1)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3.8 (3.2-4.5)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-47%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RMSE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9.1 (8.1-10.2)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4.9 (4.2-5.7)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-46%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R-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squared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0.72 (0.67-0.77)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0.87 (0.83-0.91)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+21%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Kalibrasyon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Egimi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0.81 (0.76-0.86)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0.94 (0.90-0.98)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+16%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54820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Doku </a:t>
            </a:r>
            <a:r>
              <a:rPr lang="tr-TR" dirty="0" err="1">
                <a:latin typeface="Segoe UI" panose="020B0502040204020203" pitchFamily="34" charset="0"/>
              </a:rPr>
              <a:t>pH'sina</a:t>
            </a:r>
            <a:r>
              <a:rPr lang="tr-TR" dirty="0">
                <a:latin typeface="Segoe UI" panose="020B0502040204020203" pitchFamily="34" charset="0"/>
              </a:rPr>
              <a:t> Gore Performans </a:t>
            </a:r>
            <a:r>
              <a:rPr lang="tr-TR" dirty="0" err="1">
                <a:latin typeface="Segoe UI" panose="020B0502040204020203" pitchFamily="34" charset="0"/>
              </a:rPr>
              <a:t>Degerlendirmesi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pH Kategorisi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pH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Araligi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MAE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R-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sq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Durum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Mukemmel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Kalite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&gt;6.5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2.8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0.93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Optimal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Iyi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Kalite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6.0-6.5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3.6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0.89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Iyi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Orta Kalite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5.5-6.0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5.1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0.78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Dikkatli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Kullanim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Zayif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Kalite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&lt;5.5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8.4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0.52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Önerilmez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72895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Beyin </a:t>
            </a:r>
            <a:r>
              <a:rPr lang="tr-TR" dirty="0" err="1">
                <a:latin typeface="Segoe UI" panose="020B0502040204020203" pitchFamily="34" charset="0"/>
              </a:rPr>
              <a:t>Bolgesine</a:t>
            </a:r>
            <a:r>
              <a:rPr lang="tr-TR" dirty="0">
                <a:latin typeface="Segoe UI" panose="020B0502040204020203" pitchFamily="34" charset="0"/>
              </a:rPr>
              <a:t> Gore Epigenetik Yaş İvmelenmesi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Beyin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Bolgesi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Horvath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EAA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95% CI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Fonksiyonel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Onemi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Prefrontal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Korteks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+5.3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4.2-6.5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Karar verme,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durtü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kontrolu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Nucleus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Accumbens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+4.1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3.2-5.1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Odul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sistemi,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bagimlilik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merkezi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Hippokampus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+3.2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2.3-4.2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Bellek,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ogrenme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7426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Beyin </a:t>
            </a:r>
            <a:r>
              <a:rPr lang="tr-TR" dirty="0" err="1">
                <a:latin typeface="Segoe UI" panose="020B0502040204020203" pitchFamily="34" charset="0"/>
              </a:rPr>
              <a:t>Bolgeleri</a:t>
            </a:r>
            <a:r>
              <a:rPr lang="tr-TR" dirty="0">
                <a:latin typeface="Segoe UI" panose="020B0502040204020203" pitchFamily="34" charset="0"/>
              </a:rPr>
              <a:t> Post-hoc </a:t>
            </a:r>
            <a:r>
              <a:rPr lang="tr-TR" dirty="0" err="1">
                <a:latin typeface="Segoe UI" panose="020B0502040204020203" pitchFamily="34" charset="0"/>
              </a:rPr>
              <a:t>Karşılaştırmalari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Tukey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HSD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Karşılaştırma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Ortalama Fark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p-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degeri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Anlamlilik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Prefrontal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Korteks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vs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Nucleus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Accumbens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+1.2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0.024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*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Prefrontal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Korteks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vs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Hippokampus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+2.1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***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Nucleus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Accumbens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vs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Hippokampus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+0.9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0.18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NS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58276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Adli Uygulamalar: Potansiyel ve </a:t>
            </a:r>
            <a:r>
              <a:rPr lang="tr-TR" dirty="0" err="1">
                <a:latin typeface="Segoe UI" panose="020B0502040204020203" pitchFamily="34" charset="0"/>
              </a:rPr>
              <a:t>Sinirlamalar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288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POTANSIYEL</a:t>
            </a:r>
            <a:r>
              <a:rPr lang="tr-TR" dirty="0">
                <a:latin typeface="Segoe UI" panose="020B0502040204020203" pitchFamily="34" charset="0"/>
              </a:rPr>
              <a:t> UYGULAMALAR: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Kronik madde </a:t>
            </a:r>
            <a:r>
              <a:rPr lang="tr-TR" dirty="0" err="1">
                <a:latin typeface="Segoe UI" panose="020B0502040204020203" pitchFamily="34" charset="0"/>
              </a:rPr>
              <a:t>kullanim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gecmisinin</a:t>
            </a:r>
            <a:r>
              <a:rPr lang="tr-TR" dirty="0">
                <a:latin typeface="Segoe UI" panose="020B0502040204020203" pitchFamily="34" charset="0"/>
              </a:rPr>
              <a:t> postmortem tespiti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Antemortem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gecmisi</a:t>
            </a:r>
            <a:r>
              <a:rPr lang="tr-TR" dirty="0">
                <a:latin typeface="Segoe UI" panose="020B0502040204020203" pitchFamily="34" charset="0"/>
              </a:rPr>
              <a:t> bilinmeyen vakalarda madde turu tahmini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Olum sebebi belirlemede destekleyici </a:t>
            </a:r>
            <a:r>
              <a:rPr lang="tr-TR" dirty="0" err="1">
                <a:latin typeface="Segoe UI" panose="020B0502040204020203" pitchFamily="34" charset="0"/>
              </a:rPr>
              <a:t>kanit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Adli toksikolojinin kronik maruziyet boyutunu </a:t>
            </a:r>
            <a:r>
              <a:rPr lang="tr-TR" dirty="0" err="1">
                <a:latin typeface="Segoe UI" panose="020B0502040204020203" pitchFamily="34" charset="0"/>
              </a:rPr>
              <a:t>genisletme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METODOLOJIK</a:t>
            </a:r>
            <a:r>
              <a:rPr lang="tr-TR" dirty="0">
                <a:latin typeface="Segoe UI" panose="020B0502040204020203" pitchFamily="34" charset="0"/>
              </a:rPr>
              <a:t> AVANTAJLAR: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Geleneksel toksikoloji: Akut maruziyet (saatler-haftalar)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Epigenetik analiz: Kronik maruziyet (aylar-</a:t>
            </a:r>
            <a:r>
              <a:rPr lang="tr-TR" dirty="0" err="1">
                <a:latin typeface="Segoe UI" panose="020B0502040204020203" pitchFamily="34" charset="0"/>
              </a:rPr>
              <a:t>yillar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Siniflandirma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dogrulugu</a:t>
            </a:r>
            <a:r>
              <a:rPr lang="tr-TR" dirty="0">
                <a:latin typeface="Segoe UI" panose="020B0502040204020203" pitchFamily="34" charset="0"/>
              </a:rPr>
              <a:t>: %87.3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SINIRLAMALAR: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Coklu</a:t>
            </a:r>
            <a:r>
              <a:rPr lang="tr-TR" dirty="0">
                <a:latin typeface="Segoe UI" panose="020B0502040204020203" pitchFamily="34" charset="0"/>
              </a:rPr>
              <a:t> madde </a:t>
            </a:r>
            <a:r>
              <a:rPr lang="tr-TR" dirty="0" err="1">
                <a:latin typeface="Segoe UI" panose="020B0502040204020203" pitchFamily="34" charset="0"/>
              </a:rPr>
              <a:t>kullanimi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siniflandirmayi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zorlastirir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Populasyon</a:t>
            </a:r>
            <a:r>
              <a:rPr lang="tr-TR" dirty="0">
                <a:latin typeface="Segoe UI" panose="020B0502040204020203" pitchFamily="34" charset="0"/>
              </a:rPr>
              <a:t>-spesifik </a:t>
            </a:r>
            <a:r>
              <a:rPr lang="tr-TR" dirty="0" err="1">
                <a:latin typeface="Segoe UI" panose="020B0502040204020203" pitchFamily="34" charset="0"/>
              </a:rPr>
              <a:t>farkliliklar</a:t>
            </a:r>
            <a:r>
              <a:rPr lang="tr-TR" dirty="0">
                <a:latin typeface="Segoe UI" panose="020B0502040204020203" pitchFamily="34" charset="0"/>
              </a:rPr>
              <a:t> (etnisite, yas)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Cevresel</a:t>
            </a:r>
            <a:r>
              <a:rPr lang="tr-TR" dirty="0">
                <a:latin typeface="Segoe UI" panose="020B0502040204020203" pitchFamily="34" charset="0"/>
              </a:rPr>
              <a:t> ve yasam </a:t>
            </a:r>
            <a:r>
              <a:rPr lang="tr-TR" dirty="0" err="1">
                <a:latin typeface="Segoe UI" panose="020B0502040204020203" pitchFamily="34" charset="0"/>
              </a:rPr>
              <a:t>tarzi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faktorleri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confounding</a:t>
            </a:r>
            <a:r>
              <a:rPr lang="tr-TR" dirty="0">
                <a:latin typeface="Segoe UI" panose="020B0502040204020203" pitchFamily="34" charset="0"/>
              </a:rPr>
              <a:t> etkisi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Doku kalitesi (pH&lt;6.0) </a:t>
            </a:r>
            <a:r>
              <a:rPr lang="tr-TR" dirty="0" err="1">
                <a:latin typeface="Segoe UI" panose="020B0502040204020203" pitchFamily="34" charset="0"/>
              </a:rPr>
              <a:t>performansi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duşürür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ÖNERİ: Destekleyici </a:t>
            </a:r>
            <a:r>
              <a:rPr lang="tr-TR" dirty="0" err="1">
                <a:latin typeface="Segoe UI" panose="020B0502040204020203" pitchFamily="34" charset="0"/>
              </a:rPr>
              <a:t>kanit</a:t>
            </a:r>
            <a:r>
              <a:rPr lang="tr-TR" dirty="0">
                <a:latin typeface="Segoe UI" panose="020B0502040204020203" pitchFamily="34" charset="0"/>
              </a:rPr>
              <a:t> olarak </a:t>
            </a:r>
            <a:r>
              <a:rPr lang="tr-TR" dirty="0" err="1">
                <a:latin typeface="Segoe UI" panose="020B0502040204020203" pitchFamily="34" charset="0"/>
              </a:rPr>
              <a:t>kullanim</a:t>
            </a:r>
            <a:r>
              <a:rPr lang="tr-TR" dirty="0">
                <a:latin typeface="Segoe UI" panose="020B0502040204020203" pitchFamily="34" charset="0"/>
              </a:rPr>
              <a:t> (tek </a:t>
            </a:r>
            <a:r>
              <a:rPr lang="tr-TR" dirty="0" err="1">
                <a:latin typeface="Segoe UI" panose="020B0502040204020203" pitchFamily="34" charset="0"/>
              </a:rPr>
              <a:t>basina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degil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06885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Mahkeme Kabul </a:t>
            </a:r>
            <a:r>
              <a:rPr lang="tr-TR" dirty="0" err="1">
                <a:latin typeface="Segoe UI" panose="020B0502040204020203" pitchFamily="34" charset="0"/>
              </a:rPr>
              <a:t>Edilebilirligi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Daubert</a:t>
            </a:r>
            <a:r>
              <a:rPr lang="tr-TR" dirty="0">
                <a:latin typeface="Segoe UI" panose="020B0502040204020203" pitchFamily="34" charset="0"/>
              </a:rPr>
              <a:t> Kriterleri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DAUBERT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KRITERLERI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DEGERLENDIRMESI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1. </a:t>
            </a:r>
            <a:r>
              <a:rPr lang="tr-TR" dirty="0" err="1">
                <a:latin typeface="Segoe UI" panose="020B0502040204020203" pitchFamily="34" charset="0"/>
              </a:rPr>
              <a:t>TESTEDILEBILIRLIK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Epigenetik saatler </a:t>
            </a:r>
            <a:r>
              <a:rPr lang="tr-TR" dirty="0" err="1">
                <a:latin typeface="Segoe UI" panose="020B0502040204020203" pitchFamily="34" charset="0"/>
              </a:rPr>
              <a:t>yuz</a:t>
            </a:r>
            <a:r>
              <a:rPr lang="tr-TR" dirty="0">
                <a:latin typeface="Segoe UI" panose="020B0502040204020203" pitchFamily="34" charset="0"/>
              </a:rPr>
              <a:t> ustu </a:t>
            </a:r>
            <a:r>
              <a:rPr lang="tr-TR" dirty="0" err="1">
                <a:latin typeface="Segoe UI" panose="020B0502040204020203" pitchFamily="34" charset="0"/>
              </a:rPr>
              <a:t>cevre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calismada</a:t>
            </a:r>
            <a:r>
              <a:rPr lang="tr-TR" dirty="0">
                <a:latin typeface="Segoe UI" panose="020B0502040204020203" pitchFamily="34" charset="0"/>
              </a:rPr>
              <a:t> test </a:t>
            </a:r>
            <a:r>
              <a:rPr lang="tr-TR" dirty="0" err="1">
                <a:latin typeface="Segoe UI" panose="020B0502040204020203" pitchFamily="34" charset="0"/>
              </a:rPr>
              <a:t>edilmistir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DURUM: </a:t>
            </a:r>
            <a:r>
              <a:rPr lang="tr-TR" dirty="0" err="1">
                <a:latin typeface="Segoe UI" panose="020B0502040204020203" pitchFamily="34" charset="0"/>
              </a:rPr>
              <a:t>KARSILANIYOR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2. PEER </a:t>
            </a:r>
            <a:r>
              <a:rPr lang="tr-TR" dirty="0" err="1">
                <a:latin typeface="Segoe UI" panose="020B0502040204020203" pitchFamily="34" charset="0"/>
              </a:rPr>
              <a:t>REVIEW</a:t>
            </a:r>
            <a:r>
              <a:rPr lang="tr-TR" dirty="0">
                <a:latin typeface="Segoe UI" panose="020B0502040204020203" pitchFamily="34" charset="0"/>
              </a:rPr>
              <a:t> VE YAYIN: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100'den</a:t>
            </a:r>
            <a:r>
              <a:rPr lang="tr-TR" dirty="0">
                <a:latin typeface="Segoe UI" panose="020B0502040204020203" pitchFamily="34" charset="0"/>
              </a:rPr>
              <a:t> fazla </a:t>
            </a:r>
            <a:r>
              <a:rPr lang="tr-TR" dirty="0" err="1">
                <a:latin typeface="Segoe UI" panose="020B0502040204020203" pitchFamily="34" charset="0"/>
              </a:rPr>
              <a:t>peer-reviewed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yayin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Nature, Cell, </a:t>
            </a:r>
            <a:r>
              <a:rPr lang="tr-TR" dirty="0" err="1">
                <a:latin typeface="Segoe UI" panose="020B0502040204020203" pitchFamily="34" charset="0"/>
              </a:rPr>
              <a:t>Genome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Biology</a:t>
            </a:r>
            <a:r>
              <a:rPr lang="tr-TR" dirty="0">
                <a:latin typeface="Segoe UI" panose="020B0502040204020203" pitchFamily="34" charset="0"/>
              </a:rPr>
              <a:t> gibi saygın dergiler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DURUM: </a:t>
            </a:r>
            <a:r>
              <a:rPr lang="tr-TR" dirty="0" err="1">
                <a:latin typeface="Segoe UI" panose="020B0502040204020203" pitchFamily="34" charset="0"/>
              </a:rPr>
              <a:t>KARSILANIYOR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3. HATA ORANI: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MAE</a:t>
            </a:r>
            <a:r>
              <a:rPr lang="tr-TR" dirty="0">
                <a:latin typeface="Segoe UI" panose="020B0502040204020203" pitchFamily="34" charset="0"/>
              </a:rPr>
              <a:t> = 2-4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(saat ve doku tipine </a:t>
            </a:r>
            <a:r>
              <a:rPr lang="tr-TR" dirty="0" err="1">
                <a:latin typeface="Segoe UI" panose="020B0502040204020203" pitchFamily="34" charset="0"/>
              </a:rPr>
              <a:t>gore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Iyi</a:t>
            </a:r>
            <a:r>
              <a:rPr lang="tr-TR" dirty="0">
                <a:latin typeface="Segoe UI" panose="020B0502040204020203" pitchFamily="34" charset="0"/>
              </a:rPr>
              <a:t> karakterize </a:t>
            </a:r>
            <a:r>
              <a:rPr lang="tr-TR" dirty="0" err="1">
                <a:latin typeface="Segoe UI" panose="020B0502040204020203" pitchFamily="34" charset="0"/>
              </a:rPr>
              <a:t>edilmis</a:t>
            </a:r>
            <a:r>
              <a:rPr lang="tr-TR" dirty="0">
                <a:latin typeface="Segoe UI" panose="020B0502040204020203" pitchFamily="34" charset="0"/>
              </a:rPr>
              <a:t> belirsizlik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DURUM: </a:t>
            </a:r>
            <a:r>
              <a:rPr lang="tr-TR" dirty="0" err="1">
                <a:latin typeface="Segoe UI" panose="020B0502040204020203" pitchFamily="34" charset="0"/>
              </a:rPr>
              <a:t>KARSILANIYOR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4. STANDARTLAR: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Illumina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platformlari</a:t>
            </a:r>
            <a:r>
              <a:rPr lang="tr-TR" dirty="0">
                <a:latin typeface="Segoe UI" panose="020B0502040204020203" pitchFamily="34" charset="0"/>
              </a:rPr>
              <a:t> standart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DURUM: </a:t>
            </a:r>
            <a:r>
              <a:rPr lang="tr-TR" dirty="0" err="1">
                <a:latin typeface="Segoe UI" panose="020B0502040204020203" pitchFamily="34" charset="0"/>
              </a:rPr>
              <a:t>KARSILANIYOR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5. GENEL KABUL: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Araştırma </a:t>
            </a:r>
            <a:r>
              <a:rPr lang="tr-TR" dirty="0" err="1">
                <a:latin typeface="Segoe UI" panose="020B0502040204020203" pitchFamily="34" charset="0"/>
              </a:rPr>
              <a:t>toplulugunda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yaygin</a:t>
            </a:r>
            <a:r>
              <a:rPr lang="tr-TR" dirty="0">
                <a:latin typeface="Segoe UI" panose="020B0502040204020203" pitchFamily="34" charset="0"/>
              </a:rPr>
              <a:t> kabul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Adli toplulukta henüz sinirli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DURUM: KISMEN </a:t>
            </a:r>
            <a:r>
              <a:rPr lang="tr-TR" dirty="0" err="1">
                <a:latin typeface="Segoe UI" panose="020B0502040204020203" pitchFamily="34" charset="0"/>
              </a:rPr>
              <a:t>KARSILANIYOR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15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Tersine </a:t>
            </a:r>
            <a:r>
              <a:rPr lang="tr-TR" dirty="0" err="1">
                <a:latin typeface="Segoe UI" panose="020B0502040204020203" pitchFamily="34" charset="0"/>
              </a:rPr>
              <a:t>Cevrilebilirlik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Literatur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Kanitlari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TEMEL SORU: Epigenetik yas ivmelenmesi tersine </a:t>
            </a:r>
            <a:r>
              <a:rPr lang="tr-TR" dirty="0" err="1">
                <a:latin typeface="Segoe UI" panose="020B0502040204020203" pitchFamily="34" charset="0"/>
              </a:rPr>
              <a:t>cevrilebilir</a:t>
            </a:r>
            <a:r>
              <a:rPr lang="tr-TR" dirty="0">
                <a:latin typeface="Segoe UI" panose="020B0502040204020203" pitchFamily="34" charset="0"/>
              </a:rPr>
              <a:t> mi?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LITERATUR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SENTEZI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- 6 randomize </a:t>
            </a:r>
            <a:r>
              <a:rPr lang="tr-TR" dirty="0" err="1">
                <a:latin typeface="Segoe UI" panose="020B0502040204020203" pitchFamily="34" charset="0"/>
              </a:rPr>
              <a:t>kontrollu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calişma</a:t>
            </a:r>
            <a:r>
              <a:rPr lang="tr-TR" dirty="0">
                <a:latin typeface="Segoe UI" panose="020B0502040204020203" pitchFamily="34" charset="0"/>
              </a:rPr>
              <a:t> meta-analizi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Toplam n = 473 </a:t>
            </a:r>
            <a:r>
              <a:rPr lang="tr-TR" dirty="0" err="1">
                <a:latin typeface="Segoe UI" panose="020B0502040204020203" pitchFamily="34" charset="0"/>
              </a:rPr>
              <a:t>katilimci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Ortalama epigenetik yas </a:t>
            </a:r>
            <a:r>
              <a:rPr lang="tr-TR" dirty="0" err="1">
                <a:latin typeface="Segoe UI" panose="020B0502040204020203" pitchFamily="34" charset="0"/>
              </a:rPr>
              <a:t>azalmasi</a:t>
            </a:r>
            <a:r>
              <a:rPr lang="tr-TR" dirty="0">
                <a:latin typeface="Segoe UI" panose="020B0502040204020203" pitchFamily="34" charset="0"/>
              </a:rPr>
              <a:t>: -2.73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(95% CI: -3.4 - -2.1)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MUDAHALE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TURLERI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Yaşam </a:t>
            </a:r>
            <a:r>
              <a:rPr lang="tr-TR" dirty="0" err="1">
                <a:latin typeface="Segoe UI" panose="020B0502040204020203" pitchFamily="34" charset="0"/>
              </a:rPr>
              <a:t>tarzi</a:t>
            </a:r>
            <a:r>
              <a:rPr lang="tr-TR" dirty="0">
                <a:latin typeface="Segoe UI" panose="020B0502040204020203" pitchFamily="34" charset="0"/>
              </a:rPr>
              <a:t> (diyet + egzersiz): -2.90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Psikolojik (</a:t>
            </a:r>
            <a:r>
              <a:rPr lang="tr-TR" dirty="0" err="1">
                <a:latin typeface="Segoe UI" panose="020B0502040204020203" pitchFamily="34" charset="0"/>
              </a:rPr>
              <a:t>mindfulness</a:t>
            </a:r>
            <a:r>
              <a:rPr lang="tr-TR" dirty="0">
                <a:latin typeface="Segoe UI" panose="020B0502040204020203" pitchFamily="34" charset="0"/>
              </a:rPr>
              <a:t>/yoga): -1.96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Kombine </a:t>
            </a:r>
            <a:r>
              <a:rPr lang="tr-TR" dirty="0" err="1">
                <a:latin typeface="Segoe UI" panose="020B0502040204020203" pitchFamily="34" charset="0"/>
              </a:rPr>
              <a:t>mudahale</a:t>
            </a:r>
            <a:r>
              <a:rPr lang="tr-TR" dirty="0">
                <a:latin typeface="Segoe UI" panose="020B0502040204020203" pitchFamily="34" charset="0"/>
              </a:rPr>
              <a:t>: -4.60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(en etkili)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Madde </a:t>
            </a:r>
            <a:r>
              <a:rPr lang="tr-TR" dirty="0" err="1">
                <a:latin typeface="Segoe UI" panose="020B0502040204020203" pitchFamily="34" charset="0"/>
              </a:rPr>
              <a:t>birakma</a:t>
            </a:r>
            <a:r>
              <a:rPr lang="tr-TR" dirty="0">
                <a:latin typeface="Segoe UI" panose="020B0502040204020203" pitchFamily="34" charset="0"/>
              </a:rPr>
              <a:t> (5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): -3.18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KLİNİK </a:t>
            </a:r>
            <a:r>
              <a:rPr lang="tr-TR" dirty="0" err="1">
                <a:latin typeface="Segoe UI" panose="020B0502040204020203" pitchFamily="34" charset="0"/>
              </a:rPr>
              <a:t>IMPLIKASYONLAR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Kisa</a:t>
            </a:r>
            <a:r>
              <a:rPr lang="tr-TR" dirty="0">
                <a:latin typeface="Segoe UI" panose="020B0502040204020203" pitchFamily="34" charset="0"/>
              </a:rPr>
              <a:t> vadeli </a:t>
            </a:r>
            <a:r>
              <a:rPr lang="tr-TR" dirty="0" err="1">
                <a:latin typeface="Segoe UI" panose="020B0502040204020203" pitchFamily="34" charset="0"/>
              </a:rPr>
              <a:t>mudahaleler</a:t>
            </a:r>
            <a:r>
              <a:rPr lang="tr-TR" dirty="0">
                <a:latin typeface="Segoe UI" panose="020B0502040204020203" pitchFamily="34" charset="0"/>
              </a:rPr>
              <a:t> (8-12 hafta) bile </a:t>
            </a:r>
            <a:r>
              <a:rPr lang="tr-TR" dirty="0" err="1">
                <a:latin typeface="Segoe UI" panose="020B0502040204020203" pitchFamily="34" charset="0"/>
              </a:rPr>
              <a:t>anlamli</a:t>
            </a:r>
            <a:r>
              <a:rPr lang="tr-TR" dirty="0">
                <a:latin typeface="Segoe UI" panose="020B0502040204020203" pitchFamily="34" charset="0"/>
              </a:rPr>
              <a:t> azalma </a:t>
            </a:r>
            <a:r>
              <a:rPr lang="tr-TR" dirty="0" err="1">
                <a:latin typeface="Segoe UI" panose="020B0502040204020203" pitchFamily="34" charset="0"/>
              </a:rPr>
              <a:t>saglar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Kombine </a:t>
            </a:r>
            <a:r>
              <a:rPr lang="tr-TR" dirty="0" err="1">
                <a:latin typeface="Segoe UI" panose="020B0502040204020203" pitchFamily="34" charset="0"/>
              </a:rPr>
              <a:t>yaklasimlar</a:t>
            </a:r>
            <a:r>
              <a:rPr lang="tr-TR" dirty="0">
                <a:latin typeface="Segoe UI" panose="020B0502040204020203" pitchFamily="34" charset="0"/>
              </a:rPr>
              <a:t> tek </a:t>
            </a:r>
            <a:r>
              <a:rPr lang="tr-TR" dirty="0" err="1">
                <a:latin typeface="Segoe UI" panose="020B0502040204020203" pitchFamily="34" charset="0"/>
              </a:rPr>
              <a:t>mudahalelerden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superiordur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Madde </a:t>
            </a:r>
            <a:r>
              <a:rPr lang="tr-TR" dirty="0" err="1">
                <a:latin typeface="Segoe UI" panose="020B0502040204020203" pitchFamily="34" charset="0"/>
              </a:rPr>
              <a:t>birakmanin</a:t>
            </a:r>
            <a:r>
              <a:rPr lang="tr-TR" dirty="0">
                <a:latin typeface="Segoe UI" panose="020B0502040204020203" pitchFamily="34" charset="0"/>
              </a:rPr>
              <a:t> uzun vadeli </a:t>
            </a:r>
            <a:r>
              <a:rPr lang="tr-TR" dirty="0" err="1">
                <a:latin typeface="Segoe UI" panose="020B0502040204020203" pitchFamily="34" charset="0"/>
              </a:rPr>
              <a:t>faydasi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kanıtlanmistir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REFERANSLAR: Fitzgerald et al., 2021; </a:t>
            </a:r>
            <a:r>
              <a:rPr lang="tr-TR" dirty="0" err="1">
                <a:latin typeface="Segoe UI" panose="020B0502040204020203" pitchFamily="34" charset="0"/>
              </a:rPr>
              <a:t>Quach</a:t>
            </a:r>
            <a:r>
              <a:rPr lang="tr-TR" dirty="0">
                <a:latin typeface="Segoe UI" panose="020B0502040204020203" pitchFamily="34" charset="0"/>
              </a:rPr>
              <a:t> et al., 2017; </a:t>
            </a:r>
            <a:r>
              <a:rPr lang="tr-TR" dirty="0" err="1">
                <a:latin typeface="Segoe UI" panose="020B0502040204020203" pitchFamily="34" charset="0"/>
              </a:rPr>
              <a:t>Epel</a:t>
            </a:r>
            <a:r>
              <a:rPr lang="tr-TR" dirty="0">
                <a:latin typeface="Segoe UI" panose="020B0502040204020203" pitchFamily="34" charset="0"/>
              </a:rPr>
              <a:t> et al., 2016; </a:t>
            </a:r>
            <a:r>
              <a:rPr lang="tr-TR" dirty="0" err="1">
                <a:latin typeface="Segoe UI" panose="020B0502040204020203" pitchFamily="34" charset="0"/>
              </a:rPr>
              <a:t>Ambatipudi</a:t>
            </a:r>
            <a:r>
              <a:rPr lang="tr-TR" dirty="0">
                <a:latin typeface="Segoe UI" panose="020B0502040204020203" pitchFamily="34" charset="0"/>
              </a:rPr>
              <a:t> et al., 2017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32557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Mudahale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Çalışmalari</a:t>
            </a:r>
            <a:r>
              <a:rPr lang="tr-TR" dirty="0">
                <a:latin typeface="Segoe UI" panose="020B0502040204020203" pitchFamily="34" charset="0"/>
              </a:rPr>
              <a:t>: Epigenetik Yaş </a:t>
            </a:r>
            <a:r>
              <a:rPr lang="tr-TR" dirty="0" err="1">
                <a:latin typeface="Segoe UI" panose="020B0502040204020203" pitchFamily="34" charset="0"/>
              </a:rPr>
              <a:t>Degisimi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133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Çalışma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Mudahale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Sure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EAA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Degisimi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Fitzgerald et al.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Diyet + Egzersiz + Uyku + Stres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8 hafta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-3.23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Quach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et al.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78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Diyet + Egzersiz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12 hafta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-2.17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0.008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Epel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et al.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96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Mindfulness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+ Yoga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12 hafta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-1.96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0.014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Fitzgerald et al.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43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Kombine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Mudahale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8 hafta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-4.60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Ambatipudi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et al.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124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Madde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Birakma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-1.52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0.002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Ambatipudi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et al.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89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Madde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Birakma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-3.18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&lt;0.001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51713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Klinik Öneriler: </a:t>
            </a:r>
            <a:r>
              <a:rPr lang="tr-TR" dirty="0" err="1">
                <a:latin typeface="Segoe UI" panose="020B0502040204020203" pitchFamily="34" charset="0"/>
              </a:rPr>
              <a:t>Mudahale</a:t>
            </a:r>
            <a:r>
              <a:rPr lang="tr-TR" dirty="0">
                <a:latin typeface="Segoe UI" panose="020B0502040204020203" pitchFamily="34" charset="0"/>
              </a:rPr>
              <a:t> Secimi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EAA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Seviyesi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Önerilen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Mudahale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Beklenen Etki (8-12 hafta)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Uzun Vadeli Strateji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Hafif (+1-3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Egzersiz + Diyet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-2.5 ila -3.0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Yaşam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tarzi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surdurmesi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Orta (+3-5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Kombine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Mudahale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-3.5 ila -4.5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Kombine + psikolojik destek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Siddetli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(&gt;5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Kombine + Madde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Birakma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-4.0 ila -5.0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yil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Yogun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multidisipliner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yaklasim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07914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EpiClock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v4.0</a:t>
            </a:r>
            <a:r>
              <a:rPr lang="tr-TR" dirty="0">
                <a:latin typeface="Segoe UI" panose="020B0502040204020203" pitchFamily="34" charset="0"/>
              </a:rPr>
              <a:t>: Platform </a:t>
            </a:r>
            <a:r>
              <a:rPr lang="tr-TR" dirty="0" err="1">
                <a:latin typeface="Segoe UI" panose="020B0502040204020203" pitchFamily="34" charset="0"/>
              </a:rPr>
              <a:t>Ozellikleri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9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ANA MODÜLLER: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1. EPİGENETİK SAAT HESAPLAMA: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- 5 </a:t>
            </a:r>
            <a:r>
              <a:rPr lang="tr-TR" dirty="0" err="1">
                <a:latin typeface="Segoe UI" panose="020B0502040204020203" pitchFamily="34" charset="0"/>
              </a:rPr>
              <a:t>major</a:t>
            </a:r>
            <a:r>
              <a:rPr lang="tr-TR" dirty="0">
                <a:latin typeface="Segoe UI" panose="020B0502040204020203" pitchFamily="34" charset="0"/>
              </a:rPr>
              <a:t> saat (</a:t>
            </a:r>
            <a:r>
              <a:rPr lang="tr-TR" dirty="0" err="1">
                <a:latin typeface="Segoe UI" panose="020B0502040204020203" pitchFamily="34" charset="0"/>
              </a:rPr>
              <a:t>Horvath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Hannum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PhenoAge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GrimAge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DunedinPACE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- 12 doku-spesifik saat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Ensemble</a:t>
            </a:r>
            <a:r>
              <a:rPr lang="tr-TR" dirty="0">
                <a:latin typeface="Segoe UI" panose="020B0502040204020203" pitchFamily="34" charset="0"/>
              </a:rPr>
              <a:t> model (RF + </a:t>
            </a:r>
            <a:r>
              <a:rPr lang="tr-TR" dirty="0" err="1">
                <a:latin typeface="Segoe UI" panose="020B0502040204020203" pitchFamily="34" charset="0"/>
              </a:rPr>
              <a:t>XGBoost</a:t>
            </a:r>
            <a:r>
              <a:rPr lang="tr-TR" dirty="0">
                <a:latin typeface="Segoe UI" panose="020B0502040204020203" pitchFamily="34" charset="0"/>
              </a:rPr>
              <a:t> + </a:t>
            </a:r>
            <a:r>
              <a:rPr lang="tr-TR" dirty="0" err="1">
                <a:latin typeface="Segoe UI" panose="020B0502040204020203" pitchFamily="34" charset="0"/>
              </a:rPr>
              <a:t>ElasticNet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2. MADDE </a:t>
            </a:r>
            <a:r>
              <a:rPr lang="tr-TR" dirty="0" err="1">
                <a:latin typeface="Segoe UI" panose="020B0502040204020203" pitchFamily="34" charset="0"/>
              </a:rPr>
              <a:t>TESPIT</a:t>
            </a:r>
            <a:r>
              <a:rPr lang="tr-TR" dirty="0">
                <a:latin typeface="Segoe UI" panose="020B0502040204020203" pitchFamily="34" charset="0"/>
              </a:rPr>
              <a:t> VE SINIFLANDIRMA: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- 1,847 maddeye </a:t>
            </a:r>
            <a:r>
              <a:rPr lang="tr-TR" dirty="0" err="1">
                <a:latin typeface="Segoe UI" panose="020B0502040204020203" pitchFamily="34" charset="0"/>
              </a:rPr>
              <a:t>ozgu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imzasi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%87.3 </a:t>
            </a:r>
            <a:r>
              <a:rPr lang="tr-TR" dirty="0" err="1">
                <a:latin typeface="Segoe UI" panose="020B0502040204020203" pitchFamily="34" charset="0"/>
              </a:rPr>
              <a:t>siniflandirma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dogrulugu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- 6 madde kategorisi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3. </a:t>
            </a:r>
            <a:r>
              <a:rPr lang="tr-TR" dirty="0" err="1">
                <a:latin typeface="Segoe UI" panose="020B0502040204020203" pitchFamily="34" charset="0"/>
              </a:rPr>
              <a:t>MOLEKULER</a:t>
            </a:r>
            <a:r>
              <a:rPr lang="tr-TR" dirty="0">
                <a:latin typeface="Segoe UI" panose="020B0502040204020203" pitchFamily="34" charset="0"/>
              </a:rPr>
              <a:t> ANALİZ: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Graph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Neural</a:t>
            </a:r>
            <a:r>
              <a:rPr lang="tr-TR" dirty="0">
                <a:latin typeface="Segoe UI" panose="020B0502040204020203" pitchFamily="34" charset="0"/>
              </a:rPr>
              <a:t> Network (</a:t>
            </a:r>
            <a:r>
              <a:rPr lang="tr-TR" dirty="0" err="1">
                <a:latin typeface="Segoe UI" panose="020B0502040204020203" pitchFamily="34" charset="0"/>
              </a:rPr>
              <a:t>MPNN</a:t>
            </a:r>
            <a:r>
              <a:rPr lang="tr-TR" dirty="0">
                <a:latin typeface="Segoe UI" panose="020B0502040204020203" pitchFamily="34" charset="0"/>
              </a:rPr>
              <a:t> + </a:t>
            </a:r>
            <a:r>
              <a:rPr lang="tr-TR" dirty="0" err="1">
                <a:latin typeface="Segoe UI" panose="020B0502040204020203" pitchFamily="34" charset="0"/>
              </a:rPr>
              <a:t>Attention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- 36,000+ madde </a:t>
            </a:r>
            <a:r>
              <a:rPr lang="tr-TR" dirty="0" err="1">
                <a:latin typeface="Segoe UI" panose="020B0502040204020203" pitchFamily="34" charset="0"/>
              </a:rPr>
              <a:t>veritabani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- 55+ </a:t>
            </a:r>
            <a:r>
              <a:rPr lang="tr-TR" dirty="0" err="1">
                <a:latin typeface="Segoe UI" panose="020B0502040204020203" pitchFamily="34" charset="0"/>
              </a:rPr>
              <a:t>reseptor</a:t>
            </a:r>
            <a:r>
              <a:rPr lang="tr-TR" dirty="0">
                <a:latin typeface="Segoe UI" panose="020B0502040204020203" pitchFamily="34" charset="0"/>
              </a:rPr>
              <a:t> hedefi profili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4. ADLI MODÜLLER: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PMI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duzeltme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algoritmasi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Blockchain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audit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trail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SHA</a:t>
            </a:r>
            <a:r>
              <a:rPr lang="tr-TR" dirty="0">
                <a:latin typeface="Segoe UI" panose="020B0502040204020203" pitchFamily="34" charset="0"/>
              </a:rPr>
              <a:t>-256)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PDF rapor </a:t>
            </a:r>
            <a:r>
              <a:rPr lang="tr-TR" dirty="0" err="1">
                <a:latin typeface="Segoe UI" panose="020B0502040204020203" pitchFamily="34" charset="0"/>
              </a:rPr>
              <a:t>uretimi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88738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Graph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Neural</a:t>
            </a:r>
            <a:r>
              <a:rPr lang="tr-TR" dirty="0">
                <a:latin typeface="Segoe UI" panose="020B0502040204020203" pitchFamily="34" charset="0"/>
              </a:rPr>
              <a:t> Network: Teknik Detaylar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MODEL </a:t>
            </a:r>
            <a:r>
              <a:rPr lang="tr-TR" dirty="0" err="1">
                <a:latin typeface="Segoe UI" panose="020B0502040204020203" pitchFamily="34" charset="0"/>
              </a:rPr>
              <a:t>PARAMETRELERI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Tip: Message </a:t>
            </a:r>
            <a:r>
              <a:rPr lang="tr-TR" dirty="0" err="1">
                <a:latin typeface="Segoe UI" panose="020B0502040204020203" pitchFamily="34" charset="0"/>
              </a:rPr>
              <a:t>Passing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Neural</a:t>
            </a:r>
            <a:r>
              <a:rPr lang="tr-TR" dirty="0">
                <a:latin typeface="Segoe UI" panose="020B0502040204020203" pitchFamily="34" charset="0"/>
              </a:rPr>
              <a:t> Network (</a:t>
            </a:r>
            <a:r>
              <a:rPr lang="tr-TR" dirty="0" err="1">
                <a:latin typeface="Segoe UI" panose="020B0502040204020203" pitchFamily="34" charset="0"/>
              </a:rPr>
              <a:t>MPNN</a:t>
            </a:r>
            <a:r>
              <a:rPr lang="tr-TR" dirty="0">
                <a:latin typeface="Segoe UI" panose="020B0502040204020203" pitchFamily="34" charset="0"/>
              </a:rPr>
              <a:t>) + Multi-</a:t>
            </a:r>
            <a:r>
              <a:rPr lang="tr-TR" dirty="0" err="1">
                <a:latin typeface="Segoe UI" panose="020B0502040204020203" pitchFamily="34" charset="0"/>
              </a:rPr>
              <a:t>head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Attention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Katman </a:t>
            </a:r>
            <a:r>
              <a:rPr lang="tr-TR" dirty="0" err="1">
                <a:latin typeface="Segoe UI" panose="020B0502040204020203" pitchFamily="34" charset="0"/>
              </a:rPr>
              <a:t>Sayisi</a:t>
            </a:r>
            <a:r>
              <a:rPr lang="tr-TR" dirty="0">
                <a:latin typeface="Segoe UI" panose="020B0502040204020203" pitchFamily="34" charset="0"/>
              </a:rPr>
              <a:t>: 4 </a:t>
            </a:r>
            <a:r>
              <a:rPr lang="tr-TR" dirty="0" err="1">
                <a:latin typeface="Segoe UI" panose="020B0502040204020203" pitchFamily="34" charset="0"/>
              </a:rPr>
              <a:t>message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passing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layer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Gizli Boyut: 256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Attention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Heads</a:t>
            </a:r>
            <a:r>
              <a:rPr lang="tr-TR" dirty="0">
                <a:latin typeface="Segoe UI" panose="020B0502040204020203" pitchFamily="34" charset="0"/>
              </a:rPr>
              <a:t>: 8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Toplam Parametre: ~1.2 milyon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ATOM </a:t>
            </a:r>
            <a:r>
              <a:rPr lang="tr-TR" dirty="0" err="1">
                <a:latin typeface="Segoe UI" panose="020B0502040204020203" pitchFamily="34" charset="0"/>
              </a:rPr>
              <a:t>OZELLIKLERI</a:t>
            </a:r>
            <a:r>
              <a:rPr lang="tr-TR" dirty="0">
                <a:latin typeface="Segoe UI" panose="020B0502040204020203" pitchFamily="34" charset="0"/>
              </a:rPr>
              <a:t> (146 boyut):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Atom </a:t>
            </a:r>
            <a:r>
              <a:rPr lang="tr-TR" dirty="0" err="1">
                <a:latin typeface="Segoe UI" panose="020B0502040204020203" pitchFamily="34" charset="0"/>
              </a:rPr>
              <a:t>numarasi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one</a:t>
            </a:r>
            <a:r>
              <a:rPr lang="tr-TR" dirty="0">
                <a:latin typeface="Segoe UI" panose="020B0502040204020203" pitchFamily="34" charset="0"/>
              </a:rPr>
              <a:t>-hot), derece, formal </a:t>
            </a:r>
            <a:r>
              <a:rPr lang="tr-TR" dirty="0" err="1">
                <a:latin typeface="Segoe UI" panose="020B0502040204020203" pitchFamily="34" charset="0"/>
              </a:rPr>
              <a:t>yuk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Hibridizasyon (</a:t>
            </a:r>
            <a:r>
              <a:rPr lang="tr-TR" dirty="0" err="1">
                <a:latin typeface="Segoe UI" panose="020B0502040204020203" pitchFamily="34" charset="0"/>
              </a:rPr>
              <a:t>sp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sp2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sp3</a:t>
            </a:r>
            <a:r>
              <a:rPr lang="tr-TR" dirty="0">
                <a:latin typeface="Segoe UI" panose="020B0502040204020203" pitchFamily="34" charset="0"/>
              </a:rPr>
              <a:t>), </a:t>
            </a:r>
            <a:r>
              <a:rPr lang="tr-TR" dirty="0" err="1">
                <a:latin typeface="Segoe UI" panose="020B0502040204020203" pitchFamily="34" charset="0"/>
              </a:rPr>
              <a:t>aromatiklik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Halka </a:t>
            </a:r>
            <a:r>
              <a:rPr lang="tr-TR" dirty="0" err="1">
                <a:latin typeface="Segoe UI" panose="020B0502040204020203" pitchFamily="34" charset="0"/>
              </a:rPr>
              <a:t>uyeligi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implicit</a:t>
            </a:r>
            <a:r>
              <a:rPr lang="tr-TR" dirty="0">
                <a:latin typeface="Segoe UI" panose="020B0502040204020203" pitchFamily="34" charset="0"/>
              </a:rPr>
              <a:t> hidrojenler, radikallik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BAG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OZELLIKLERI</a:t>
            </a:r>
            <a:r>
              <a:rPr lang="tr-TR" dirty="0">
                <a:latin typeface="Segoe UI" panose="020B0502040204020203" pitchFamily="34" charset="0"/>
              </a:rPr>
              <a:t> (12 boyut):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Bag</a:t>
            </a:r>
            <a:r>
              <a:rPr lang="tr-TR" dirty="0">
                <a:latin typeface="Segoe UI" panose="020B0502040204020203" pitchFamily="34" charset="0"/>
              </a:rPr>
              <a:t> tipi (tek, </a:t>
            </a:r>
            <a:r>
              <a:rPr lang="tr-TR" dirty="0" err="1">
                <a:latin typeface="Segoe UI" panose="020B0502040204020203" pitchFamily="34" charset="0"/>
              </a:rPr>
              <a:t>cift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uc</a:t>
            </a:r>
            <a:r>
              <a:rPr lang="tr-TR" dirty="0">
                <a:latin typeface="Segoe UI" panose="020B0502040204020203" pitchFamily="34" charset="0"/>
              </a:rPr>
              <a:t>, aromatik)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Konjugasyon, halka </a:t>
            </a:r>
            <a:r>
              <a:rPr lang="tr-TR" dirty="0" err="1">
                <a:latin typeface="Segoe UI" panose="020B0502040204020203" pitchFamily="34" charset="0"/>
              </a:rPr>
              <a:t>icinde</a:t>
            </a:r>
            <a:r>
              <a:rPr lang="tr-TR" dirty="0">
                <a:latin typeface="Segoe UI" panose="020B0502040204020203" pitchFamily="34" charset="0"/>
              </a:rPr>
              <a:t> olma, stereo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ÇIKIŞ KATMANLARI: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Bağımlılık potansiyeli + Belirsizlik (</a:t>
            </a:r>
            <a:r>
              <a:rPr lang="tr-TR" dirty="0" err="1">
                <a:latin typeface="Segoe UI" panose="020B0502040204020203" pitchFamily="34" charset="0"/>
              </a:rPr>
              <a:t>Gaussian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Toksisite </a:t>
            </a:r>
            <a:r>
              <a:rPr lang="tr-TR" dirty="0" err="1">
                <a:latin typeface="Segoe UI" panose="020B0502040204020203" pitchFamily="34" charset="0"/>
              </a:rPr>
              <a:t>siniflandirmasi</a:t>
            </a:r>
            <a:r>
              <a:rPr lang="tr-TR" dirty="0">
                <a:latin typeface="Segoe UI" panose="020B0502040204020203" pitchFamily="34" charset="0"/>
              </a:rPr>
              <a:t> (5 </a:t>
            </a:r>
            <a:r>
              <a:rPr lang="tr-TR" dirty="0" err="1">
                <a:latin typeface="Segoe UI" panose="020B0502040204020203" pitchFamily="34" charset="0"/>
              </a:rPr>
              <a:t>sinif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CYP</a:t>
            </a:r>
            <a:r>
              <a:rPr lang="tr-TR" dirty="0">
                <a:latin typeface="Segoe UI" panose="020B0502040204020203" pitchFamily="34" charset="0"/>
              </a:rPr>
              <a:t> inhibisyonu (</a:t>
            </a:r>
            <a:r>
              <a:rPr lang="tr-TR" dirty="0" err="1">
                <a:latin typeface="Segoe UI" panose="020B0502040204020203" pitchFamily="34" charset="0"/>
              </a:rPr>
              <a:t>1A2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2C9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2C19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2D6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3A4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89969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55+ </a:t>
            </a:r>
            <a:r>
              <a:rPr lang="tr-TR" dirty="0" err="1">
                <a:latin typeface="Segoe UI" panose="020B0502040204020203" pitchFamily="34" charset="0"/>
              </a:rPr>
              <a:t>Reseptor</a:t>
            </a:r>
            <a:r>
              <a:rPr lang="tr-TR" dirty="0">
                <a:latin typeface="Segoe UI" panose="020B0502040204020203" pitchFamily="34" charset="0"/>
              </a:rPr>
              <a:t> Hedefi: Kategori ve </a:t>
            </a:r>
            <a:r>
              <a:rPr lang="tr-TR" dirty="0" err="1">
                <a:latin typeface="Segoe UI" panose="020B0502040204020203" pitchFamily="34" charset="0"/>
              </a:rPr>
              <a:t>Agirliklar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Kategori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Reseptorler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Bağımlılık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Agirligi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UniProt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Opioid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MOR,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DOR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KOR,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NOP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%25-95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P35372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P41143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P41145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P41146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Dopaminerjik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DAT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D1-D5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%50-92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Q01959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P21728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P14416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...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Serotonerjik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SERT, 5-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HT1A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/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1B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/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2A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/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2C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/3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%30-60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P31645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P08908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...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GABAerjik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GABA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-A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subunits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GABA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-B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%45-75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P14867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Q9UBS5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...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Glutamaterjik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NMDA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AMPA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mGluR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%40-60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Q05586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Q13224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...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Kannabinoid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CB1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CB2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%25-55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P21554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P34972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Kolinerjik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nAChR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mAChR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%30-85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P43681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P08172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...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Stres/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Neuropeptid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CRF1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/2,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OX1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/2,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NK1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%40-65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P34998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O43613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...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Enzimler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MAO-A/B,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COMT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FAAH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%40-45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P21397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P21964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O43866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...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Sinyal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Yolagi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CREB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DeltaFosB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mTOR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>
                          <a:latin typeface="Segoe UI" panose="020B0502040204020203" pitchFamily="34" charset="0"/>
                        </a:rPr>
                        <a:t>%35-55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P16220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P15408</a:t>
                      </a:r>
                      <a:r>
                        <a:rPr lang="tr-TR" sz="14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400" dirty="0" err="1">
                          <a:latin typeface="Segoe UI" panose="020B0502040204020203" pitchFamily="34" charset="0"/>
                        </a:rPr>
                        <a:t>P42345</a:t>
                      </a:r>
                      <a:endParaRPr lang="tr-TR" sz="14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85503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Gelismis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Ozellik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Muhendisligi</a:t>
            </a:r>
            <a:r>
              <a:rPr lang="tr-TR" dirty="0">
                <a:latin typeface="Segoe UI" panose="020B0502040204020203" pitchFamily="34" charset="0"/>
              </a:rPr>
              <a:t>: Kimyasal </a:t>
            </a:r>
            <a:r>
              <a:rPr lang="tr-TR" dirty="0" err="1">
                <a:latin typeface="Segoe UI" panose="020B0502040204020203" pitchFamily="34" charset="0"/>
              </a:rPr>
              <a:t>Descriptorler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MORGAN/</a:t>
            </a:r>
            <a:r>
              <a:rPr lang="tr-TR" dirty="0" err="1">
                <a:latin typeface="Segoe UI" panose="020B0502040204020203" pitchFamily="34" charset="0"/>
              </a:rPr>
              <a:t>ECFP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FINGERPRINTS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- 2048-bit dairesel </a:t>
            </a:r>
            <a:r>
              <a:rPr lang="tr-TR" dirty="0" err="1">
                <a:latin typeface="Segoe UI" panose="020B0502040204020203" pitchFamily="34" charset="0"/>
              </a:rPr>
              <a:t>fingerprint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ECFP4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Radius = 2, yapısal benzerlik hesabi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FIZIKOKIMYAŞAL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DESCRIPTORLER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Molekul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Agirligi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MW</a:t>
            </a:r>
            <a:r>
              <a:rPr lang="tr-TR" dirty="0">
                <a:latin typeface="Segoe UI" panose="020B0502040204020203" pitchFamily="34" charset="0"/>
              </a:rPr>
              <a:t>): Optimal 200-500 Da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cLogP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lipofili</a:t>
            </a:r>
            <a:r>
              <a:rPr lang="tr-TR" dirty="0">
                <a:latin typeface="Segoe UI" panose="020B0502040204020203" pitchFamily="34" charset="0"/>
              </a:rPr>
              <a:t>): </a:t>
            </a:r>
            <a:r>
              <a:rPr lang="tr-TR" dirty="0" err="1">
                <a:latin typeface="Segoe UI" panose="020B0502040204020203" pitchFamily="34" charset="0"/>
              </a:rPr>
              <a:t>BBB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gecisi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kritik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TPSA</a:t>
            </a:r>
            <a:r>
              <a:rPr lang="tr-TR" dirty="0">
                <a:latin typeface="Segoe UI" panose="020B0502040204020203" pitchFamily="34" charset="0"/>
              </a:rPr>
              <a:t> (polar </a:t>
            </a:r>
            <a:r>
              <a:rPr lang="tr-TR" dirty="0" err="1">
                <a:latin typeface="Segoe UI" panose="020B0502040204020203" pitchFamily="34" charset="0"/>
              </a:rPr>
              <a:t>yuzey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alani</a:t>
            </a:r>
            <a:r>
              <a:rPr lang="tr-TR" dirty="0">
                <a:latin typeface="Segoe UI" panose="020B0502040204020203" pitchFamily="34" charset="0"/>
              </a:rPr>
              <a:t>): &lt;70 </a:t>
            </a:r>
            <a:r>
              <a:rPr lang="tr-TR" dirty="0" err="1">
                <a:latin typeface="Segoe UI" panose="020B0502040204020203" pitchFamily="34" charset="0"/>
              </a:rPr>
              <a:t>A^2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BBB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HBD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HBA</a:t>
            </a:r>
            <a:r>
              <a:rPr lang="tr-TR" dirty="0">
                <a:latin typeface="Segoe UI" panose="020B0502040204020203" pitchFamily="34" charset="0"/>
              </a:rPr>
              <a:t> (hidrojen </a:t>
            </a:r>
            <a:r>
              <a:rPr lang="tr-TR" dirty="0" err="1">
                <a:latin typeface="Segoe UI" panose="020B0502040204020203" pitchFamily="34" charset="0"/>
              </a:rPr>
              <a:t>bag</a:t>
            </a:r>
            <a:r>
              <a:rPr lang="tr-TR" dirty="0">
                <a:latin typeface="Segoe UI" panose="020B0502040204020203" pitchFamily="34" charset="0"/>
              </a:rPr>
              <a:t> verici/</a:t>
            </a:r>
            <a:r>
              <a:rPr lang="tr-TR" dirty="0" err="1">
                <a:latin typeface="Segoe UI" panose="020B0502040204020203" pitchFamily="34" charset="0"/>
              </a:rPr>
              <a:t>alici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Rotatable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bonds</a:t>
            </a:r>
            <a:r>
              <a:rPr lang="tr-TR" dirty="0">
                <a:latin typeface="Segoe UI" panose="020B0502040204020203" pitchFamily="34" charset="0"/>
              </a:rPr>
              <a:t>, aromatik halka </a:t>
            </a:r>
            <a:r>
              <a:rPr lang="tr-TR" dirty="0" err="1">
                <a:latin typeface="Segoe UI" panose="020B0502040204020203" pitchFamily="34" charset="0"/>
              </a:rPr>
              <a:t>sayisi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LIPINSKI</a:t>
            </a:r>
            <a:r>
              <a:rPr lang="tr-TR" dirty="0">
                <a:latin typeface="Segoe UI" panose="020B0502040204020203" pitchFamily="34" charset="0"/>
              </a:rPr>
              <a:t> KURALLARI: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MW</a:t>
            </a:r>
            <a:r>
              <a:rPr lang="tr-TR" dirty="0">
                <a:latin typeface="Segoe UI" panose="020B0502040204020203" pitchFamily="34" charset="0"/>
              </a:rPr>
              <a:t> &lt; 500, </a:t>
            </a:r>
            <a:r>
              <a:rPr lang="tr-TR" dirty="0" err="1">
                <a:latin typeface="Segoe UI" panose="020B0502040204020203" pitchFamily="34" charset="0"/>
              </a:rPr>
              <a:t>LogP</a:t>
            </a:r>
            <a:r>
              <a:rPr lang="tr-TR" dirty="0">
                <a:latin typeface="Segoe UI" panose="020B0502040204020203" pitchFamily="34" charset="0"/>
              </a:rPr>
              <a:t> &lt; 5, </a:t>
            </a:r>
            <a:r>
              <a:rPr lang="tr-TR" dirty="0" err="1">
                <a:latin typeface="Segoe UI" panose="020B0502040204020203" pitchFamily="34" charset="0"/>
              </a:rPr>
              <a:t>HBD</a:t>
            </a:r>
            <a:r>
              <a:rPr lang="tr-TR" dirty="0">
                <a:latin typeface="Segoe UI" panose="020B0502040204020203" pitchFamily="34" charset="0"/>
              </a:rPr>
              <a:t> &lt;= 5, </a:t>
            </a:r>
            <a:r>
              <a:rPr lang="tr-TR" dirty="0" err="1">
                <a:latin typeface="Segoe UI" panose="020B0502040204020203" pitchFamily="34" charset="0"/>
              </a:rPr>
              <a:t>HBA</a:t>
            </a:r>
            <a:r>
              <a:rPr lang="tr-TR" dirty="0">
                <a:latin typeface="Segoe UI" panose="020B0502040204020203" pitchFamily="34" charset="0"/>
              </a:rPr>
              <a:t> &lt;= 10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Ihlal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sayisi</a:t>
            </a:r>
            <a:r>
              <a:rPr lang="tr-TR" dirty="0">
                <a:latin typeface="Segoe UI" panose="020B0502040204020203" pitchFamily="34" charset="0"/>
              </a:rPr>
              <a:t>: 0-1 ideal oral </a:t>
            </a:r>
            <a:r>
              <a:rPr lang="tr-TR" dirty="0" err="1">
                <a:latin typeface="Segoe UI" panose="020B0502040204020203" pitchFamily="34" charset="0"/>
              </a:rPr>
              <a:t>biyoyararlanim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FARMAKOKINETIK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PROFIL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BBB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gecirgenlik</a:t>
            </a:r>
            <a:r>
              <a:rPr lang="tr-TR" dirty="0">
                <a:latin typeface="Segoe UI" panose="020B0502040204020203" pitchFamily="34" charset="0"/>
              </a:rPr>
              <a:t> tahmini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Plazma protein </a:t>
            </a:r>
            <a:r>
              <a:rPr lang="tr-TR" dirty="0" err="1">
                <a:latin typeface="Segoe UI" panose="020B0502040204020203" pitchFamily="34" charset="0"/>
              </a:rPr>
              <a:t>baglama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Yari</a:t>
            </a:r>
            <a:r>
              <a:rPr lang="tr-TR" dirty="0">
                <a:latin typeface="Segoe UI" panose="020B0502040204020203" pitchFamily="34" charset="0"/>
              </a:rPr>
              <a:t> omur (</a:t>
            </a:r>
            <a:r>
              <a:rPr lang="tr-TR" dirty="0" err="1">
                <a:latin typeface="Segoe UI" panose="020B0502040204020203" pitchFamily="34" charset="0"/>
              </a:rPr>
              <a:t>t1</a:t>
            </a:r>
            <a:r>
              <a:rPr lang="tr-TR" dirty="0">
                <a:latin typeface="Segoe UI" panose="020B0502040204020203" pitchFamily="34" charset="0"/>
              </a:rPr>
              <a:t>/2) tahmini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CYP</a:t>
            </a:r>
            <a:r>
              <a:rPr lang="tr-TR" dirty="0">
                <a:latin typeface="Segoe UI" panose="020B0502040204020203" pitchFamily="34" charset="0"/>
              </a:rPr>
              <a:t> enzim inhibisyonu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11366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UN/WHO/</a:t>
            </a:r>
            <a:r>
              <a:rPr lang="tr-TR" dirty="0" err="1">
                <a:latin typeface="Segoe UI" panose="020B0502040204020203" pitchFamily="34" charset="0"/>
              </a:rPr>
              <a:t>EMCDDA</a:t>
            </a:r>
            <a:r>
              <a:rPr lang="tr-TR" dirty="0">
                <a:latin typeface="Segoe UI" panose="020B0502040204020203" pitchFamily="34" charset="0"/>
              </a:rPr>
              <a:t> Schedule </a:t>
            </a:r>
            <a:r>
              <a:rPr lang="tr-TR" dirty="0" err="1">
                <a:latin typeface="Segoe UI" panose="020B0502040204020203" pitchFamily="34" charset="0"/>
              </a:rPr>
              <a:t>Siniflandirmasi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Schedule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Tanim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Istismar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Skoru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Örnekler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Yuksek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istismar,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tibbi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kullanim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yok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%95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Heroin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LSD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MDMA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II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Yuksek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istismar, sinirli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tibbi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%85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Morfin,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Fentanil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Kokain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III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Orta istismar,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tibbi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kullanim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var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%65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Buprenorfin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Ketamin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IV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Dusuk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-orta istismar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%45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Benzodiazepinler,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Tramadol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V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Dusuk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istismar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%25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Pregabalin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, Kodein (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dusuk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doz)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Unscheduled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Kontrolsuz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%10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Kafein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49515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Blockchain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Audit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Trail</a:t>
            </a:r>
            <a:r>
              <a:rPr lang="tr-TR" dirty="0">
                <a:latin typeface="Segoe UI" panose="020B0502040204020203" pitchFamily="34" charset="0"/>
              </a:rPr>
              <a:t>: Adli </a:t>
            </a:r>
            <a:r>
              <a:rPr lang="tr-TR" dirty="0" err="1">
                <a:latin typeface="Segoe UI" panose="020B0502040204020203" pitchFamily="34" charset="0"/>
              </a:rPr>
              <a:t>Butunluk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BLOCKCHAIN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OZELLIKLERI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Hash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Algoritmasi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SHA</a:t>
            </a:r>
            <a:r>
              <a:rPr lang="tr-TR" dirty="0">
                <a:latin typeface="Segoe UI" panose="020B0502040204020203" pitchFamily="34" charset="0"/>
              </a:rPr>
              <a:t>-256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Degistirilemez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immutable</a:t>
            </a:r>
            <a:r>
              <a:rPr lang="tr-TR" dirty="0">
                <a:latin typeface="Segoe UI" panose="020B0502040204020203" pitchFamily="34" charset="0"/>
              </a:rPr>
              <a:t>) </a:t>
            </a:r>
            <a:r>
              <a:rPr lang="tr-TR" dirty="0" err="1">
                <a:latin typeface="Segoe UI" panose="020B0502040204020203" pitchFamily="34" charset="0"/>
              </a:rPr>
              <a:t>kayit</a:t>
            </a:r>
            <a:r>
              <a:rPr lang="tr-TR" dirty="0">
                <a:latin typeface="Segoe UI" panose="020B0502040204020203" pitchFamily="34" charset="0"/>
              </a:rPr>
              <a:t> zinciri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Her </a:t>
            </a:r>
            <a:r>
              <a:rPr lang="tr-TR" dirty="0" err="1">
                <a:latin typeface="Segoe UI" panose="020B0502040204020203" pitchFamily="34" charset="0"/>
              </a:rPr>
              <a:t>islem</a:t>
            </a:r>
            <a:r>
              <a:rPr lang="tr-TR" dirty="0">
                <a:latin typeface="Segoe UI" panose="020B0502040204020203" pitchFamily="34" charset="0"/>
              </a:rPr>
              <a:t> zaman </a:t>
            </a:r>
            <a:r>
              <a:rPr lang="tr-TR" dirty="0" err="1">
                <a:latin typeface="Segoe UI" panose="020B0502040204020203" pitchFamily="34" charset="0"/>
              </a:rPr>
              <a:t>damgali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AUDIT</a:t>
            </a:r>
            <a:r>
              <a:rPr lang="tr-TR" dirty="0">
                <a:latin typeface="Segoe UI" panose="020B0502040204020203" pitchFamily="34" charset="0"/>
              </a:rPr>
              <a:t> KAYIT </a:t>
            </a:r>
            <a:r>
              <a:rPr lang="tr-TR" dirty="0" err="1">
                <a:latin typeface="Segoe UI" panose="020B0502040204020203" pitchFamily="34" charset="0"/>
              </a:rPr>
              <a:t>TURLERI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Örnek </a:t>
            </a:r>
            <a:r>
              <a:rPr lang="tr-TR" dirty="0" err="1">
                <a:latin typeface="Segoe UI" panose="020B0502040204020203" pitchFamily="34" charset="0"/>
              </a:rPr>
              <a:t>girisi</a:t>
            </a:r>
            <a:r>
              <a:rPr lang="tr-TR" dirty="0">
                <a:latin typeface="Segoe UI" panose="020B0502040204020203" pitchFamily="34" charset="0"/>
              </a:rPr>
              <a:t> ve kimlik </a:t>
            </a:r>
            <a:r>
              <a:rPr lang="tr-TR" dirty="0" err="1">
                <a:latin typeface="Segoe UI" panose="020B0502040204020203" pitchFamily="34" charset="0"/>
              </a:rPr>
              <a:t>dogrulama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Analiz </a:t>
            </a:r>
            <a:r>
              <a:rPr lang="tr-TR" dirty="0" err="1">
                <a:latin typeface="Segoe UI" panose="020B0502040204020203" pitchFamily="34" charset="0"/>
              </a:rPr>
              <a:t>baslangic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bitis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zamanlari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Parametre </a:t>
            </a:r>
            <a:r>
              <a:rPr lang="tr-TR" dirty="0" err="1">
                <a:latin typeface="Segoe UI" panose="020B0502040204020203" pitchFamily="34" charset="0"/>
              </a:rPr>
              <a:t>degisiklikleri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Sonuç </a:t>
            </a:r>
            <a:r>
              <a:rPr lang="tr-TR" dirty="0" err="1">
                <a:latin typeface="Segoe UI" panose="020B0502040204020203" pitchFamily="34" charset="0"/>
              </a:rPr>
              <a:t>uretimi</a:t>
            </a:r>
            <a:r>
              <a:rPr lang="tr-TR" dirty="0">
                <a:latin typeface="Segoe UI" panose="020B0502040204020203" pitchFamily="34" charset="0"/>
              </a:rPr>
              <a:t> ve onaylama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Kullanici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erisim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loglari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TAMPER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DETECTION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Hash</a:t>
            </a:r>
            <a:r>
              <a:rPr lang="tr-TR" dirty="0">
                <a:latin typeface="Segoe UI" panose="020B0502040204020203" pitchFamily="34" charset="0"/>
              </a:rPr>
              <a:t> zinciri </a:t>
            </a:r>
            <a:r>
              <a:rPr lang="tr-TR" dirty="0" err="1">
                <a:latin typeface="Segoe UI" panose="020B0502040204020203" pitchFamily="34" charset="0"/>
              </a:rPr>
              <a:t>butunluk</a:t>
            </a:r>
            <a:r>
              <a:rPr lang="tr-TR" dirty="0">
                <a:latin typeface="Segoe UI" panose="020B0502040204020203" pitchFamily="34" charset="0"/>
              </a:rPr>
              <a:t> kontrolu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Herhangi bir </a:t>
            </a:r>
            <a:r>
              <a:rPr lang="tr-TR" dirty="0" err="1">
                <a:latin typeface="Segoe UI" panose="020B0502040204020203" pitchFamily="34" charset="0"/>
              </a:rPr>
              <a:t>degisiklik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aninda</a:t>
            </a:r>
            <a:r>
              <a:rPr lang="tr-TR" dirty="0">
                <a:latin typeface="Segoe UI" panose="020B0502040204020203" pitchFamily="34" charset="0"/>
              </a:rPr>
              <a:t> tespit edilir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Adli delil kabul </a:t>
            </a:r>
            <a:r>
              <a:rPr lang="tr-TR" dirty="0" err="1">
                <a:latin typeface="Segoe UI" panose="020B0502040204020203" pitchFamily="34" charset="0"/>
              </a:rPr>
              <a:t>edilebilirligi</a:t>
            </a:r>
            <a:r>
              <a:rPr lang="tr-TR" dirty="0">
                <a:latin typeface="Segoe UI" panose="020B0502040204020203" pitchFamily="34" charset="0"/>
              </a:rPr>
              <a:t> desteklenir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CHAIN</a:t>
            </a:r>
            <a:r>
              <a:rPr lang="tr-TR" dirty="0">
                <a:latin typeface="Segoe UI" panose="020B0502040204020203" pitchFamily="34" charset="0"/>
              </a:rPr>
              <a:t> OF </a:t>
            </a:r>
            <a:r>
              <a:rPr lang="tr-TR" dirty="0" err="1">
                <a:latin typeface="Segoe UI" panose="020B0502040204020203" pitchFamily="34" charset="0"/>
              </a:rPr>
              <a:t>CUSTODY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Örnek transferi takibi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Sorumluluk zinciri </a:t>
            </a:r>
            <a:r>
              <a:rPr lang="tr-TR" dirty="0" err="1">
                <a:latin typeface="Segoe UI" panose="020B0502040204020203" pitchFamily="34" charset="0"/>
              </a:rPr>
              <a:t>dokumantasyonu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Dijital imza </a:t>
            </a:r>
            <a:r>
              <a:rPr lang="tr-TR" dirty="0" err="1">
                <a:latin typeface="Segoe UI" panose="020B0502040204020203" pitchFamily="34" charset="0"/>
              </a:rPr>
              <a:t>destegi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Mahkeme sunumu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export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3388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Otomatik PDF Rapor </a:t>
            </a:r>
            <a:r>
              <a:rPr lang="tr-TR" dirty="0" err="1">
                <a:latin typeface="Segoe UI" panose="020B0502040204020203" pitchFamily="34" charset="0"/>
              </a:rPr>
              <a:t>Uretimi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RAPOR </a:t>
            </a:r>
            <a:r>
              <a:rPr lang="tr-TR" dirty="0" err="1">
                <a:latin typeface="Segoe UI" panose="020B0502040204020203" pitchFamily="34" charset="0"/>
              </a:rPr>
              <a:t>BILEŞENLERI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1. HASTA/</a:t>
            </a:r>
            <a:r>
              <a:rPr lang="tr-TR" dirty="0" err="1">
                <a:latin typeface="Segoe UI" panose="020B0502040204020203" pitchFamily="34" charset="0"/>
              </a:rPr>
              <a:t>ORNEK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BILGILERI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Demografik veriler (anonim </a:t>
            </a:r>
            <a:r>
              <a:rPr lang="tr-TR" dirty="0" err="1">
                <a:latin typeface="Segoe UI" panose="020B0502040204020203" pitchFamily="34" charset="0"/>
              </a:rPr>
              <a:t>ID</a:t>
            </a:r>
            <a:r>
              <a:rPr lang="tr-TR" dirty="0">
                <a:latin typeface="Segoe UI" panose="020B0502040204020203" pitchFamily="34" charset="0"/>
              </a:rPr>
              <a:t>, yas, cinsiyet)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Örnek tipi ve toplama tarihi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2. EPİGENETİK SAAT SONUÇLARI: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- 5 saat ile hesaplanan epigenetik yas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degerleri</a:t>
            </a:r>
            <a:r>
              <a:rPr lang="tr-TR" dirty="0">
                <a:latin typeface="Segoe UI" panose="020B0502040204020203" pitchFamily="34" charset="0"/>
              </a:rPr>
              <a:t> ve referans </a:t>
            </a:r>
            <a:r>
              <a:rPr lang="tr-TR" dirty="0" err="1">
                <a:latin typeface="Segoe UI" panose="020B0502040204020203" pitchFamily="34" charset="0"/>
              </a:rPr>
              <a:t>populasyonla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karsilastirma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Gorsellestirme</a:t>
            </a:r>
            <a:r>
              <a:rPr lang="tr-TR" dirty="0">
                <a:latin typeface="Segoe UI" panose="020B0502040204020203" pitchFamily="34" charset="0"/>
              </a:rPr>
              <a:t> (radar grafik, bar </a:t>
            </a:r>
            <a:r>
              <a:rPr lang="tr-TR" dirty="0" err="1">
                <a:latin typeface="Segoe UI" panose="020B0502040204020203" pitchFamily="34" charset="0"/>
              </a:rPr>
              <a:t>chart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3. </a:t>
            </a:r>
            <a:r>
              <a:rPr lang="tr-TR" dirty="0" err="1">
                <a:latin typeface="Segoe UI" panose="020B0502040204020203" pitchFamily="34" charset="0"/>
              </a:rPr>
              <a:t>RISK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DEGERLENDIRMESI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Mortalite risk skoru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Yaşam </a:t>
            </a:r>
            <a:r>
              <a:rPr lang="tr-TR" dirty="0" err="1">
                <a:latin typeface="Segoe UI" panose="020B0502040204020203" pitchFamily="34" charset="0"/>
              </a:rPr>
              <a:t>tarzi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faktor</a:t>
            </a:r>
            <a:r>
              <a:rPr lang="tr-TR" dirty="0">
                <a:latin typeface="Segoe UI" panose="020B0502040204020203" pitchFamily="34" charset="0"/>
              </a:rPr>
              <a:t> etkileri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4. ÖNERİ VE YORUM: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Klinik </a:t>
            </a:r>
            <a:r>
              <a:rPr lang="tr-TR" dirty="0" err="1">
                <a:latin typeface="Segoe UI" panose="020B0502040204020203" pitchFamily="34" charset="0"/>
              </a:rPr>
              <a:t>oneri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mudahale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secimleri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Takip </a:t>
            </a:r>
            <a:r>
              <a:rPr lang="tr-TR" dirty="0" err="1">
                <a:latin typeface="Segoe UI" panose="020B0502040204020203" pitchFamily="34" charset="0"/>
              </a:rPr>
              <a:t>plani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5. </a:t>
            </a:r>
            <a:r>
              <a:rPr lang="tr-TR" dirty="0" err="1">
                <a:latin typeface="Segoe UI" panose="020B0502040204020203" pitchFamily="34" charset="0"/>
              </a:rPr>
              <a:t>TEKNIK</a:t>
            </a:r>
            <a:r>
              <a:rPr lang="tr-TR" dirty="0">
                <a:latin typeface="Segoe UI" panose="020B0502040204020203" pitchFamily="34" charset="0"/>
              </a:rPr>
              <a:t> DETAYLAR: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Kalite kontrol metrikleri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Metodoloji </a:t>
            </a:r>
            <a:r>
              <a:rPr lang="tr-TR" dirty="0" err="1">
                <a:latin typeface="Segoe UI" panose="020B0502040204020203" pitchFamily="34" charset="0"/>
              </a:rPr>
              <a:t>referanslari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50341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PostgreSQL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Veritabani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Semasi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9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ANA TABLOLAR: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cpg_markers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</a:t>
            </a:r>
            <a:r>
              <a:rPr lang="tr-TR" dirty="0" err="1">
                <a:latin typeface="Segoe UI" panose="020B0502040204020203" pitchFamily="34" charset="0"/>
              </a:rPr>
              <a:t>marker_id</a:t>
            </a:r>
            <a:r>
              <a:rPr lang="tr-TR" dirty="0">
                <a:latin typeface="Segoe UI" panose="020B0502040204020203" pitchFamily="34" charset="0"/>
              </a:rPr>
              <a:t> (PK), </a:t>
            </a:r>
            <a:r>
              <a:rPr lang="tr-TR" dirty="0" err="1">
                <a:latin typeface="Segoe UI" panose="020B0502040204020203" pitchFamily="34" charset="0"/>
              </a:rPr>
              <a:t>chromosome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position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gene_symbol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</a:t>
            </a:r>
            <a:r>
              <a:rPr lang="tr-TR" dirty="0" err="1">
                <a:latin typeface="Segoe UI" panose="020B0502040204020203" pitchFamily="34" charset="0"/>
              </a:rPr>
              <a:t>island_relation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clock_membership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mean_methylation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substance_panels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</a:t>
            </a:r>
            <a:r>
              <a:rPr lang="tr-TR" dirty="0" err="1">
                <a:latin typeface="Segoe UI" panose="020B0502040204020203" pitchFamily="34" charset="0"/>
              </a:rPr>
              <a:t>substance_id</a:t>
            </a:r>
            <a:r>
              <a:rPr lang="tr-TR" dirty="0">
                <a:latin typeface="Segoe UI" panose="020B0502040204020203" pitchFamily="34" charset="0"/>
              </a:rPr>
              <a:t> (PK), name, </a:t>
            </a:r>
            <a:r>
              <a:rPr lang="tr-TR" dirty="0" err="1">
                <a:latin typeface="Segoe UI" panose="020B0502040204020203" pitchFamily="34" charset="0"/>
              </a:rPr>
              <a:t>smiles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schedule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</a:t>
            </a:r>
            <a:r>
              <a:rPr lang="tr-TR" dirty="0" err="1">
                <a:latin typeface="Segoe UI" panose="020B0502040204020203" pitchFamily="34" charset="0"/>
              </a:rPr>
              <a:t>abuse_potential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receptor_targets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JSONB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analysis_results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</a:t>
            </a:r>
            <a:r>
              <a:rPr lang="tr-TR" dirty="0" err="1">
                <a:latin typeface="Segoe UI" panose="020B0502040204020203" pitchFamily="34" charset="0"/>
              </a:rPr>
              <a:t>result_id</a:t>
            </a:r>
            <a:r>
              <a:rPr lang="tr-TR" dirty="0">
                <a:latin typeface="Segoe UI" panose="020B0502040204020203" pitchFamily="34" charset="0"/>
              </a:rPr>
              <a:t> (PK), </a:t>
            </a:r>
            <a:r>
              <a:rPr lang="tr-TR" dirty="0" err="1">
                <a:latin typeface="Segoe UI" panose="020B0502040204020203" pitchFamily="34" charset="0"/>
              </a:rPr>
              <a:t>sample_id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analysis_date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</a:t>
            </a:r>
            <a:r>
              <a:rPr lang="tr-TR" dirty="0" err="1">
                <a:latin typeface="Segoe UI" panose="020B0502040204020203" pitchFamily="34" charset="0"/>
              </a:rPr>
              <a:t>clock_results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JSONB</a:t>
            </a:r>
            <a:r>
              <a:rPr lang="tr-TR" dirty="0">
                <a:latin typeface="Segoe UI" panose="020B0502040204020203" pitchFamily="34" charset="0"/>
              </a:rPr>
              <a:t>), </a:t>
            </a:r>
            <a:r>
              <a:rPr lang="tr-TR" dirty="0" err="1">
                <a:latin typeface="Segoe UI" panose="020B0502040204020203" pitchFamily="34" charset="0"/>
              </a:rPr>
              <a:t>eaa_values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ml_predictions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audit_logs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</a:t>
            </a:r>
            <a:r>
              <a:rPr lang="tr-TR" dirty="0" err="1">
                <a:latin typeface="Segoe UI" panose="020B0502040204020203" pitchFamily="34" charset="0"/>
              </a:rPr>
              <a:t>log_id</a:t>
            </a:r>
            <a:r>
              <a:rPr lang="tr-TR" dirty="0">
                <a:latin typeface="Segoe UI" panose="020B0502040204020203" pitchFamily="34" charset="0"/>
              </a:rPr>
              <a:t> (PK), </a:t>
            </a:r>
            <a:r>
              <a:rPr lang="tr-TR" dirty="0" err="1">
                <a:latin typeface="Segoe UI" panose="020B0502040204020203" pitchFamily="34" charset="0"/>
              </a:rPr>
              <a:t>timestamp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user_id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action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</a:t>
            </a:r>
            <a:r>
              <a:rPr lang="tr-TR" dirty="0" err="1">
                <a:latin typeface="Segoe UI" panose="020B0502040204020203" pitchFamily="34" charset="0"/>
              </a:rPr>
              <a:t>previous_hash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current_hash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data_payload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INDEKSLER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</a:t>
            </a:r>
            <a:r>
              <a:rPr lang="tr-TR" dirty="0" err="1">
                <a:latin typeface="Segoe UI" panose="020B0502040204020203" pitchFamily="34" charset="0"/>
              </a:rPr>
              <a:t>cpg_markers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gene_symbol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chromosome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</a:t>
            </a:r>
            <a:r>
              <a:rPr lang="tr-TR" dirty="0" err="1">
                <a:latin typeface="Segoe UI" panose="020B0502040204020203" pitchFamily="34" charset="0"/>
              </a:rPr>
              <a:t>audit_logs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timestamp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user_id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92519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Harici </a:t>
            </a:r>
            <a:r>
              <a:rPr lang="tr-TR" dirty="0" err="1">
                <a:latin typeface="Segoe UI" panose="020B0502040204020203" pitchFamily="34" charset="0"/>
              </a:rPr>
              <a:t>Veritabani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Entegrasyonlari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GENOMIK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VERITABANLARI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Gene </a:t>
            </a:r>
            <a:r>
              <a:rPr lang="tr-TR" dirty="0" err="1">
                <a:latin typeface="Segoe UI" panose="020B0502040204020203" pitchFamily="34" charset="0"/>
              </a:rPr>
              <a:t>Expression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Omnibus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GEO</a:t>
            </a:r>
            <a:r>
              <a:rPr lang="tr-TR" dirty="0">
                <a:latin typeface="Segoe UI" panose="020B0502040204020203" pitchFamily="34" charset="0"/>
              </a:rPr>
              <a:t>): DNA metilasyon veri setleri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ArrayExpress</a:t>
            </a:r>
            <a:r>
              <a:rPr lang="tr-TR" dirty="0">
                <a:latin typeface="Segoe UI" panose="020B0502040204020203" pitchFamily="34" charset="0"/>
              </a:rPr>
              <a:t>: Avrupa </a:t>
            </a:r>
            <a:r>
              <a:rPr lang="tr-TR" dirty="0" err="1">
                <a:latin typeface="Segoe UI" panose="020B0502040204020203" pitchFamily="34" charset="0"/>
              </a:rPr>
              <a:t>mikrodizi</a:t>
            </a:r>
            <a:r>
              <a:rPr lang="tr-TR" dirty="0">
                <a:latin typeface="Segoe UI" panose="020B0502040204020203" pitchFamily="34" charset="0"/>
              </a:rPr>
              <a:t> verisi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EWAS</a:t>
            </a:r>
            <a:r>
              <a:rPr lang="tr-TR" dirty="0">
                <a:latin typeface="Segoe UI" panose="020B0502040204020203" pitchFamily="34" charset="0"/>
              </a:rPr>
              <a:t> Data </a:t>
            </a:r>
            <a:r>
              <a:rPr lang="tr-TR" dirty="0" err="1">
                <a:latin typeface="Segoe UI" panose="020B0502040204020203" pitchFamily="34" charset="0"/>
              </a:rPr>
              <a:t>Hub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Epigenom-capinda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calisma</a:t>
            </a:r>
            <a:r>
              <a:rPr lang="tr-TR" dirty="0">
                <a:latin typeface="Segoe UI" panose="020B0502040204020203" pitchFamily="34" charset="0"/>
              </a:rPr>
              <a:t> verileri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FARMAKOGENOMIK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VERITABANLARI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PharmGKB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Ilac</a:t>
            </a:r>
            <a:r>
              <a:rPr lang="tr-TR" dirty="0">
                <a:latin typeface="Segoe UI" panose="020B0502040204020203" pitchFamily="34" charset="0"/>
              </a:rPr>
              <a:t>-gen </a:t>
            </a:r>
            <a:r>
              <a:rPr lang="tr-TR" dirty="0" err="1">
                <a:latin typeface="Segoe UI" panose="020B0502040204020203" pitchFamily="34" charset="0"/>
              </a:rPr>
              <a:t>iliskileri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CPIC</a:t>
            </a:r>
            <a:r>
              <a:rPr lang="tr-TR" dirty="0">
                <a:latin typeface="Segoe UI" panose="020B0502040204020203" pitchFamily="34" charset="0"/>
              </a:rPr>
              <a:t>: Klinik </a:t>
            </a:r>
            <a:r>
              <a:rPr lang="tr-TR" dirty="0" err="1">
                <a:latin typeface="Segoe UI" panose="020B0502040204020203" pitchFamily="34" charset="0"/>
              </a:rPr>
              <a:t>farmakogenetik</a:t>
            </a:r>
            <a:r>
              <a:rPr lang="tr-TR" dirty="0">
                <a:latin typeface="Segoe UI" panose="020B0502040204020203" pitchFamily="34" charset="0"/>
              </a:rPr>
              <a:t> rehberleri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DrugBank</a:t>
            </a:r>
            <a:r>
              <a:rPr lang="tr-TR" dirty="0">
                <a:latin typeface="Segoe UI" panose="020B0502040204020203" pitchFamily="34" charset="0"/>
              </a:rPr>
              <a:t> 6.0: </a:t>
            </a:r>
            <a:r>
              <a:rPr lang="tr-TR" dirty="0" err="1">
                <a:latin typeface="Segoe UI" panose="020B0502040204020203" pitchFamily="34" charset="0"/>
              </a:rPr>
              <a:t>Kapsamli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ilac</a:t>
            </a:r>
            <a:r>
              <a:rPr lang="tr-TR" dirty="0">
                <a:latin typeface="Segoe UI" panose="020B0502040204020203" pitchFamily="34" charset="0"/>
              </a:rPr>
              <a:t> bilgisi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KIMYAŞAL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VERITABANLARI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PubChem</a:t>
            </a:r>
            <a:r>
              <a:rPr lang="tr-TR" dirty="0">
                <a:latin typeface="Segoe UI" panose="020B0502040204020203" pitchFamily="34" charset="0"/>
              </a:rPr>
              <a:t>: Kimyasal </a:t>
            </a:r>
            <a:r>
              <a:rPr lang="tr-TR" dirty="0" err="1">
                <a:latin typeface="Segoe UI" panose="020B0502040204020203" pitchFamily="34" charset="0"/>
              </a:rPr>
              <a:t>yapilar</a:t>
            </a:r>
            <a:r>
              <a:rPr lang="tr-TR" dirty="0">
                <a:latin typeface="Segoe UI" panose="020B0502040204020203" pitchFamily="34" charset="0"/>
              </a:rPr>
              <a:t> ve biyoaktivite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ChEMBL</a:t>
            </a:r>
            <a:r>
              <a:rPr lang="tr-TR" dirty="0">
                <a:latin typeface="Segoe UI" panose="020B0502040204020203" pitchFamily="34" charset="0"/>
              </a:rPr>
              <a:t>: Biyoaktif </a:t>
            </a:r>
            <a:r>
              <a:rPr lang="tr-TR" dirty="0" err="1">
                <a:latin typeface="Segoe UI" panose="020B0502040204020203" pitchFamily="34" charset="0"/>
              </a:rPr>
              <a:t>molekuller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UniProt</a:t>
            </a:r>
            <a:r>
              <a:rPr lang="tr-TR" dirty="0">
                <a:latin typeface="Segoe UI" panose="020B0502040204020203" pitchFamily="34" charset="0"/>
              </a:rPr>
              <a:t>: Protein hedef bilgisi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REGULATUVAR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VERITABANLARI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UNODC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Early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Warning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Advisory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EMCDDA</a:t>
            </a:r>
            <a:r>
              <a:rPr lang="tr-TR" dirty="0">
                <a:latin typeface="Segoe UI" panose="020B0502040204020203" pitchFamily="34" charset="0"/>
              </a:rPr>
              <a:t> Yeni Psikoaktif Maddeler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DEA</a:t>
            </a:r>
            <a:r>
              <a:rPr lang="tr-TR" dirty="0">
                <a:latin typeface="Segoe UI" panose="020B0502040204020203" pitchFamily="34" charset="0"/>
              </a:rPr>
              <a:t> Schedule listesi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62596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Streamlit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Kullanici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Arayuzu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Ozellikler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UNODC</a:t>
            </a:r>
            <a:r>
              <a:rPr lang="tr-TR" dirty="0">
                <a:latin typeface="Segoe UI" panose="020B0502040204020203" pitchFamily="34" charset="0"/>
              </a:rPr>
              <a:t> KURUMSAL TEMA: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Ana Renk: #</a:t>
            </a:r>
            <a:r>
              <a:rPr lang="tr-TR" dirty="0" err="1">
                <a:latin typeface="Segoe UI" panose="020B0502040204020203" pitchFamily="34" charset="0"/>
              </a:rPr>
              <a:t>0050A0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UNODC</a:t>
            </a:r>
            <a:r>
              <a:rPr lang="tr-TR" dirty="0">
                <a:latin typeface="Segoe UI" panose="020B0502040204020203" pitchFamily="34" charset="0"/>
              </a:rPr>
              <a:t> Blue)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Koyu: #003366 (</a:t>
            </a:r>
            <a:r>
              <a:rPr lang="tr-TR" dirty="0" err="1">
                <a:latin typeface="Segoe UI" panose="020B0502040204020203" pitchFamily="34" charset="0"/>
              </a:rPr>
              <a:t>Navy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Vurgu: #</a:t>
            </a:r>
            <a:r>
              <a:rPr lang="tr-TR" dirty="0" err="1">
                <a:latin typeface="Segoe UI" panose="020B0502040204020203" pitchFamily="34" charset="0"/>
              </a:rPr>
              <a:t>00A7D8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Turquoise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Emoji </a:t>
            </a:r>
            <a:r>
              <a:rPr lang="tr-TR" dirty="0" err="1">
                <a:latin typeface="Segoe UI" panose="020B0502040204020203" pitchFamily="34" charset="0"/>
              </a:rPr>
              <a:t>YAŞAK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UNODC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standartlari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ROL TABANLI </a:t>
            </a:r>
            <a:r>
              <a:rPr lang="tr-TR" dirty="0" err="1">
                <a:latin typeface="Segoe UI" panose="020B0502040204020203" pitchFamily="34" charset="0"/>
              </a:rPr>
              <a:t>ARAYUZ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Klinisyen Modu: Hasta </a:t>
            </a:r>
            <a:r>
              <a:rPr lang="tr-TR" dirty="0" err="1">
                <a:latin typeface="Segoe UI" panose="020B0502040204020203" pitchFamily="34" charset="0"/>
              </a:rPr>
              <a:t>odakli</a:t>
            </a:r>
            <a:r>
              <a:rPr lang="tr-TR" dirty="0">
                <a:latin typeface="Segoe UI" panose="020B0502040204020203" pitchFamily="34" charset="0"/>
              </a:rPr>
              <a:t>, basitleştirilmiş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Araştırmaci</a:t>
            </a:r>
            <a:r>
              <a:rPr lang="tr-TR" dirty="0">
                <a:latin typeface="Segoe UI" panose="020B0502040204020203" pitchFamily="34" charset="0"/>
              </a:rPr>
              <a:t> Modu: </a:t>
            </a:r>
            <a:r>
              <a:rPr lang="tr-TR" dirty="0" err="1">
                <a:latin typeface="Segoe UI" panose="020B0502040204020203" pitchFamily="34" charset="0"/>
              </a:rPr>
              <a:t>Detayli</a:t>
            </a:r>
            <a:r>
              <a:rPr lang="tr-TR" dirty="0">
                <a:latin typeface="Segoe UI" panose="020B0502040204020203" pitchFamily="34" charset="0"/>
              </a:rPr>
              <a:t> istatistik ve veri </a:t>
            </a:r>
            <a:r>
              <a:rPr lang="tr-TR" dirty="0" err="1">
                <a:latin typeface="Segoe UI" panose="020B0502040204020203" pitchFamily="34" charset="0"/>
              </a:rPr>
              <a:t>erisimi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Adli Mod: </a:t>
            </a:r>
            <a:r>
              <a:rPr lang="tr-TR" dirty="0" err="1">
                <a:latin typeface="Segoe UI" panose="020B0502040204020203" pitchFamily="34" charset="0"/>
              </a:rPr>
              <a:t>Audit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trail</a:t>
            </a:r>
            <a:r>
              <a:rPr lang="tr-TR" dirty="0">
                <a:latin typeface="Segoe UI" panose="020B0502040204020203" pitchFamily="34" charset="0"/>
              </a:rPr>
              <a:t>, zincir takibi, rapor </a:t>
            </a:r>
            <a:r>
              <a:rPr lang="tr-TR" dirty="0" err="1">
                <a:latin typeface="Segoe UI" panose="020B0502040204020203" pitchFamily="34" charset="0"/>
              </a:rPr>
              <a:t>uretimi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INTERAKTIF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GORSELLESTIRME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Plotly</a:t>
            </a:r>
            <a:r>
              <a:rPr lang="tr-TR" dirty="0">
                <a:latin typeface="Segoe UI" panose="020B0502040204020203" pitchFamily="34" charset="0"/>
              </a:rPr>
              <a:t> interaktif grafikler (</a:t>
            </a:r>
            <a:r>
              <a:rPr lang="tr-TR" dirty="0" err="1">
                <a:latin typeface="Segoe UI" panose="020B0502040204020203" pitchFamily="34" charset="0"/>
              </a:rPr>
              <a:t>zoom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hover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export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Matplotlib</a:t>
            </a:r>
            <a:r>
              <a:rPr lang="tr-TR" dirty="0">
                <a:latin typeface="Segoe UI" panose="020B0502040204020203" pitchFamily="34" charset="0"/>
              </a:rPr>
              <a:t> statik grafikler (yayın kalitesi)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Radar grafikleri (</a:t>
            </a:r>
            <a:r>
              <a:rPr lang="tr-TR" dirty="0" err="1">
                <a:latin typeface="Segoe UI" panose="020B0502040204020203" pitchFamily="34" charset="0"/>
              </a:rPr>
              <a:t>coklu</a:t>
            </a:r>
            <a:r>
              <a:rPr lang="tr-TR" dirty="0">
                <a:latin typeface="Segoe UI" panose="020B0502040204020203" pitchFamily="34" charset="0"/>
              </a:rPr>
              <a:t> saat </a:t>
            </a:r>
            <a:r>
              <a:rPr lang="tr-TR" dirty="0" err="1">
                <a:latin typeface="Segoe UI" panose="020B0502040204020203" pitchFamily="34" charset="0"/>
              </a:rPr>
              <a:t>karsilastirmasi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MOBIL</a:t>
            </a:r>
            <a:r>
              <a:rPr lang="tr-TR" dirty="0">
                <a:latin typeface="Segoe UI" panose="020B0502040204020203" pitchFamily="34" charset="0"/>
              </a:rPr>
              <a:t> UYUMLULUK: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Responsive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tasarim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Touch-friendly</a:t>
            </a:r>
            <a:r>
              <a:rPr lang="tr-TR" dirty="0">
                <a:latin typeface="Segoe UI" panose="020B0502040204020203" pitchFamily="34" charset="0"/>
              </a:rPr>
              <a:t> kontroller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44224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Guvenlik</a:t>
            </a:r>
            <a:r>
              <a:rPr lang="tr-TR" dirty="0">
                <a:latin typeface="Segoe UI" panose="020B0502040204020203" pitchFamily="34" charset="0"/>
              </a:rPr>
              <a:t> ve Gizlilik </a:t>
            </a:r>
            <a:r>
              <a:rPr lang="tr-TR" dirty="0" err="1">
                <a:latin typeface="Segoe UI" panose="020B0502040204020203" pitchFamily="34" charset="0"/>
              </a:rPr>
              <a:t>Onlemleri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468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VERI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GUVENLIGI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HTTPS</a:t>
            </a:r>
            <a:r>
              <a:rPr lang="tr-TR" dirty="0">
                <a:latin typeface="Segoe UI" panose="020B0502040204020203" pitchFamily="34" charset="0"/>
              </a:rPr>
              <a:t> zorunlu </a:t>
            </a:r>
            <a:r>
              <a:rPr lang="tr-TR" dirty="0" err="1">
                <a:latin typeface="Segoe UI" panose="020B0502040204020203" pitchFamily="34" charset="0"/>
              </a:rPr>
              <a:t>baglanti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Veritabani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sifreleme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AES</a:t>
            </a:r>
            <a:r>
              <a:rPr lang="tr-TR" dirty="0">
                <a:latin typeface="Segoe UI" panose="020B0502040204020203" pitchFamily="34" charset="0"/>
              </a:rPr>
              <a:t>-256)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API </a:t>
            </a:r>
            <a:r>
              <a:rPr lang="tr-TR" dirty="0" err="1">
                <a:latin typeface="Segoe UI" panose="020B0502040204020203" pitchFamily="34" charset="0"/>
              </a:rPr>
              <a:t>key</a:t>
            </a:r>
            <a:r>
              <a:rPr lang="tr-TR" dirty="0">
                <a:latin typeface="Segoe UI" panose="020B0502040204020203" pitchFamily="34" charset="0"/>
              </a:rPr>
              <a:t> rotasyonu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KIMLIK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DOGRULAMA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Rol </a:t>
            </a:r>
            <a:r>
              <a:rPr lang="tr-TR" dirty="0" err="1">
                <a:latin typeface="Segoe UI" panose="020B0502040204020203" pitchFamily="34" charset="0"/>
              </a:rPr>
              <a:t>tabanli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erisim</a:t>
            </a:r>
            <a:r>
              <a:rPr lang="tr-TR" dirty="0">
                <a:latin typeface="Segoe UI" panose="020B0502040204020203" pitchFamily="34" charset="0"/>
              </a:rPr>
              <a:t> kontrolu (</a:t>
            </a:r>
            <a:r>
              <a:rPr lang="tr-TR" dirty="0" err="1">
                <a:latin typeface="Segoe UI" panose="020B0502040204020203" pitchFamily="34" charset="0"/>
              </a:rPr>
              <a:t>RBAC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Oturum zaman asimi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Cok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faktorlu</a:t>
            </a:r>
            <a:r>
              <a:rPr lang="tr-TR" dirty="0">
                <a:latin typeface="Segoe UI" panose="020B0502040204020203" pitchFamily="34" charset="0"/>
              </a:rPr>
              <a:t> kimlik </a:t>
            </a:r>
            <a:r>
              <a:rPr lang="tr-TR" dirty="0" err="1">
                <a:latin typeface="Segoe UI" panose="020B0502040204020203" pitchFamily="34" charset="0"/>
              </a:rPr>
              <a:t>dogrulama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MFA</a:t>
            </a:r>
            <a:r>
              <a:rPr lang="tr-TR" dirty="0">
                <a:latin typeface="Segoe UI" panose="020B0502040204020203" pitchFamily="34" charset="0"/>
              </a:rPr>
              <a:t>) </a:t>
            </a:r>
            <a:r>
              <a:rPr lang="tr-TR" dirty="0" err="1">
                <a:latin typeface="Segoe UI" panose="020B0502040204020203" pitchFamily="34" charset="0"/>
              </a:rPr>
              <a:t>secenegi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DENETIM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Tum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islemler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loglanir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Blockchain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audit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trail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Anormallik tespiti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YAŞAL</a:t>
            </a:r>
            <a:r>
              <a:rPr lang="tr-TR" dirty="0">
                <a:latin typeface="Segoe UI" panose="020B0502040204020203" pitchFamily="34" charset="0"/>
              </a:rPr>
              <a:t> UYUMLULUK: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GDPR</a:t>
            </a:r>
            <a:r>
              <a:rPr lang="tr-TR" dirty="0">
                <a:latin typeface="Segoe UI" panose="020B0502040204020203" pitchFamily="34" charset="0"/>
              </a:rPr>
              <a:t> uyumluluk (AB)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HIPAA uyumluluk (ABD </a:t>
            </a:r>
            <a:r>
              <a:rPr lang="tr-TR" dirty="0" err="1">
                <a:latin typeface="Segoe UI" panose="020B0502040204020203" pitchFamily="34" charset="0"/>
              </a:rPr>
              <a:t>saglik</a:t>
            </a:r>
            <a:r>
              <a:rPr lang="tr-TR" dirty="0">
                <a:latin typeface="Segoe UI" panose="020B0502040204020203" pitchFamily="34" charset="0"/>
              </a:rPr>
              <a:t> verisi)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Veri </a:t>
            </a:r>
            <a:r>
              <a:rPr lang="tr-TR" dirty="0" err="1">
                <a:latin typeface="Segoe UI" panose="020B0502040204020203" pitchFamily="34" charset="0"/>
              </a:rPr>
              <a:t>anonimizasyon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araclari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YEDEKLEME: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Gunluk</a:t>
            </a:r>
            <a:r>
              <a:rPr lang="tr-TR" dirty="0">
                <a:latin typeface="Segoe UI" panose="020B0502040204020203" pitchFamily="34" charset="0"/>
              </a:rPr>
              <a:t> otomatik yedekleme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Cografi</a:t>
            </a:r>
            <a:r>
              <a:rPr lang="tr-TR" dirty="0">
                <a:latin typeface="Segoe UI" panose="020B0502040204020203" pitchFamily="34" charset="0"/>
              </a:rPr>
              <a:t> olarak </a:t>
            </a:r>
            <a:r>
              <a:rPr lang="tr-TR" dirty="0" err="1">
                <a:latin typeface="Segoe UI" panose="020B0502040204020203" pitchFamily="34" charset="0"/>
              </a:rPr>
              <a:t>dagitik</a:t>
            </a:r>
            <a:r>
              <a:rPr lang="tr-TR" dirty="0">
                <a:latin typeface="Segoe UI" panose="020B0502040204020203" pitchFamily="34" charset="0"/>
              </a:rPr>
              <a:t> depolama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731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Platform Performans Metrikleri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HESAPLAMA </a:t>
            </a:r>
            <a:r>
              <a:rPr lang="tr-TR" dirty="0" err="1">
                <a:latin typeface="Segoe UI" panose="020B0502040204020203" pitchFamily="34" charset="0"/>
              </a:rPr>
              <a:t>SURESI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Tek </a:t>
            </a:r>
            <a:r>
              <a:rPr lang="tr-TR" dirty="0" err="1">
                <a:latin typeface="Segoe UI" panose="020B0502040204020203" pitchFamily="34" charset="0"/>
              </a:rPr>
              <a:t>ornek</a:t>
            </a:r>
            <a:r>
              <a:rPr lang="tr-TR" dirty="0">
                <a:latin typeface="Segoe UI" panose="020B0502040204020203" pitchFamily="34" charset="0"/>
              </a:rPr>
              <a:t> epigenetik saat hesabi: &lt;5 saniye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GNN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molekul</a:t>
            </a:r>
            <a:r>
              <a:rPr lang="tr-TR" dirty="0">
                <a:latin typeface="Segoe UI" panose="020B0502040204020203" pitchFamily="34" charset="0"/>
              </a:rPr>
              <a:t> analizi: &lt;2 saniye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Batch</a:t>
            </a:r>
            <a:r>
              <a:rPr lang="tr-TR" dirty="0">
                <a:latin typeface="Segoe UI" panose="020B0502040204020203" pitchFamily="34" charset="0"/>
              </a:rPr>
              <a:t> analiz (100 </a:t>
            </a:r>
            <a:r>
              <a:rPr lang="tr-TR" dirty="0" err="1">
                <a:latin typeface="Segoe UI" panose="020B0502040204020203" pitchFamily="34" charset="0"/>
              </a:rPr>
              <a:t>ornek</a:t>
            </a:r>
            <a:r>
              <a:rPr lang="tr-TR" dirty="0">
                <a:latin typeface="Segoe UI" panose="020B0502040204020203" pitchFamily="34" charset="0"/>
              </a:rPr>
              <a:t>): &lt;3 dakika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OLCEKLENEBILIRLIK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Tek sunucu: 100 es </a:t>
            </a:r>
            <a:r>
              <a:rPr lang="tr-TR" dirty="0" err="1">
                <a:latin typeface="Segoe UI" panose="020B0502040204020203" pitchFamily="34" charset="0"/>
              </a:rPr>
              <a:t>zamanli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kullanici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Yatay </a:t>
            </a:r>
            <a:r>
              <a:rPr lang="tr-TR" dirty="0" err="1">
                <a:latin typeface="Segoe UI" panose="020B0502040204020203" pitchFamily="34" charset="0"/>
              </a:rPr>
              <a:t>olcekleme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Kubernetes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destegi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UPTIME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HEDEFI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%99.9 </a:t>
            </a:r>
            <a:r>
              <a:rPr lang="tr-TR" dirty="0" err="1">
                <a:latin typeface="Segoe UI" panose="020B0502040204020203" pitchFamily="34" charset="0"/>
              </a:rPr>
              <a:t>kullanilabilirlik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Otomatik </a:t>
            </a:r>
            <a:r>
              <a:rPr lang="tr-TR" dirty="0" err="1">
                <a:latin typeface="Segoe UI" panose="020B0502040204020203" pitchFamily="34" charset="0"/>
              </a:rPr>
              <a:t>failover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VERITABANI</a:t>
            </a:r>
            <a:r>
              <a:rPr lang="tr-TR" dirty="0">
                <a:latin typeface="Segoe UI" panose="020B0502040204020203" pitchFamily="34" charset="0"/>
              </a:rPr>
              <a:t> PERFORMANSI: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sorgu: &lt;</a:t>
            </a:r>
            <a:r>
              <a:rPr lang="tr-TR" dirty="0" err="1">
                <a:latin typeface="Segoe UI" panose="020B0502040204020203" pitchFamily="34" charset="0"/>
              </a:rPr>
              <a:t>100ms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Madde arama: &lt;</a:t>
            </a:r>
            <a:r>
              <a:rPr lang="tr-TR" dirty="0" err="1">
                <a:latin typeface="Segoe UI" panose="020B0502040204020203" pitchFamily="34" charset="0"/>
              </a:rPr>
              <a:t>50ms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API </a:t>
            </a:r>
            <a:r>
              <a:rPr lang="tr-TR" dirty="0" err="1">
                <a:latin typeface="Segoe UI" panose="020B0502040204020203" pitchFamily="34" charset="0"/>
              </a:rPr>
              <a:t>RESPONSE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Ortalama </a:t>
            </a:r>
            <a:r>
              <a:rPr lang="tr-TR" dirty="0" err="1">
                <a:latin typeface="Segoe UI" panose="020B0502040204020203" pitchFamily="34" charset="0"/>
              </a:rPr>
              <a:t>yanit</a:t>
            </a:r>
            <a:r>
              <a:rPr lang="tr-TR" dirty="0">
                <a:latin typeface="Segoe UI" panose="020B0502040204020203" pitchFamily="34" charset="0"/>
              </a:rPr>
              <a:t> suresi: &lt;</a:t>
            </a:r>
            <a:r>
              <a:rPr lang="tr-TR" dirty="0" err="1">
                <a:latin typeface="Segoe UI" panose="020B0502040204020203" pitchFamily="34" charset="0"/>
              </a:rPr>
              <a:t>200ms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Maksimum </a:t>
            </a:r>
            <a:r>
              <a:rPr lang="tr-TR" dirty="0" err="1">
                <a:latin typeface="Segoe UI" panose="020B0502040204020203" pitchFamily="34" charset="0"/>
              </a:rPr>
              <a:t>yuk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altinda</a:t>
            </a:r>
            <a:r>
              <a:rPr lang="tr-TR" dirty="0">
                <a:latin typeface="Segoe UI" panose="020B0502040204020203" pitchFamily="34" charset="0"/>
              </a:rPr>
              <a:t>: &lt;1 saniye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05952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Yol </a:t>
            </a:r>
            <a:r>
              <a:rPr lang="tr-TR" dirty="0" err="1">
                <a:latin typeface="Segoe UI" panose="020B0502040204020203" pitchFamily="34" charset="0"/>
              </a:rPr>
              <a:t>Haritasi</a:t>
            </a:r>
            <a:r>
              <a:rPr lang="tr-TR" dirty="0">
                <a:latin typeface="Segoe UI" panose="020B0502040204020203" pitchFamily="34" charset="0"/>
              </a:rPr>
              <a:t>: Gelecek </a:t>
            </a:r>
            <a:r>
              <a:rPr lang="tr-TR" dirty="0" err="1">
                <a:latin typeface="Segoe UI" panose="020B0502040204020203" pitchFamily="34" charset="0"/>
              </a:rPr>
              <a:t>Gelistirmeler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KISA </a:t>
            </a:r>
            <a:r>
              <a:rPr lang="tr-TR" dirty="0" err="1">
                <a:latin typeface="Segoe UI" panose="020B0502040204020203" pitchFamily="34" charset="0"/>
              </a:rPr>
              <a:t>VADELI</a:t>
            </a:r>
            <a:r>
              <a:rPr lang="tr-TR" dirty="0">
                <a:latin typeface="Segoe UI" panose="020B0502040204020203" pitchFamily="34" charset="0"/>
              </a:rPr>
              <a:t> (6 AY):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Multi-</a:t>
            </a:r>
            <a:r>
              <a:rPr lang="tr-TR" dirty="0" err="1">
                <a:latin typeface="Segoe UI" panose="020B0502040204020203" pitchFamily="34" charset="0"/>
              </a:rPr>
              <a:t>omics</a:t>
            </a:r>
            <a:r>
              <a:rPr lang="tr-TR" dirty="0">
                <a:latin typeface="Segoe UI" panose="020B0502040204020203" pitchFamily="34" charset="0"/>
              </a:rPr>
              <a:t> entegrasyonu (</a:t>
            </a:r>
            <a:r>
              <a:rPr lang="tr-TR" dirty="0" err="1">
                <a:latin typeface="Segoe UI" panose="020B0502040204020203" pitchFamily="34" charset="0"/>
              </a:rPr>
              <a:t>transkriptomiks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proteomiks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CRISPR-bazli</a:t>
            </a:r>
            <a:r>
              <a:rPr lang="tr-TR" dirty="0">
                <a:latin typeface="Segoe UI" panose="020B0502040204020203" pitchFamily="34" charset="0"/>
              </a:rPr>
              <a:t> epigenetik </a:t>
            </a:r>
            <a:r>
              <a:rPr lang="tr-TR" dirty="0" err="1">
                <a:latin typeface="Segoe UI" panose="020B0502040204020203" pitchFamily="34" charset="0"/>
              </a:rPr>
              <a:t>editörleme</a:t>
            </a:r>
            <a:r>
              <a:rPr lang="tr-TR" dirty="0">
                <a:latin typeface="Segoe UI" panose="020B0502040204020203" pitchFamily="34" charset="0"/>
              </a:rPr>
              <a:t> hedef tahmini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Mobil uygulama (iOS/Android)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ORTA </a:t>
            </a:r>
            <a:r>
              <a:rPr lang="tr-TR" dirty="0" err="1">
                <a:latin typeface="Segoe UI" panose="020B0502040204020203" pitchFamily="34" charset="0"/>
              </a:rPr>
              <a:t>VADELI</a:t>
            </a:r>
            <a:r>
              <a:rPr lang="tr-TR" dirty="0">
                <a:latin typeface="Segoe UI" panose="020B0502040204020203" pitchFamily="34" charset="0"/>
              </a:rPr>
              <a:t> (12 AY):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Maddeye </a:t>
            </a:r>
            <a:r>
              <a:rPr lang="tr-TR" dirty="0" err="1">
                <a:latin typeface="Segoe UI" panose="020B0502040204020203" pitchFamily="34" charset="0"/>
              </a:rPr>
              <a:t>ozgu</a:t>
            </a:r>
            <a:r>
              <a:rPr lang="tr-TR" dirty="0">
                <a:latin typeface="Segoe UI" panose="020B0502040204020203" pitchFamily="34" charset="0"/>
              </a:rPr>
              <a:t> epigenetik saat </a:t>
            </a:r>
            <a:r>
              <a:rPr lang="tr-TR" dirty="0" err="1">
                <a:latin typeface="Segoe UI" panose="020B0502040204020203" pitchFamily="34" charset="0"/>
              </a:rPr>
              <a:t>gelistirme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Uluslararasi</a:t>
            </a:r>
            <a:r>
              <a:rPr lang="tr-TR" dirty="0">
                <a:latin typeface="Segoe UI" panose="020B0502040204020203" pitchFamily="34" charset="0"/>
              </a:rPr>
              <a:t> referans </a:t>
            </a:r>
            <a:r>
              <a:rPr lang="tr-TR" dirty="0" err="1">
                <a:latin typeface="Segoe UI" panose="020B0502040204020203" pitchFamily="34" charset="0"/>
              </a:rPr>
              <a:t>veritabani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populasyon</a:t>
            </a:r>
            <a:r>
              <a:rPr lang="tr-TR" dirty="0">
                <a:latin typeface="Segoe UI" panose="020B0502040204020203" pitchFamily="34" charset="0"/>
              </a:rPr>
              <a:t>-spesifik)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Transformer-bazli</a:t>
            </a:r>
            <a:r>
              <a:rPr lang="tr-TR" dirty="0">
                <a:latin typeface="Segoe UI" panose="020B0502040204020203" pitchFamily="34" charset="0"/>
              </a:rPr>
              <a:t> model (</a:t>
            </a:r>
            <a:r>
              <a:rPr lang="tr-TR" dirty="0" err="1">
                <a:latin typeface="Segoe UI" panose="020B0502040204020203" pitchFamily="34" charset="0"/>
              </a:rPr>
              <a:t>attention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mechanism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UZUN </a:t>
            </a:r>
            <a:r>
              <a:rPr lang="tr-TR" dirty="0" err="1">
                <a:latin typeface="Segoe UI" panose="020B0502040204020203" pitchFamily="34" charset="0"/>
              </a:rPr>
              <a:t>VADELI</a:t>
            </a:r>
            <a:r>
              <a:rPr lang="tr-TR" dirty="0">
                <a:latin typeface="Segoe UI" panose="020B0502040204020203" pitchFamily="34" charset="0"/>
              </a:rPr>
              <a:t> (24 AY):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Klinik validasyon </a:t>
            </a:r>
            <a:r>
              <a:rPr lang="tr-TR" dirty="0" err="1">
                <a:latin typeface="Segoe UI" panose="020B0502040204020203" pitchFamily="34" charset="0"/>
              </a:rPr>
              <a:t>calismalari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RCT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FDA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EMA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regulatuvar</a:t>
            </a:r>
            <a:r>
              <a:rPr lang="tr-TR" dirty="0">
                <a:latin typeface="Segoe UI" panose="020B0502040204020203" pitchFamily="34" charset="0"/>
              </a:rPr>
              <a:t> onay sureci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Adli laboratuvar sertifikasyonu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Tedavi izleme </a:t>
            </a:r>
            <a:r>
              <a:rPr lang="tr-TR" dirty="0" err="1">
                <a:latin typeface="Segoe UI" panose="020B0502040204020203" pitchFamily="34" charset="0"/>
              </a:rPr>
              <a:t>modulu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longitudinal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tracking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ISBIRLIKLERI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UNODC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arastirma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ortakligi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Akademik konsorsiyum </a:t>
            </a:r>
            <a:r>
              <a:rPr lang="tr-TR" dirty="0" err="1">
                <a:latin typeface="Segoe UI" panose="020B0502040204020203" pitchFamily="34" charset="0"/>
              </a:rPr>
              <a:t>olusturma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Endüstri lisanslama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30098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Lisanslama ve </a:t>
            </a:r>
            <a:r>
              <a:rPr lang="tr-TR" dirty="0" err="1">
                <a:latin typeface="Segoe UI" panose="020B0502040204020203" pitchFamily="34" charset="0"/>
              </a:rPr>
              <a:t>Yaşal</a:t>
            </a:r>
            <a:r>
              <a:rPr lang="tr-TR" dirty="0">
                <a:latin typeface="Segoe UI" panose="020B0502040204020203" pitchFamily="34" charset="0"/>
              </a:rPr>
              <a:t> Hususlar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288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EPİGENETİK SAAT </a:t>
            </a:r>
            <a:r>
              <a:rPr lang="tr-TR" dirty="0" err="1">
                <a:latin typeface="Segoe UI" panose="020B0502040204020203" pitchFamily="34" charset="0"/>
              </a:rPr>
              <a:t>LISANSLARI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Horvath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GrimAge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PhenoAge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DunedinPACE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UCSD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lisansi</a:t>
            </a:r>
            <a:r>
              <a:rPr lang="tr-TR" dirty="0">
                <a:latin typeface="Segoe UI" panose="020B0502040204020203" pitchFamily="34" charset="0"/>
              </a:rPr>
              <a:t> gerektirir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Ticari </a:t>
            </a:r>
            <a:r>
              <a:rPr lang="tr-TR" dirty="0" err="1">
                <a:latin typeface="Segoe UI" panose="020B0502040204020203" pitchFamily="34" charset="0"/>
              </a:rPr>
              <a:t>kullanim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ayri</a:t>
            </a:r>
            <a:r>
              <a:rPr lang="tr-TR" dirty="0">
                <a:latin typeface="Segoe UI" panose="020B0502040204020203" pitchFamily="34" charset="0"/>
              </a:rPr>
              <a:t> lisans </a:t>
            </a:r>
            <a:r>
              <a:rPr lang="tr-TR" dirty="0" err="1">
                <a:latin typeface="Segoe UI" panose="020B0502040204020203" pitchFamily="34" charset="0"/>
              </a:rPr>
              <a:t>anlasmasi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Akademik </a:t>
            </a:r>
            <a:r>
              <a:rPr lang="tr-TR" dirty="0" err="1">
                <a:latin typeface="Segoe UI" panose="020B0502040204020203" pitchFamily="34" charset="0"/>
              </a:rPr>
              <a:t>arastirma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ucretsiz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erisim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YAZILIM </a:t>
            </a:r>
            <a:r>
              <a:rPr lang="tr-TR" dirty="0" err="1">
                <a:latin typeface="Segoe UI" panose="020B0502040204020203" pitchFamily="34" charset="0"/>
              </a:rPr>
              <a:t>LISANSI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Platform kodu: </a:t>
            </a:r>
            <a:r>
              <a:rPr lang="tr-TR" dirty="0" err="1">
                <a:latin typeface="Segoe UI" panose="020B0502040204020203" pitchFamily="34" charset="0"/>
              </a:rPr>
              <a:t>Proprietary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sirket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mulkiyeti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Analiz </a:t>
            </a:r>
            <a:r>
              <a:rPr lang="tr-TR" dirty="0" err="1">
                <a:latin typeface="Segoe UI" panose="020B0502040204020203" pitchFamily="34" charset="0"/>
              </a:rPr>
              <a:t>pipeline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GitHub'da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acik</a:t>
            </a:r>
            <a:r>
              <a:rPr lang="tr-TR" dirty="0">
                <a:latin typeface="Segoe UI" panose="020B0502040204020203" pitchFamily="34" charset="0"/>
              </a:rPr>
              <a:t> kaynak (</a:t>
            </a:r>
            <a:r>
              <a:rPr lang="tr-TR" dirty="0" err="1">
                <a:latin typeface="Segoe UI" panose="020B0502040204020203" pitchFamily="34" charset="0"/>
              </a:rPr>
              <a:t>MIT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lisansi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Metodoloji </a:t>
            </a:r>
            <a:r>
              <a:rPr lang="tr-TR" dirty="0" err="1">
                <a:latin typeface="Segoe UI" panose="020B0502040204020203" pitchFamily="34" charset="0"/>
              </a:rPr>
              <a:t>dokumantasyonu</a:t>
            </a:r>
            <a:r>
              <a:rPr lang="tr-TR" dirty="0">
                <a:latin typeface="Segoe UI" panose="020B0502040204020203" pitchFamily="34" charset="0"/>
              </a:rPr>
              <a:t>: Creative </a:t>
            </a:r>
            <a:r>
              <a:rPr lang="tr-TR" dirty="0" err="1">
                <a:latin typeface="Segoe UI" panose="020B0502040204020203" pitchFamily="34" charset="0"/>
              </a:rPr>
              <a:t>Commons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VERI</a:t>
            </a:r>
            <a:r>
              <a:rPr lang="tr-TR" dirty="0">
                <a:latin typeface="Segoe UI" panose="020B0502040204020203" pitchFamily="34" charset="0"/>
              </a:rPr>
              <a:t> KULLANIMI: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Public</a:t>
            </a:r>
            <a:r>
              <a:rPr lang="tr-TR" dirty="0">
                <a:latin typeface="Segoe UI" panose="020B0502040204020203" pitchFamily="34" charset="0"/>
              </a:rPr>
              <a:t> veri setleri: Orijinal lisans </a:t>
            </a:r>
            <a:r>
              <a:rPr lang="tr-TR" dirty="0" err="1">
                <a:latin typeface="Segoe UI" panose="020B0502040204020203" pitchFamily="34" charset="0"/>
              </a:rPr>
              <a:t>sartlari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gecerli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Kullanici</a:t>
            </a:r>
            <a:r>
              <a:rPr lang="tr-TR" dirty="0">
                <a:latin typeface="Segoe UI" panose="020B0502040204020203" pitchFamily="34" charset="0"/>
              </a:rPr>
              <a:t> verisi: </a:t>
            </a:r>
            <a:r>
              <a:rPr lang="tr-TR" dirty="0" err="1">
                <a:latin typeface="Segoe UI" panose="020B0502040204020203" pitchFamily="34" charset="0"/>
              </a:rPr>
              <a:t>GDPR</a:t>
            </a:r>
            <a:r>
              <a:rPr lang="tr-TR" dirty="0">
                <a:latin typeface="Segoe UI" panose="020B0502040204020203" pitchFamily="34" charset="0"/>
              </a:rPr>
              <a:t>/HIPAA uyumlu </a:t>
            </a:r>
            <a:r>
              <a:rPr lang="tr-TR" dirty="0" err="1">
                <a:latin typeface="Segoe UI" panose="020B0502040204020203" pitchFamily="34" charset="0"/>
              </a:rPr>
              <a:t>islem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SORUMLULUK </a:t>
            </a:r>
            <a:r>
              <a:rPr lang="tr-TR" dirty="0" err="1">
                <a:latin typeface="Segoe UI" panose="020B0502040204020203" pitchFamily="34" charset="0"/>
              </a:rPr>
              <a:t>REDDI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PROTOTIP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Gercek</a:t>
            </a:r>
            <a:r>
              <a:rPr lang="tr-TR" dirty="0">
                <a:latin typeface="Segoe UI" panose="020B0502040204020203" pitchFamily="34" charset="0"/>
              </a:rPr>
              <a:t> klinik karar vermede </a:t>
            </a:r>
            <a:r>
              <a:rPr lang="tr-TR" dirty="0" err="1">
                <a:latin typeface="Segoe UI" panose="020B0502040204020203" pitchFamily="34" charset="0"/>
              </a:rPr>
              <a:t>kullanilmamalidir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Simule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edilmis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katsayilar</a:t>
            </a:r>
            <a:r>
              <a:rPr lang="tr-TR" dirty="0">
                <a:latin typeface="Segoe UI" panose="020B0502040204020203" pitchFamily="34" charset="0"/>
              </a:rPr>
              <a:t>: Demonstrasyon </a:t>
            </a:r>
            <a:r>
              <a:rPr lang="tr-TR" dirty="0" err="1">
                <a:latin typeface="Segoe UI" panose="020B0502040204020203" pitchFamily="34" charset="0"/>
              </a:rPr>
              <a:t>amacli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Klinik uygulama </a:t>
            </a:r>
            <a:r>
              <a:rPr lang="tr-TR" dirty="0" err="1">
                <a:latin typeface="Segoe UI" panose="020B0502040204020203" pitchFamily="34" charset="0"/>
              </a:rPr>
              <a:t>oncesi</a:t>
            </a:r>
            <a:r>
              <a:rPr lang="tr-TR" dirty="0">
                <a:latin typeface="Segoe UI" panose="020B0502040204020203" pitchFamily="34" charset="0"/>
              </a:rPr>
              <a:t> validasyon gereklidir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42885" y="1828800"/>
            <a:ext cx="12582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BÖLÜM 5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TARTISMA</a:t>
            </a:r>
            <a:r>
              <a:rPr lang="tr-TR" dirty="0">
                <a:latin typeface="Segoe UI" panose="020B0502040204020203" pitchFamily="34" charset="0"/>
              </a:rPr>
              <a:t> VE SONUÇ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9017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Ana Bulgular Özeti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1. EPİGENETİK YAŞ </a:t>
            </a:r>
            <a:r>
              <a:rPr lang="tr-TR" dirty="0" err="1">
                <a:latin typeface="Segoe UI" panose="020B0502040204020203" pitchFamily="34" charset="0"/>
              </a:rPr>
              <a:t>İVMELENMESI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Tum</a:t>
            </a:r>
            <a:r>
              <a:rPr lang="tr-TR" dirty="0">
                <a:latin typeface="Segoe UI" panose="020B0502040204020203" pitchFamily="34" charset="0"/>
              </a:rPr>
              <a:t> madde kategorileri </a:t>
            </a:r>
            <a:r>
              <a:rPr lang="tr-TR" dirty="0" err="1">
                <a:latin typeface="Segoe UI" panose="020B0502040204020203" pitchFamily="34" charset="0"/>
              </a:rPr>
              <a:t>anlamli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gosterdi</a:t>
            </a:r>
            <a:r>
              <a:rPr lang="tr-TR" dirty="0">
                <a:latin typeface="Segoe UI" panose="020B0502040204020203" pitchFamily="34" charset="0"/>
              </a:rPr>
              <a:t> (d=0.27-1.28)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En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Coklu</a:t>
            </a:r>
            <a:r>
              <a:rPr lang="tr-TR" dirty="0">
                <a:latin typeface="Segoe UI" panose="020B0502040204020203" pitchFamily="34" charset="0"/>
              </a:rPr>
              <a:t> madde (+7.3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GrimAge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En </a:t>
            </a:r>
            <a:r>
              <a:rPr lang="tr-TR" dirty="0" err="1">
                <a:latin typeface="Segoe UI" panose="020B0502040204020203" pitchFamily="34" charset="0"/>
              </a:rPr>
              <a:t>dusuk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Kannabis</a:t>
            </a:r>
            <a:r>
              <a:rPr lang="tr-TR" dirty="0">
                <a:latin typeface="Segoe UI" panose="020B0502040204020203" pitchFamily="34" charset="0"/>
              </a:rPr>
              <a:t> (+1.6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2. Maddeye ÖZGÜ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IMZALARI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- 1,847 diferansiyel metile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sitesi </a:t>
            </a:r>
            <a:r>
              <a:rPr lang="tr-TR" dirty="0" err="1">
                <a:latin typeface="Segoe UI" panose="020B0502040204020203" pitchFamily="34" charset="0"/>
              </a:rPr>
              <a:t>tanimlandi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%87.3 </a:t>
            </a:r>
            <a:r>
              <a:rPr lang="tr-TR" dirty="0" err="1">
                <a:latin typeface="Segoe UI" panose="020B0502040204020203" pitchFamily="34" charset="0"/>
              </a:rPr>
              <a:t>siniflandirma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dogrulugu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Core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addiction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signature</a:t>
            </a:r>
            <a:r>
              <a:rPr lang="tr-TR" dirty="0">
                <a:latin typeface="Segoe UI" panose="020B0502040204020203" pitchFamily="34" charset="0"/>
              </a:rPr>
              <a:t>: 436 </a:t>
            </a:r>
            <a:r>
              <a:rPr lang="tr-TR" dirty="0" err="1">
                <a:latin typeface="Segoe UI" panose="020B0502040204020203" pitchFamily="34" charset="0"/>
              </a:rPr>
              <a:t>paylasilan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3. </a:t>
            </a:r>
            <a:r>
              <a:rPr lang="tr-TR" dirty="0" err="1">
                <a:latin typeface="Segoe UI" panose="020B0502040204020203" pitchFamily="34" charset="0"/>
              </a:rPr>
              <a:t>MEKANISTIK</a:t>
            </a:r>
            <a:r>
              <a:rPr lang="tr-TR" dirty="0">
                <a:latin typeface="Segoe UI" panose="020B0502040204020203" pitchFamily="34" charset="0"/>
              </a:rPr>
              <a:t> YOLAKLAR: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Insulin</a:t>
            </a:r>
            <a:r>
              <a:rPr lang="tr-TR" dirty="0">
                <a:latin typeface="Segoe UI" panose="020B0502040204020203" pitchFamily="34" charset="0"/>
              </a:rPr>
              <a:t> direnci: %34 </a:t>
            </a:r>
            <a:r>
              <a:rPr lang="tr-TR" dirty="0" err="1">
                <a:latin typeface="Segoe UI" panose="020B0502040204020203" pitchFamily="34" charset="0"/>
              </a:rPr>
              <a:t>mediyasyon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HPA</a:t>
            </a:r>
            <a:r>
              <a:rPr lang="tr-TR" dirty="0">
                <a:latin typeface="Segoe UI" panose="020B0502040204020203" pitchFamily="34" charset="0"/>
              </a:rPr>
              <a:t> eksen: %29 </a:t>
            </a:r>
            <a:r>
              <a:rPr lang="tr-TR" dirty="0" err="1">
                <a:latin typeface="Segoe UI" panose="020B0502040204020203" pitchFamily="34" charset="0"/>
              </a:rPr>
              <a:t>mediyasyon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Inflamasyon</a:t>
            </a:r>
            <a:r>
              <a:rPr lang="tr-TR" dirty="0">
                <a:latin typeface="Segoe UI" panose="020B0502040204020203" pitchFamily="34" charset="0"/>
              </a:rPr>
              <a:t>: %37 </a:t>
            </a:r>
            <a:r>
              <a:rPr lang="tr-TR" dirty="0" err="1">
                <a:latin typeface="Segoe UI" panose="020B0502040204020203" pitchFamily="34" charset="0"/>
              </a:rPr>
              <a:t>mediyasyon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Toplam indirekt etki: %61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4. </a:t>
            </a:r>
            <a:r>
              <a:rPr lang="tr-TR" dirty="0" err="1">
                <a:latin typeface="Segoe UI" panose="020B0502040204020203" pitchFamily="34" charset="0"/>
              </a:rPr>
              <a:t>PSIKOLOJIK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MODERASYON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Duygu </a:t>
            </a:r>
            <a:r>
              <a:rPr lang="tr-TR" dirty="0" err="1">
                <a:latin typeface="Segoe UI" panose="020B0502040204020203" pitchFamily="34" charset="0"/>
              </a:rPr>
              <a:t>duzenleme</a:t>
            </a:r>
            <a:r>
              <a:rPr lang="tr-TR" dirty="0">
                <a:latin typeface="Segoe UI" panose="020B0502040204020203" pitchFamily="34" charset="0"/>
              </a:rPr>
              <a:t>: 3.7 kat etki </a:t>
            </a:r>
            <a:r>
              <a:rPr lang="tr-TR" dirty="0" err="1">
                <a:latin typeface="Segoe UI" panose="020B0502040204020203" pitchFamily="34" charset="0"/>
              </a:rPr>
              <a:t>farki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Oz</a:t>
            </a:r>
            <a:r>
              <a:rPr lang="tr-TR" dirty="0">
                <a:latin typeface="Segoe UI" panose="020B0502040204020203" pitchFamily="34" charset="0"/>
              </a:rPr>
              <a:t>-kontrol: %54 etki </a:t>
            </a:r>
            <a:r>
              <a:rPr lang="tr-TR" dirty="0" err="1">
                <a:latin typeface="Segoe UI" panose="020B0502040204020203" pitchFamily="34" charset="0"/>
              </a:rPr>
              <a:t>azaltimi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42089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Mevcut </a:t>
            </a:r>
            <a:r>
              <a:rPr lang="tr-TR" dirty="0" err="1">
                <a:latin typeface="Segoe UI" panose="020B0502040204020203" pitchFamily="34" charset="0"/>
              </a:rPr>
              <a:t>Literaturle</a:t>
            </a:r>
            <a:r>
              <a:rPr lang="tr-TR" dirty="0">
                <a:latin typeface="Segoe UI" panose="020B0502040204020203" pitchFamily="34" charset="0"/>
              </a:rPr>
              <a:t> Karşılaştırma</a:t>
            </a:r>
            <a:endParaRPr lang="tr-TR" dirty="0">
              <a:latin typeface="Segoe UI" panose="020B0502040204020203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Ozellik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Onceki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Çalışmalar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Mevcut Çalışma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Katki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Örnek Boyutu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En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buyuk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: n=1,234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n=10,542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8.5 kat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buyuk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Madde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Cesitliligi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Genellikle tek madde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6 kategori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Kapsamli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karsilastirma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Epigenetik Saat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1-2 saat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5 saat +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ensemble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Sistematik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karsilastirma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CpG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Imza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Sinirli/yok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1,847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CpG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Adli potansiyel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Mediyasyon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Sinirli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3 fizyolojik yolak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Mekanistik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anlayis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Postmortem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Nadir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n=108 +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PMI</a:t>
                      </a:r>
                      <a:r>
                        <a:rPr lang="tr-TR" sz="1600" dirty="0"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tr-TR" sz="1600" dirty="0" err="1">
                          <a:latin typeface="Segoe UI" panose="020B0502040204020203" pitchFamily="34" charset="0"/>
                        </a:rPr>
                        <a:t>duzeltme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rPr lang="tr-TR" sz="1600" dirty="0">
                          <a:latin typeface="Segoe UI" panose="020B0502040204020203" pitchFamily="34" charset="0"/>
                        </a:rPr>
                        <a:t>Adli uygulanabilirlik</a:t>
                      </a:r>
                      <a:endParaRPr lang="tr-TR" sz="1600" dirty="0">
                        <a:latin typeface="Segoe UI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2142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Mekanistik </a:t>
            </a:r>
            <a:r>
              <a:rPr lang="tr-TR" dirty="0" err="1">
                <a:latin typeface="Segoe UI" panose="020B0502040204020203" pitchFamily="34" charset="0"/>
              </a:rPr>
              <a:t>Ic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goruler</a:t>
            </a:r>
            <a:r>
              <a:rPr lang="tr-TR" dirty="0">
                <a:latin typeface="Segoe UI" panose="020B0502040204020203" pitchFamily="34" charset="0"/>
              </a:rPr>
              <a:t>: Biyolojik Yolaklar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3790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INSULIN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DIRENCI</a:t>
            </a:r>
            <a:r>
              <a:rPr lang="tr-TR" dirty="0">
                <a:latin typeface="Segoe UI" panose="020B0502040204020203" pitchFamily="34" charset="0"/>
              </a:rPr>
              <a:t> (%34 </a:t>
            </a:r>
            <a:r>
              <a:rPr lang="tr-TR" dirty="0" err="1">
                <a:latin typeface="Segoe UI" panose="020B0502040204020203" pitchFamily="34" charset="0"/>
              </a:rPr>
              <a:t>MEDIYAŞYON</a:t>
            </a:r>
            <a:r>
              <a:rPr lang="tr-TR" dirty="0">
                <a:latin typeface="Segoe UI" panose="020B0502040204020203" pitchFamily="34" charset="0"/>
              </a:rPr>
              <a:t>):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Kronik madde </a:t>
            </a:r>
            <a:r>
              <a:rPr lang="tr-TR" dirty="0" err="1">
                <a:latin typeface="Segoe UI" panose="020B0502040204020203" pitchFamily="34" charset="0"/>
              </a:rPr>
              <a:t>kullanimi</a:t>
            </a:r>
            <a:r>
              <a:rPr lang="tr-TR" dirty="0">
                <a:latin typeface="Segoe UI" panose="020B0502040204020203" pitchFamily="34" charset="0"/>
              </a:rPr>
              <a:t> → Glukoz homeostazi </a:t>
            </a:r>
            <a:r>
              <a:rPr lang="tr-TR" dirty="0" err="1">
                <a:latin typeface="Segoe UI" panose="020B0502040204020203" pitchFamily="34" charset="0"/>
              </a:rPr>
              <a:t>bozulmasi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Hiperglisemi → AGE </a:t>
            </a:r>
            <a:r>
              <a:rPr lang="tr-TR" dirty="0" err="1">
                <a:latin typeface="Segoe UI" panose="020B0502040204020203" pitchFamily="34" charset="0"/>
              </a:rPr>
              <a:t>olusumu</a:t>
            </a:r>
            <a:r>
              <a:rPr lang="tr-TR" dirty="0">
                <a:latin typeface="Segoe UI" panose="020B0502040204020203" pitchFamily="34" charset="0"/>
              </a:rPr>
              <a:t> → Oksidatif stres → DNA </a:t>
            </a:r>
            <a:r>
              <a:rPr lang="tr-TR" dirty="0" err="1">
                <a:latin typeface="Segoe UI" panose="020B0502040204020203" pitchFamily="34" charset="0"/>
              </a:rPr>
              <a:t>hasari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Insulin</a:t>
            </a:r>
            <a:r>
              <a:rPr lang="tr-TR" dirty="0">
                <a:latin typeface="Segoe UI" panose="020B0502040204020203" pitchFamily="34" charset="0"/>
              </a:rPr>
              <a:t> sinyali → </a:t>
            </a:r>
            <a:r>
              <a:rPr lang="tr-TR" dirty="0" err="1">
                <a:latin typeface="Segoe UI" panose="020B0502040204020203" pitchFamily="34" charset="0"/>
              </a:rPr>
              <a:t>DNMT</a:t>
            </a:r>
            <a:r>
              <a:rPr lang="tr-TR" dirty="0">
                <a:latin typeface="Segoe UI" panose="020B0502040204020203" pitchFamily="34" charset="0"/>
              </a:rPr>
              <a:t> enzim </a:t>
            </a:r>
            <a:r>
              <a:rPr lang="tr-TR" dirty="0" err="1">
                <a:latin typeface="Segoe UI" panose="020B0502040204020203" pitchFamily="34" charset="0"/>
              </a:rPr>
              <a:t>regulasyonu</a:t>
            </a:r>
            <a:r>
              <a:rPr lang="tr-TR" dirty="0">
                <a:latin typeface="Segoe UI" panose="020B0502040204020203" pitchFamily="34" charset="0"/>
              </a:rPr>
              <a:t> → Epigenetik </a:t>
            </a:r>
            <a:r>
              <a:rPr lang="tr-TR" dirty="0" err="1">
                <a:latin typeface="Segoe UI" panose="020B0502040204020203" pitchFamily="34" charset="0"/>
              </a:rPr>
              <a:t>degisim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HPA</a:t>
            </a:r>
            <a:r>
              <a:rPr lang="tr-TR" dirty="0">
                <a:latin typeface="Segoe UI" panose="020B0502040204020203" pitchFamily="34" charset="0"/>
              </a:rPr>
              <a:t> EKSEN </a:t>
            </a:r>
            <a:r>
              <a:rPr lang="tr-TR" dirty="0" err="1">
                <a:latin typeface="Segoe UI" panose="020B0502040204020203" pitchFamily="34" charset="0"/>
              </a:rPr>
              <a:t>DISREGULASYONU</a:t>
            </a:r>
            <a:r>
              <a:rPr lang="tr-TR" dirty="0">
                <a:latin typeface="Segoe UI" panose="020B0502040204020203" pitchFamily="34" charset="0"/>
              </a:rPr>
              <a:t> (%29 </a:t>
            </a:r>
            <a:r>
              <a:rPr lang="tr-TR" dirty="0" err="1">
                <a:latin typeface="Segoe UI" panose="020B0502040204020203" pitchFamily="34" charset="0"/>
              </a:rPr>
              <a:t>MEDIYASYON</a:t>
            </a:r>
            <a:r>
              <a:rPr lang="tr-TR" dirty="0">
                <a:latin typeface="Segoe UI" panose="020B0502040204020203" pitchFamily="34" charset="0"/>
              </a:rPr>
              <a:t>):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Kronik stres → Kortizol/</a:t>
            </a:r>
            <a:r>
              <a:rPr lang="tr-TR" dirty="0" err="1">
                <a:latin typeface="Segoe UI" panose="020B0502040204020203" pitchFamily="34" charset="0"/>
              </a:rPr>
              <a:t>ACTH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artisi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Glukokortikoid </a:t>
            </a:r>
            <a:r>
              <a:rPr lang="tr-TR" dirty="0" err="1">
                <a:latin typeface="Segoe UI" panose="020B0502040204020203" pitchFamily="34" charset="0"/>
              </a:rPr>
              <a:t>reseptor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NR3C1</a:t>
            </a:r>
            <a:r>
              <a:rPr lang="tr-TR" dirty="0">
                <a:latin typeface="Segoe UI" panose="020B0502040204020203" pitchFamily="34" charset="0"/>
              </a:rPr>
              <a:t>) metilasyon </a:t>
            </a:r>
            <a:r>
              <a:rPr lang="tr-TR" dirty="0" err="1">
                <a:latin typeface="Segoe UI" panose="020B0502040204020203" pitchFamily="34" charset="0"/>
              </a:rPr>
              <a:t>degisiklikleri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Opioid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kullanicilarinda</a:t>
            </a:r>
            <a:r>
              <a:rPr lang="tr-TR" dirty="0">
                <a:latin typeface="Segoe UI" panose="020B0502040204020203" pitchFamily="34" charset="0"/>
              </a:rPr>
              <a:t> en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HPA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disregulasyonu</a:t>
            </a:r>
            <a:r>
              <a:rPr lang="tr-TR" dirty="0">
                <a:latin typeface="Segoe UI" panose="020B0502040204020203" pitchFamily="34" charset="0"/>
              </a:rPr>
              <a:t> (+%51)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SISTEMIK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INFLAMASYON</a:t>
            </a:r>
            <a:r>
              <a:rPr lang="tr-TR" dirty="0">
                <a:latin typeface="Segoe UI" panose="020B0502040204020203" pitchFamily="34" charset="0"/>
              </a:rPr>
              <a:t> (%37 </a:t>
            </a:r>
            <a:r>
              <a:rPr lang="tr-TR" dirty="0" err="1">
                <a:latin typeface="Segoe UI" panose="020B0502040204020203" pitchFamily="34" charset="0"/>
              </a:rPr>
              <a:t>MEDIYAŞYON</a:t>
            </a:r>
            <a:r>
              <a:rPr lang="tr-TR" dirty="0">
                <a:latin typeface="Segoe UI" panose="020B0502040204020203" pitchFamily="34" charset="0"/>
              </a:rPr>
              <a:t> - EN </a:t>
            </a:r>
            <a:r>
              <a:rPr lang="tr-TR" dirty="0" err="1">
                <a:latin typeface="Segoe UI" panose="020B0502040204020203" pitchFamily="34" charset="0"/>
              </a:rPr>
              <a:t>GUCLU</a:t>
            </a:r>
            <a:r>
              <a:rPr lang="tr-TR" dirty="0">
                <a:latin typeface="Segoe UI" panose="020B0502040204020203" pitchFamily="34" charset="0"/>
              </a:rPr>
              <a:t>):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Bağirsak</a:t>
            </a:r>
            <a:r>
              <a:rPr lang="tr-TR" dirty="0">
                <a:latin typeface="Segoe UI" panose="020B0502040204020203" pitchFamily="34" charset="0"/>
              </a:rPr>
              <a:t> bariyeri </a:t>
            </a:r>
            <a:r>
              <a:rPr lang="tr-TR" dirty="0" err="1">
                <a:latin typeface="Segoe UI" panose="020B0502040204020203" pitchFamily="34" charset="0"/>
              </a:rPr>
              <a:t>bozulmasi</a:t>
            </a:r>
            <a:r>
              <a:rPr lang="tr-TR" dirty="0">
                <a:latin typeface="Segoe UI" panose="020B0502040204020203" pitchFamily="34" charset="0"/>
              </a:rPr>
              <a:t> → Endotoksin translokasyonu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Oksidatif stres → Doku </a:t>
            </a:r>
            <a:r>
              <a:rPr lang="tr-TR" dirty="0" err="1">
                <a:latin typeface="Segoe UI" panose="020B0502040204020203" pitchFamily="34" charset="0"/>
              </a:rPr>
              <a:t>hasari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CRP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IL</a:t>
            </a:r>
            <a:r>
              <a:rPr lang="tr-TR" dirty="0">
                <a:latin typeface="Segoe UI" panose="020B0502040204020203" pitchFamily="34" charset="0"/>
              </a:rPr>
              <a:t>-6, </a:t>
            </a:r>
            <a:r>
              <a:rPr lang="tr-TR" dirty="0" err="1">
                <a:latin typeface="Segoe UI" panose="020B0502040204020203" pitchFamily="34" charset="0"/>
              </a:rPr>
              <a:t>TNF</a:t>
            </a:r>
            <a:r>
              <a:rPr lang="tr-TR" dirty="0">
                <a:latin typeface="Segoe UI" panose="020B0502040204020203" pitchFamily="34" charset="0"/>
              </a:rPr>
              <a:t>-α </a:t>
            </a:r>
            <a:r>
              <a:rPr lang="tr-TR" dirty="0" err="1">
                <a:latin typeface="Segoe UI" panose="020B0502040204020203" pitchFamily="34" charset="0"/>
              </a:rPr>
              <a:t>artisi</a:t>
            </a:r>
            <a:r>
              <a:rPr lang="tr-TR" dirty="0">
                <a:latin typeface="Segoe UI" panose="020B0502040204020203" pitchFamily="34" charset="0"/>
              </a:rPr>
              <a:t> → </a:t>
            </a:r>
            <a:r>
              <a:rPr lang="tr-TR" dirty="0" err="1">
                <a:latin typeface="Segoe UI" panose="020B0502040204020203" pitchFamily="34" charset="0"/>
              </a:rPr>
              <a:t>NFKB1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IL6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TNF</a:t>
            </a:r>
            <a:r>
              <a:rPr lang="tr-TR" dirty="0">
                <a:latin typeface="Segoe UI" panose="020B0502040204020203" pitchFamily="34" charset="0"/>
              </a:rPr>
              <a:t> metilasyonu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Kronik </a:t>
            </a:r>
            <a:r>
              <a:rPr lang="tr-TR" dirty="0" err="1">
                <a:latin typeface="Segoe UI" panose="020B0502040204020203" pitchFamily="34" charset="0"/>
              </a:rPr>
              <a:t>dusuk</a:t>
            </a:r>
            <a:r>
              <a:rPr lang="tr-TR" dirty="0">
                <a:latin typeface="Segoe UI" panose="020B0502040204020203" pitchFamily="34" charset="0"/>
              </a:rPr>
              <a:t> dereceli inflamasyon → </a:t>
            </a:r>
            <a:r>
              <a:rPr lang="tr-TR" dirty="0" err="1">
                <a:latin typeface="Segoe UI" panose="020B0502040204020203" pitchFamily="34" charset="0"/>
              </a:rPr>
              <a:t>Hizlanmis</a:t>
            </a:r>
            <a:r>
              <a:rPr lang="tr-TR" dirty="0">
                <a:latin typeface="Segoe UI" panose="020B0502040204020203" pitchFamily="34" charset="0"/>
              </a:rPr>
              <a:t> yaslanma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KALAN %39 </a:t>
            </a:r>
            <a:r>
              <a:rPr lang="tr-TR" dirty="0" err="1">
                <a:latin typeface="Segoe UI" panose="020B0502040204020203" pitchFamily="34" charset="0"/>
              </a:rPr>
              <a:t>DIREKT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ETKI</a:t>
            </a:r>
            <a:r>
              <a:rPr lang="tr-TR" dirty="0">
                <a:latin typeface="Segoe UI" panose="020B0502040204020203" pitchFamily="34" charset="0"/>
              </a:rPr>
              <a:t>: Telomer </a:t>
            </a:r>
            <a:r>
              <a:rPr lang="tr-TR" dirty="0" err="1">
                <a:latin typeface="Segoe UI" panose="020B0502040204020203" pitchFamily="34" charset="0"/>
              </a:rPr>
              <a:t>kisalmasi</a:t>
            </a:r>
            <a:r>
              <a:rPr lang="tr-TR" dirty="0">
                <a:latin typeface="Segoe UI" panose="020B0502040204020203" pitchFamily="34" charset="0"/>
              </a:rPr>
              <a:t>, mitokondriyal disfonksiyon, direkt nörotoksisite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28678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Psikolojik </a:t>
            </a:r>
            <a:r>
              <a:rPr lang="tr-TR" dirty="0" err="1">
                <a:latin typeface="Segoe UI" panose="020B0502040204020203" pitchFamily="34" charset="0"/>
              </a:rPr>
              <a:t>Dayaniklilik</a:t>
            </a:r>
            <a:r>
              <a:rPr lang="tr-TR" dirty="0">
                <a:latin typeface="Segoe UI" panose="020B0502040204020203" pitchFamily="34" charset="0"/>
              </a:rPr>
              <a:t>: Koruyucu </a:t>
            </a:r>
            <a:r>
              <a:rPr lang="tr-TR" dirty="0" err="1">
                <a:latin typeface="Segoe UI" panose="020B0502040204020203" pitchFamily="34" charset="0"/>
              </a:rPr>
              <a:t>Faktorler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05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DUYGU DÜZENLEME: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Iyi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duzenleme</a:t>
            </a:r>
            <a:r>
              <a:rPr lang="tr-TR" dirty="0">
                <a:latin typeface="Segoe UI" panose="020B0502040204020203" pitchFamily="34" charset="0"/>
              </a:rPr>
              <a:t>: +1.8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Zayif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duzenleme</a:t>
            </a:r>
            <a:r>
              <a:rPr lang="tr-TR" dirty="0">
                <a:latin typeface="Segoe UI" panose="020B0502040204020203" pitchFamily="34" charset="0"/>
              </a:rPr>
              <a:t>: +6.2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Mekanizma: Stres </a:t>
            </a:r>
            <a:r>
              <a:rPr lang="tr-TR" dirty="0" err="1">
                <a:latin typeface="Segoe UI" panose="020B0502040204020203" pitchFamily="34" charset="0"/>
              </a:rPr>
              <a:t>yaniti</a:t>
            </a:r>
            <a:r>
              <a:rPr lang="tr-TR" dirty="0">
                <a:latin typeface="Segoe UI" panose="020B0502040204020203" pitchFamily="34" charset="0"/>
              </a:rPr>
              <a:t> ve </a:t>
            </a:r>
            <a:r>
              <a:rPr lang="tr-TR" dirty="0" err="1">
                <a:latin typeface="Segoe UI" panose="020B0502040204020203" pitchFamily="34" charset="0"/>
              </a:rPr>
              <a:t>HPA</a:t>
            </a:r>
            <a:r>
              <a:rPr lang="tr-TR" dirty="0">
                <a:latin typeface="Segoe UI" panose="020B0502040204020203" pitchFamily="34" charset="0"/>
              </a:rPr>
              <a:t> eksen aktivasyonu </a:t>
            </a:r>
            <a:r>
              <a:rPr lang="tr-TR" dirty="0" err="1">
                <a:latin typeface="Segoe UI" panose="020B0502040204020203" pitchFamily="34" charset="0"/>
              </a:rPr>
              <a:t>azaltimi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Klinik </a:t>
            </a:r>
            <a:r>
              <a:rPr lang="tr-TR" dirty="0" err="1">
                <a:latin typeface="Segoe UI" panose="020B0502040204020203" pitchFamily="34" charset="0"/>
              </a:rPr>
              <a:t>implikasyon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DBT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Dialectical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Behavior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Therapy</a:t>
            </a:r>
            <a:r>
              <a:rPr lang="tr-TR" dirty="0">
                <a:latin typeface="Segoe UI" panose="020B0502040204020203" pitchFamily="34" charset="0"/>
              </a:rPr>
              <a:t>) potansiyeli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OZ</a:t>
            </a:r>
            <a:r>
              <a:rPr lang="tr-TR" dirty="0">
                <a:latin typeface="Segoe UI" panose="020B0502040204020203" pitchFamily="34" charset="0"/>
              </a:rPr>
              <a:t>-KONTROL: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oz</a:t>
            </a:r>
            <a:r>
              <a:rPr lang="tr-TR" dirty="0">
                <a:latin typeface="Segoe UI" panose="020B0502040204020203" pitchFamily="34" charset="0"/>
              </a:rPr>
              <a:t>-kontrol: +1.9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Dusuk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oz</a:t>
            </a:r>
            <a:r>
              <a:rPr lang="tr-TR" dirty="0">
                <a:latin typeface="Segoe UI" panose="020B0502040204020203" pitchFamily="34" charset="0"/>
              </a:rPr>
              <a:t>-kontrol: +5.7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Davranissal</a:t>
            </a:r>
            <a:r>
              <a:rPr lang="tr-TR" dirty="0">
                <a:latin typeface="Segoe UI" panose="020B0502040204020203" pitchFamily="34" charset="0"/>
              </a:rPr>
              <a:t> yolak: Madde miktar/siklik </a:t>
            </a:r>
            <a:r>
              <a:rPr lang="tr-TR" dirty="0" err="1">
                <a:latin typeface="Segoe UI" panose="020B0502040204020203" pitchFamily="34" charset="0"/>
              </a:rPr>
              <a:t>azaltimi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saglikli</a:t>
            </a:r>
            <a:r>
              <a:rPr lang="tr-TR" dirty="0">
                <a:latin typeface="Segoe UI" panose="020B0502040204020203" pitchFamily="34" charset="0"/>
              </a:rPr>
              <a:t> yasam </a:t>
            </a:r>
            <a:r>
              <a:rPr lang="tr-TR" dirty="0" err="1">
                <a:latin typeface="Segoe UI" panose="020B0502040204020203" pitchFamily="34" charset="0"/>
              </a:rPr>
              <a:t>tarzi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Fizyolojik yolak: </a:t>
            </a:r>
            <a:r>
              <a:rPr lang="tr-TR" dirty="0" err="1">
                <a:latin typeface="Segoe UI" panose="020B0502040204020203" pitchFamily="34" charset="0"/>
              </a:rPr>
              <a:t>Insulin</a:t>
            </a:r>
            <a:r>
              <a:rPr lang="tr-TR" dirty="0">
                <a:latin typeface="Segoe UI" panose="020B0502040204020203" pitchFamily="34" charset="0"/>
              </a:rPr>
              <a:t> direnci →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yolagi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moderasyonu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Klinik </a:t>
            </a:r>
            <a:r>
              <a:rPr lang="tr-TR" dirty="0" err="1">
                <a:latin typeface="Segoe UI" panose="020B0502040204020203" pitchFamily="34" charset="0"/>
              </a:rPr>
              <a:t>implikasyon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CBT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Cognitive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Behavioral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Therapy</a:t>
            </a:r>
            <a:r>
              <a:rPr lang="tr-TR" dirty="0">
                <a:latin typeface="Segoe UI" panose="020B0502040204020203" pitchFamily="34" charset="0"/>
              </a:rPr>
              <a:t>) potansiyeli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TEDAVI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IMPLIKASYONLARI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Psikolojik </a:t>
            </a:r>
            <a:r>
              <a:rPr lang="tr-TR" dirty="0" err="1">
                <a:latin typeface="Segoe UI" panose="020B0502040204020203" pitchFamily="34" charset="0"/>
              </a:rPr>
              <a:t>mudahaleler</a:t>
            </a:r>
            <a:r>
              <a:rPr lang="tr-TR" dirty="0">
                <a:latin typeface="Segoe UI" panose="020B0502040204020203" pitchFamily="34" charset="0"/>
              </a:rPr>
              <a:t> sadece </a:t>
            </a:r>
            <a:r>
              <a:rPr lang="tr-TR" dirty="0" err="1">
                <a:latin typeface="Segoe UI" panose="020B0502040204020203" pitchFamily="34" charset="0"/>
              </a:rPr>
              <a:t>davranis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degil</a:t>
            </a:r>
            <a:r>
              <a:rPr lang="tr-TR" dirty="0">
                <a:latin typeface="Segoe UI" panose="020B0502040204020203" pitchFamily="34" charset="0"/>
              </a:rPr>
              <a:t>, biyolojik </a:t>
            </a:r>
            <a:r>
              <a:rPr lang="tr-TR" dirty="0" err="1">
                <a:latin typeface="Segoe UI" panose="020B0502040204020203" pitchFamily="34" charset="0"/>
              </a:rPr>
              <a:t>yaslanmayi</a:t>
            </a:r>
            <a:r>
              <a:rPr lang="tr-TR" dirty="0">
                <a:latin typeface="Segoe UI" panose="020B0502040204020203" pitchFamily="34" charset="0"/>
              </a:rPr>
              <a:t> da etkiler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Entegre tedavi </a:t>
            </a:r>
            <a:r>
              <a:rPr lang="tr-TR" dirty="0" err="1">
                <a:latin typeface="Segoe UI" panose="020B0502040204020203" pitchFamily="34" charset="0"/>
              </a:rPr>
              <a:t>yaklasimlari</a:t>
            </a:r>
            <a:r>
              <a:rPr lang="tr-TR" dirty="0">
                <a:latin typeface="Segoe UI" panose="020B0502040204020203" pitchFamily="34" charset="0"/>
              </a:rPr>
              <a:t> (farmakolojik + psikolojik) </a:t>
            </a:r>
            <a:r>
              <a:rPr lang="tr-TR" dirty="0" err="1">
                <a:latin typeface="Segoe UI" panose="020B0502040204020203" pitchFamily="34" charset="0"/>
              </a:rPr>
              <a:t>superiordur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Dayaniklilik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gelistirme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programlari</a:t>
            </a:r>
            <a:r>
              <a:rPr lang="tr-TR" dirty="0">
                <a:latin typeface="Segoe UI" panose="020B0502040204020203" pitchFamily="34" charset="0"/>
              </a:rPr>
              <a:t> epigenetik faydalar </a:t>
            </a:r>
            <a:r>
              <a:rPr lang="tr-TR" dirty="0" err="1">
                <a:latin typeface="Segoe UI" panose="020B0502040204020203" pitchFamily="34" charset="0"/>
              </a:rPr>
              <a:t>saglayabilir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75699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Çalışmanin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Guclü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Yonleri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468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1. </a:t>
            </a:r>
            <a:r>
              <a:rPr lang="tr-TR" dirty="0" err="1">
                <a:latin typeface="Segoe UI" panose="020B0502040204020203" pitchFamily="34" charset="0"/>
              </a:rPr>
              <a:t>BUYUK</a:t>
            </a:r>
            <a:r>
              <a:rPr lang="tr-TR" dirty="0">
                <a:latin typeface="Segoe UI" panose="020B0502040204020203" pitchFamily="34" charset="0"/>
              </a:rPr>
              <a:t> ÖRNEK BOYUTU (n=10,542):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Robust</a:t>
            </a:r>
            <a:r>
              <a:rPr lang="tr-TR" dirty="0">
                <a:latin typeface="Segoe UI" panose="020B0502040204020203" pitchFamily="34" charset="0"/>
              </a:rPr>
              <a:t> istatistiksel </a:t>
            </a:r>
            <a:r>
              <a:rPr lang="tr-TR" dirty="0" err="1">
                <a:latin typeface="Segoe UI" panose="020B0502040204020203" pitchFamily="34" charset="0"/>
              </a:rPr>
              <a:t>guc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Detayli</a:t>
            </a:r>
            <a:r>
              <a:rPr lang="tr-TR" dirty="0">
                <a:latin typeface="Segoe UI" panose="020B0502040204020203" pitchFamily="34" charset="0"/>
              </a:rPr>
              <a:t> alt grup analizleri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Kucuk</a:t>
            </a:r>
            <a:r>
              <a:rPr lang="tr-TR" dirty="0">
                <a:latin typeface="Segoe UI" panose="020B0502040204020203" pitchFamily="34" charset="0"/>
              </a:rPr>
              <a:t> etkileri tespit yetisi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2. </a:t>
            </a:r>
            <a:r>
              <a:rPr lang="tr-TR" dirty="0" err="1">
                <a:latin typeface="Segoe UI" panose="020B0502040204020203" pitchFamily="34" charset="0"/>
              </a:rPr>
              <a:t>COKLU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VERI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SETI</a:t>
            </a:r>
            <a:r>
              <a:rPr lang="tr-TR" dirty="0">
                <a:latin typeface="Segoe UI" panose="020B0502040204020203" pitchFamily="34" charset="0"/>
              </a:rPr>
              <a:t> ENTEGRASYONU: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- 15 </a:t>
            </a:r>
            <a:r>
              <a:rPr lang="tr-TR" dirty="0" err="1">
                <a:latin typeface="Segoe UI" panose="020B0502040204020203" pitchFamily="34" charset="0"/>
              </a:rPr>
              <a:t>bagimsiz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calisma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Farkli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populasyonlar</a:t>
            </a:r>
            <a:r>
              <a:rPr lang="tr-TR" dirty="0">
                <a:latin typeface="Segoe UI" panose="020B0502040204020203" pitchFamily="34" charset="0"/>
              </a:rPr>
              <a:t> ve </a:t>
            </a:r>
            <a:r>
              <a:rPr lang="tr-TR" dirty="0" err="1">
                <a:latin typeface="Segoe UI" panose="020B0502040204020203" pitchFamily="34" charset="0"/>
              </a:rPr>
              <a:t>cografi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bolgeler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Genellenebilirlik </a:t>
            </a:r>
            <a:r>
              <a:rPr lang="tr-TR" dirty="0" err="1">
                <a:latin typeface="Segoe UI" panose="020B0502040204020203" pitchFamily="34" charset="0"/>
              </a:rPr>
              <a:t>artisi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3. KAPSAMLI </a:t>
            </a:r>
            <a:r>
              <a:rPr lang="tr-TR" dirty="0" err="1">
                <a:latin typeface="Segoe UI" panose="020B0502040204020203" pitchFamily="34" charset="0"/>
              </a:rPr>
              <a:t>METODOLOJI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- 5 epigenetik saat sistematik </a:t>
            </a:r>
            <a:r>
              <a:rPr lang="tr-TR" dirty="0" err="1">
                <a:latin typeface="Segoe UI" panose="020B0502040204020203" pitchFamily="34" charset="0"/>
              </a:rPr>
              <a:t>karsilastirmasi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Mediyasyon</a:t>
            </a:r>
            <a:r>
              <a:rPr lang="tr-TR" dirty="0">
                <a:latin typeface="Segoe UI" panose="020B0502040204020203" pitchFamily="34" charset="0"/>
              </a:rPr>
              <a:t> + </a:t>
            </a:r>
            <a:r>
              <a:rPr lang="tr-TR" dirty="0" err="1">
                <a:latin typeface="Segoe UI" panose="020B0502040204020203" pitchFamily="34" charset="0"/>
              </a:rPr>
              <a:t>moderasyon</a:t>
            </a:r>
            <a:r>
              <a:rPr lang="tr-TR" dirty="0">
                <a:latin typeface="Segoe UI" panose="020B0502040204020203" pitchFamily="34" charset="0"/>
              </a:rPr>
              <a:t> analizleri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Makine </a:t>
            </a:r>
            <a:r>
              <a:rPr lang="tr-TR" dirty="0" err="1">
                <a:latin typeface="Segoe UI" panose="020B0502040204020203" pitchFamily="34" charset="0"/>
              </a:rPr>
              <a:t>ogrenmesi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siniflandirma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4. POSTMORTEM </a:t>
            </a:r>
            <a:r>
              <a:rPr lang="tr-TR" dirty="0" err="1">
                <a:latin typeface="Segoe UI" panose="020B0502040204020203" pitchFamily="34" charset="0"/>
              </a:rPr>
              <a:t>VALIDASYON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Beyin dokusu analizi (n=108)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PMI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duzeltme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algoritmasi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gelistirme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Adli uygulama potansiyeli </a:t>
            </a:r>
            <a:r>
              <a:rPr lang="tr-TR" dirty="0" err="1">
                <a:latin typeface="Segoe UI" panose="020B0502040204020203" pitchFamily="34" charset="0"/>
              </a:rPr>
              <a:t>gosterimi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5. ACIK KAYNAK </a:t>
            </a:r>
            <a:r>
              <a:rPr lang="tr-TR" dirty="0" err="1">
                <a:latin typeface="Segoe UI" panose="020B0502040204020203" pitchFamily="34" charset="0"/>
              </a:rPr>
              <a:t>PIPELINE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GitHub'da</a:t>
            </a:r>
            <a:r>
              <a:rPr lang="tr-TR" dirty="0">
                <a:latin typeface="Segoe UI" panose="020B0502040204020203" pitchFamily="34" charset="0"/>
              </a:rPr>
              <a:t> kod </a:t>
            </a:r>
            <a:r>
              <a:rPr lang="tr-TR" dirty="0" err="1">
                <a:latin typeface="Segoe UI" panose="020B0502040204020203" pitchFamily="34" charset="0"/>
              </a:rPr>
              <a:t>paylaşimi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Tekrarlanabilirlik ve </a:t>
            </a:r>
            <a:r>
              <a:rPr lang="tr-TR" dirty="0" err="1">
                <a:latin typeface="Segoe UI" panose="020B0502040204020203" pitchFamily="34" charset="0"/>
              </a:rPr>
              <a:t>seffaflik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8809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Çalışmanin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Limitasyonlari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9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1. </a:t>
            </a:r>
            <a:r>
              <a:rPr lang="tr-TR" dirty="0" err="1">
                <a:latin typeface="Segoe UI" panose="020B0502040204020203" pitchFamily="34" charset="0"/>
              </a:rPr>
              <a:t>KESITSEL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DIZAYN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Nedensellik </a:t>
            </a:r>
            <a:r>
              <a:rPr lang="tr-TR" dirty="0" err="1">
                <a:latin typeface="Segoe UI" panose="020B0502040204020203" pitchFamily="34" charset="0"/>
              </a:rPr>
              <a:t>cikarimi</a:t>
            </a:r>
            <a:r>
              <a:rPr lang="tr-TR" dirty="0">
                <a:latin typeface="Segoe UI" panose="020B0502040204020203" pitchFamily="34" charset="0"/>
              </a:rPr>
              <a:t> sinirli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madde </a:t>
            </a:r>
            <a:r>
              <a:rPr lang="tr-TR" dirty="0" err="1">
                <a:latin typeface="Segoe UI" panose="020B0502040204020203" pitchFamily="34" charset="0"/>
              </a:rPr>
              <a:t>kullanimdan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once</a:t>
            </a:r>
            <a:r>
              <a:rPr lang="tr-TR" dirty="0">
                <a:latin typeface="Segoe UI" panose="020B0502040204020203" pitchFamily="34" charset="0"/>
              </a:rPr>
              <a:t> mi, </a:t>
            </a:r>
            <a:r>
              <a:rPr lang="tr-TR" dirty="0" err="1">
                <a:latin typeface="Segoe UI" panose="020B0502040204020203" pitchFamily="34" charset="0"/>
              </a:rPr>
              <a:t>sonuc</a:t>
            </a:r>
            <a:r>
              <a:rPr lang="tr-TR" dirty="0">
                <a:latin typeface="Segoe UI" panose="020B0502040204020203" pitchFamily="34" charset="0"/>
              </a:rPr>
              <a:t> mu belirsiz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Çözüm: Gelecek </a:t>
            </a:r>
            <a:r>
              <a:rPr lang="tr-TR" dirty="0" err="1">
                <a:latin typeface="Segoe UI" panose="020B0502040204020203" pitchFamily="34" charset="0"/>
              </a:rPr>
              <a:t>longitudinal</a:t>
            </a:r>
            <a:r>
              <a:rPr lang="tr-TR" dirty="0">
                <a:latin typeface="Segoe UI" panose="020B0502040204020203" pitchFamily="34" charset="0"/>
              </a:rPr>
              <a:t> kohort </a:t>
            </a:r>
            <a:r>
              <a:rPr lang="tr-TR" dirty="0" err="1">
                <a:latin typeface="Segoe UI" panose="020B0502040204020203" pitchFamily="34" charset="0"/>
              </a:rPr>
              <a:t>calismalari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2. </a:t>
            </a:r>
            <a:r>
              <a:rPr lang="tr-TR" dirty="0" err="1">
                <a:latin typeface="Segoe UI" panose="020B0502040204020203" pitchFamily="34" charset="0"/>
              </a:rPr>
              <a:t>VERI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HETEROJENITESI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Farkli</a:t>
            </a:r>
            <a:r>
              <a:rPr lang="tr-TR" dirty="0">
                <a:latin typeface="Segoe UI" panose="020B0502040204020203" pitchFamily="34" charset="0"/>
              </a:rPr>
              <a:t> platformlar (</a:t>
            </a:r>
            <a:r>
              <a:rPr lang="tr-TR" dirty="0" err="1">
                <a:latin typeface="Segoe UI" panose="020B0502040204020203" pitchFamily="34" charset="0"/>
              </a:rPr>
              <a:t>450K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vs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EPIC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Farkli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preprocessing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yontemleri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Çözüm: </a:t>
            </a:r>
            <a:r>
              <a:rPr lang="tr-TR" dirty="0" err="1">
                <a:latin typeface="Segoe UI" panose="020B0502040204020203" pitchFamily="34" charset="0"/>
              </a:rPr>
              <a:t>ComBat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duzeltmesi</a:t>
            </a:r>
            <a:r>
              <a:rPr lang="tr-TR" dirty="0">
                <a:latin typeface="Segoe UI" panose="020B0502040204020203" pitchFamily="34" charset="0"/>
              </a:rPr>
              <a:t>, ortak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seti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3. </a:t>
            </a:r>
            <a:r>
              <a:rPr lang="tr-TR" dirty="0" err="1">
                <a:latin typeface="Segoe UI" panose="020B0502040204020203" pitchFamily="34" charset="0"/>
              </a:rPr>
              <a:t>EKSIK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FENOTIP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BILGISI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Bazi</a:t>
            </a:r>
            <a:r>
              <a:rPr lang="tr-TR" dirty="0">
                <a:latin typeface="Segoe UI" panose="020B0502040204020203" pitchFamily="34" charset="0"/>
              </a:rPr>
              <a:t> veri setlerinde </a:t>
            </a:r>
            <a:r>
              <a:rPr lang="tr-TR" dirty="0" err="1">
                <a:latin typeface="Segoe UI" panose="020B0502040204020203" pitchFamily="34" charset="0"/>
              </a:rPr>
              <a:t>detayli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kullanim</a:t>
            </a:r>
            <a:r>
              <a:rPr lang="tr-TR" dirty="0">
                <a:latin typeface="Segoe UI" panose="020B0502040204020203" pitchFamily="34" charset="0"/>
              </a:rPr>
              <a:t> bilgisi yok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Doz-</a:t>
            </a:r>
            <a:r>
              <a:rPr lang="tr-TR" dirty="0" err="1">
                <a:latin typeface="Segoe UI" panose="020B0502040204020203" pitchFamily="34" charset="0"/>
              </a:rPr>
              <a:t>yanit</a:t>
            </a:r>
            <a:r>
              <a:rPr lang="tr-TR" dirty="0">
                <a:latin typeface="Segoe UI" panose="020B0502040204020203" pitchFamily="34" charset="0"/>
              </a:rPr>
              <a:t> analizleri sinirli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4. SINIRLI </a:t>
            </a:r>
            <a:r>
              <a:rPr lang="tr-TR" dirty="0" err="1">
                <a:latin typeface="Segoe UI" panose="020B0502040204020203" pitchFamily="34" charset="0"/>
              </a:rPr>
              <a:t>ETNIK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CESITLILIK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Örneklerin %</a:t>
            </a:r>
            <a:r>
              <a:rPr lang="tr-TR" dirty="0" err="1">
                <a:latin typeface="Segoe UI" panose="020B0502040204020203" pitchFamily="34" charset="0"/>
              </a:rPr>
              <a:t>78'i</a:t>
            </a:r>
            <a:r>
              <a:rPr lang="tr-TR" dirty="0">
                <a:latin typeface="Segoe UI" panose="020B0502040204020203" pitchFamily="34" charset="0"/>
              </a:rPr>
              <a:t> Avrupa </a:t>
            </a:r>
            <a:r>
              <a:rPr lang="tr-TR" dirty="0" err="1">
                <a:latin typeface="Segoe UI" panose="020B0502040204020203" pitchFamily="34" charset="0"/>
              </a:rPr>
              <a:t>kokeni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Diger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populasyonlarda</a:t>
            </a:r>
            <a:r>
              <a:rPr lang="tr-TR" dirty="0">
                <a:latin typeface="Segoe UI" panose="020B0502040204020203" pitchFamily="34" charset="0"/>
              </a:rPr>
              <a:t> kalibrasyon gerekli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5. </a:t>
            </a:r>
            <a:r>
              <a:rPr lang="tr-TR" dirty="0" err="1">
                <a:latin typeface="Segoe UI" panose="020B0502040204020203" pitchFamily="34" charset="0"/>
              </a:rPr>
              <a:t>KUCUK</a:t>
            </a:r>
            <a:r>
              <a:rPr lang="tr-TR" dirty="0">
                <a:latin typeface="Segoe UI" panose="020B0502040204020203" pitchFamily="34" charset="0"/>
              </a:rPr>
              <a:t> POSTMORTEM ALT </a:t>
            </a:r>
            <a:r>
              <a:rPr lang="tr-TR" dirty="0" err="1">
                <a:latin typeface="Segoe UI" panose="020B0502040204020203" pitchFamily="34" charset="0"/>
              </a:rPr>
              <a:t>KUMESI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n=108 beyin dokusu </a:t>
            </a:r>
            <a:r>
              <a:rPr lang="tr-TR" dirty="0" err="1">
                <a:latin typeface="Segoe UI" panose="020B0502040204020203" pitchFamily="34" charset="0"/>
              </a:rPr>
              <a:t>ornegi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Doku-spesifik bulgular dikkatle </a:t>
            </a:r>
            <a:r>
              <a:rPr lang="tr-TR" dirty="0" err="1">
                <a:latin typeface="Segoe UI" panose="020B0502040204020203" pitchFamily="34" charset="0"/>
              </a:rPr>
              <a:t>yorumlanmali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1104" y="143256"/>
            <a:ext cx="703750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Şu an Devam Ettiğim Kodlamalar ve </a:t>
            </a:r>
            <a:r>
              <a:rPr lang="tr-TR" dirty="0" err="1">
                <a:latin typeface="Segoe UI" panose="020B0502040204020203" pitchFamily="34" charset="0"/>
              </a:rPr>
              <a:t>Yonelimleri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1. Maddeye ÖZGÜ EPİGENETİK SAATLER: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Mevcut saatler genel </a:t>
            </a:r>
            <a:r>
              <a:rPr lang="tr-TR" dirty="0" err="1">
                <a:latin typeface="Segoe UI" panose="020B0502040204020203" pitchFamily="34" charset="0"/>
              </a:rPr>
              <a:t>populasyon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optimize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Madde </a:t>
            </a:r>
            <a:r>
              <a:rPr lang="tr-TR" dirty="0" err="1">
                <a:latin typeface="Segoe UI" panose="020B0502040204020203" pitchFamily="34" charset="0"/>
              </a:rPr>
              <a:t>kullanicilarinda</a:t>
            </a:r>
            <a:r>
              <a:rPr lang="tr-TR" dirty="0">
                <a:latin typeface="Segoe UI" panose="020B0502040204020203" pitchFamily="34" charset="0"/>
              </a:rPr>
              <a:t> daha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dogruluk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yeni saat </a:t>
            </a:r>
            <a:r>
              <a:rPr lang="tr-TR" dirty="0" err="1">
                <a:latin typeface="Segoe UI" panose="020B0502040204020203" pitchFamily="34" charset="0"/>
              </a:rPr>
              <a:t>gelistirme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2. </a:t>
            </a:r>
            <a:r>
              <a:rPr lang="tr-TR" dirty="0" err="1">
                <a:latin typeface="Segoe UI" panose="020B0502040204020203" pitchFamily="34" charset="0"/>
              </a:rPr>
              <a:t>MULTI-OMICS</a:t>
            </a:r>
            <a:r>
              <a:rPr lang="tr-TR" dirty="0">
                <a:latin typeface="Segoe UI" panose="020B0502040204020203" pitchFamily="34" charset="0"/>
              </a:rPr>
              <a:t> ENTEGRASYONU: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DNA metilasyon + </a:t>
            </a:r>
            <a:r>
              <a:rPr lang="tr-TR" dirty="0" err="1">
                <a:latin typeface="Segoe UI" panose="020B0502040204020203" pitchFamily="34" charset="0"/>
              </a:rPr>
              <a:t>Transkriptomiks</a:t>
            </a:r>
            <a:r>
              <a:rPr lang="tr-TR" dirty="0">
                <a:latin typeface="Segoe UI" panose="020B0502040204020203" pitchFamily="34" charset="0"/>
              </a:rPr>
              <a:t> + </a:t>
            </a:r>
            <a:r>
              <a:rPr lang="tr-TR" dirty="0" err="1">
                <a:latin typeface="Segoe UI" panose="020B0502040204020203" pitchFamily="34" charset="0"/>
              </a:rPr>
              <a:t>Proteomiks</a:t>
            </a:r>
            <a:r>
              <a:rPr lang="tr-TR" dirty="0">
                <a:latin typeface="Segoe UI" panose="020B0502040204020203" pitchFamily="34" charset="0"/>
              </a:rPr>
              <a:t> + </a:t>
            </a:r>
            <a:r>
              <a:rPr lang="tr-TR" dirty="0" err="1">
                <a:latin typeface="Segoe UI" panose="020B0502040204020203" pitchFamily="34" charset="0"/>
              </a:rPr>
              <a:t>Metabolomiks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Mekanistik </a:t>
            </a:r>
            <a:r>
              <a:rPr lang="tr-TR" dirty="0" err="1">
                <a:latin typeface="Segoe UI" panose="020B0502040204020203" pitchFamily="34" charset="0"/>
              </a:rPr>
              <a:t>anlayisi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derinlestirme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3. </a:t>
            </a:r>
            <a:r>
              <a:rPr lang="tr-TR" dirty="0" err="1">
                <a:latin typeface="Segoe UI" panose="020B0502040204020203" pitchFamily="34" charset="0"/>
              </a:rPr>
              <a:t>DEEP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LEARNING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MODELLERI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CNN ve </a:t>
            </a:r>
            <a:r>
              <a:rPr lang="tr-TR" dirty="0" err="1">
                <a:latin typeface="Segoe UI" panose="020B0502040204020203" pitchFamily="34" charset="0"/>
              </a:rPr>
              <a:t>Transformer</a:t>
            </a:r>
            <a:r>
              <a:rPr lang="tr-TR" dirty="0">
                <a:latin typeface="Segoe UI" panose="020B0502040204020203" pitchFamily="34" charset="0"/>
              </a:rPr>
              <a:t> modelleri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Non</a:t>
            </a:r>
            <a:r>
              <a:rPr lang="tr-TR" dirty="0">
                <a:latin typeface="Segoe UI" panose="020B0502040204020203" pitchFamily="34" charset="0"/>
              </a:rPr>
              <a:t>-lineer </a:t>
            </a:r>
            <a:r>
              <a:rPr lang="tr-TR" dirty="0" err="1">
                <a:latin typeface="Segoe UI" panose="020B0502040204020203" pitchFamily="34" charset="0"/>
              </a:rPr>
              <a:t>iliskileri</a:t>
            </a:r>
            <a:r>
              <a:rPr lang="tr-TR" dirty="0">
                <a:latin typeface="Segoe UI" panose="020B0502040204020203" pitchFamily="34" charset="0"/>
              </a:rPr>
              <a:t> yakalama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Performans </a:t>
            </a:r>
            <a:r>
              <a:rPr lang="tr-TR" dirty="0" err="1">
                <a:latin typeface="Segoe UI" panose="020B0502040204020203" pitchFamily="34" charset="0"/>
              </a:rPr>
              <a:t>artisi</a:t>
            </a:r>
            <a:r>
              <a:rPr lang="tr-TR" dirty="0">
                <a:latin typeface="Segoe UI" panose="020B0502040204020203" pitchFamily="34" charset="0"/>
              </a:rPr>
              <a:t> potansiyeli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4. KLİNİK Uygulama ÇALIŞMALARI: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Randomize </a:t>
            </a:r>
            <a:r>
              <a:rPr lang="tr-TR" dirty="0" err="1">
                <a:latin typeface="Segoe UI" panose="020B0502040204020203" pitchFamily="34" charset="0"/>
              </a:rPr>
              <a:t>kontrollu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calismalar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RCT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Epigenetik yas izlemenin klinik </a:t>
            </a:r>
            <a:r>
              <a:rPr lang="tr-TR" dirty="0" err="1">
                <a:latin typeface="Segoe UI" panose="020B0502040204020203" pitchFamily="34" charset="0"/>
              </a:rPr>
              <a:t>faydasi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5. </a:t>
            </a:r>
            <a:r>
              <a:rPr lang="tr-TR" dirty="0" err="1">
                <a:latin typeface="Segoe UI" panose="020B0502040204020203" pitchFamily="34" charset="0"/>
              </a:rPr>
              <a:t>TERAPOTIK</a:t>
            </a:r>
            <a:r>
              <a:rPr lang="tr-TR" dirty="0">
                <a:latin typeface="Segoe UI" panose="020B0502040204020203" pitchFamily="34" charset="0"/>
              </a:rPr>
              <a:t> HEDEFLEME: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CRISPR-dCas9-DNMT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TET</a:t>
            </a:r>
            <a:r>
              <a:rPr lang="tr-TR" dirty="0">
                <a:latin typeface="Segoe UI" panose="020B0502040204020203" pitchFamily="34" charset="0"/>
              </a:rPr>
              <a:t> epigenetik </a:t>
            </a:r>
            <a:r>
              <a:rPr lang="tr-TR" dirty="0" err="1">
                <a:latin typeface="Segoe UI" panose="020B0502040204020203" pitchFamily="34" charset="0"/>
              </a:rPr>
              <a:t>editorleme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Epigenetik </a:t>
            </a:r>
            <a:r>
              <a:rPr lang="tr-TR" dirty="0" err="1">
                <a:latin typeface="Segoe UI" panose="020B0502040204020203" pitchFamily="34" charset="0"/>
              </a:rPr>
              <a:t>ilaclar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DNMT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inhibitorleri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HDAC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inhibitorleri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22540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Klinik Uygulamalar: Pratik Öneriler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1. </a:t>
            </a:r>
            <a:r>
              <a:rPr lang="tr-TR" dirty="0" err="1">
                <a:latin typeface="Segoe UI" panose="020B0502040204020203" pitchFamily="34" charset="0"/>
              </a:rPr>
              <a:t>RISK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STRATIFIKASYONU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(&gt;5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): </a:t>
            </a:r>
            <a:r>
              <a:rPr lang="tr-TR" dirty="0" err="1">
                <a:latin typeface="Segoe UI" panose="020B0502040204020203" pitchFamily="34" charset="0"/>
              </a:rPr>
              <a:t>Yogunlastirilmis</a:t>
            </a:r>
            <a:r>
              <a:rPr lang="tr-TR" dirty="0">
                <a:latin typeface="Segoe UI" panose="020B0502040204020203" pitchFamily="34" charset="0"/>
              </a:rPr>
              <a:t> tedavi ve </a:t>
            </a:r>
            <a:r>
              <a:rPr lang="tr-TR" dirty="0" err="1">
                <a:latin typeface="Segoe UI" panose="020B0502040204020203" pitchFamily="34" charset="0"/>
              </a:rPr>
              <a:t>yakin</a:t>
            </a:r>
            <a:r>
              <a:rPr lang="tr-TR" dirty="0">
                <a:latin typeface="Segoe UI" panose="020B0502040204020203" pitchFamily="34" charset="0"/>
              </a:rPr>
              <a:t> takip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Kardiyovaskuler</a:t>
            </a:r>
            <a:r>
              <a:rPr lang="tr-TR" dirty="0">
                <a:latin typeface="Segoe UI" panose="020B0502040204020203" pitchFamily="34" charset="0"/>
              </a:rPr>
              <a:t>, kanser, erken mortalite riski </a:t>
            </a:r>
            <a:r>
              <a:rPr lang="tr-TR" dirty="0" err="1">
                <a:latin typeface="Segoe UI" panose="020B0502040204020203" pitchFamily="34" charset="0"/>
              </a:rPr>
              <a:t>artmis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2. </a:t>
            </a:r>
            <a:r>
              <a:rPr lang="tr-TR" dirty="0" err="1">
                <a:latin typeface="Segoe UI" panose="020B0502040204020203" pitchFamily="34" charset="0"/>
              </a:rPr>
              <a:t>TEDAVI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IZLEME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Longitudinal</a:t>
            </a:r>
            <a:r>
              <a:rPr lang="tr-TR" dirty="0">
                <a:latin typeface="Segoe UI" panose="020B0502040204020203" pitchFamily="34" charset="0"/>
              </a:rPr>
              <a:t> epigenetik yas </a:t>
            </a:r>
            <a:r>
              <a:rPr lang="tr-TR" dirty="0" err="1">
                <a:latin typeface="Segoe UI" panose="020B0502040204020203" pitchFamily="34" charset="0"/>
              </a:rPr>
              <a:t>olcumleri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azalmasi</a:t>
            </a:r>
            <a:r>
              <a:rPr lang="tr-TR" dirty="0">
                <a:latin typeface="Segoe UI" panose="020B0502040204020203" pitchFamily="34" charset="0"/>
              </a:rPr>
              <a:t> = Tedavi </a:t>
            </a:r>
            <a:r>
              <a:rPr lang="tr-TR" dirty="0" err="1">
                <a:latin typeface="Segoe UI" panose="020B0502040204020203" pitchFamily="34" charset="0"/>
              </a:rPr>
              <a:t>yaniti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gostergesi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Objektif </a:t>
            </a:r>
            <a:r>
              <a:rPr lang="tr-TR" dirty="0" err="1">
                <a:latin typeface="Segoe UI" panose="020B0502040204020203" pitchFamily="34" charset="0"/>
              </a:rPr>
              <a:t>biyomarker</a:t>
            </a:r>
            <a:r>
              <a:rPr lang="tr-TR" dirty="0">
                <a:latin typeface="Segoe UI" panose="020B0502040204020203" pitchFamily="34" charset="0"/>
              </a:rPr>
              <a:t> olarak </a:t>
            </a:r>
            <a:r>
              <a:rPr lang="tr-TR" dirty="0" err="1">
                <a:latin typeface="Segoe UI" panose="020B0502040204020203" pitchFamily="34" charset="0"/>
              </a:rPr>
              <a:t>kullanim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3. </a:t>
            </a:r>
            <a:r>
              <a:rPr lang="tr-TR" dirty="0" err="1">
                <a:latin typeface="Segoe UI" panose="020B0502040204020203" pitchFamily="34" charset="0"/>
              </a:rPr>
              <a:t>KISISELLESTIRILMIS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MUDAHALE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insulin direnci: Metformin, diyet </a:t>
            </a:r>
            <a:r>
              <a:rPr lang="tr-TR" dirty="0" err="1">
                <a:latin typeface="Segoe UI" panose="020B0502040204020203" pitchFamily="34" charset="0"/>
              </a:rPr>
              <a:t>mudahalesi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inflamasyon: Anti-inflamatuar stratejiler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Zayif</a:t>
            </a:r>
            <a:r>
              <a:rPr lang="tr-TR" dirty="0">
                <a:latin typeface="Segoe UI" panose="020B0502040204020203" pitchFamily="34" charset="0"/>
              </a:rPr>
              <a:t> duygu </a:t>
            </a:r>
            <a:r>
              <a:rPr lang="tr-TR" dirty="0" err="1">
                <a:latin typeface="Segoe UI" panose="020B0502040204020203" pitchFamily="34" charset="0"/>
              </a:rPr>
              <a:t>duzenleme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DBT</a:t>
            </a:r>
            <a:r>
              <a:rPr lang="tr-TR" dirty="0">
                <a:latin typeface="Segoe UI" panose="020B0502040204020203" pitchFamily="34" charset="0"/>
              </a:rPr>
              <a:t> terapi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Dusuk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oz</a:t>
            </a:r>
            <a:r>
              <a:rPr lang="tr-TR" dirty="0">
                <a:latin typeface="Segoe UI" panose="020B0502040204020203" pitchFamily="34" charset="0"/>
              </a:rPr>
              <a:t>-kontrol: </a:t>
            </a:r>
            <a:r>
              <a:rPr lang="tr-TR" dirty="0" err="1">
                <a:latin typeface="Segoe UI" panose="020B0502040204020203" pitchFamily="34" charset="0"/>
              </a:rPr>
              <a:t>CBT</a:t>
            </a:r>
            <a:r>
              <a:rPr lang="tr-TR" dirty="0">
                <a:latin typeface="Segoe UI" panose="020B0502040204020203" pitchFamily="34" charset="0"/>
              </a:rPr>
              <a:t> terapi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4. YAŞAM TARZI </a:t>
            </a:r>
            <a:r>
              <a:rPr lang="tr-TR" dirty="0" err="1">
                <a:latin typeface="Segoe UI" panose="020B0502040204020203" pitchFamily="34" charset="0"/>
              </a:rPr>
              <a:t>MUDAHALESRI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Kombine </a:t>
            </a:r>
            <a:r>
              <a:rPr lang="tr-TR" dirty="0" err="1">
                <a:latin typeface="Segoe UI" panose="020B0502040204020203" pitchFamily="34" charset="0"/>
              </a:rPr>
              <a:t>mudahale</a:t>
            </a:r>
            <a:r>
              <a:rPr lang="tr-TR" dirty="0">
                <a:latin typeface="Segoe UI" panose="020B0502040204020203" pitchFamily="34" charset="0"/>
              </a:rPr>
              <a:t> (diyet + egzersiz + stres </a:t>
            </a:r>
            <a:r>
              <a:rPr lang="tr-TR" dirty="0" err="1">
                <a:latin typeface="Segoe UI" panose="020B0502040204020203" pitchFamily="34" charset="0"/>
              </a:rPr>
              <a:t>yonetimi</a:t>
            </a:r>
            <a:r>
              <a:rPr lang="tr-TR" dirty="0">
                <a:latin typeface="Segoe UI" panose="020B0502040204020203" pitchFamily="34" charset="0"/>
              </a:rPr>
              <a:t>): -4.6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Madde </a:t>
            </a:r>
            <a:r>
              <a:rPr lang="tr-TR" dirty="0" err="1">
                <a:latin typeface="Segoe UI" panose="020B0502040204020203" pitchFamily="34" charset="0"/>
              </a:rPr>
              <a:t>birakma</a:t>
            </a:r>
            <a:r>
              <a:rPr lang="tr-TR" dirty="0">
                <a:latin typeface="Segoe UI" panose="020B0502040204020203" pitchFamily="34" charset="0"/>
              </a:rPr>
              <a:t> (5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): -3.2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   - </a:t>
            </a:r>
            <a:r>
              <a:rPr lang="tr-TR" dirty="0" err="1">
                <a:latin typeface="Segoe UI" panose="020B0502040204020203" pitchFamily="34" charset="0"/>
              </a:rPr>
              <a:t>Duzenli</a:t>
            </a:r>
            <a:r>
              <a:rPr lang="tr-TR" dirty="0">
                <a:latin typeface="Segoe UI" panose="020B0502040204020203" pitchFamily="34" charset="0"/>
              </a:rPr>
              <a:t> egzersiz (≥</a:t>
            </a:r>
            <a:r>
              <a:rPr lang="tr-TR" dirty="0" err="1">
                <a:latin typeface="Segoe UI" panose="020B0502040204020203" pitchFamily="34" charset="0"/>
              </a:rPr>
              <a:t>3x</a:t>
            </a:r>
            <a:r>
              <a:rPr lang="tr-TR" dirty="0">
                <a:latin typeface="Segoe UI" panose="020B0502040204020203" pitchFamily="34" charset="0"/>
              </a:rPr>
              <a:t>/hafta): %43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azalmasi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634372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Adli Sonuçlar: Öneriler ve Dikkat </a:t>
            </a:r>
            <a:r>
              <a:rPr lang="tr-TR" dirty="0" err="1">
                <a:latin typeface="Segoe UI" panose="020B0502040204020203" pitchFamily="34" charset="0"/>
              </a:rPr>
              <a:t>Noktalari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EPİGENETİK KANIT KULLANIMI: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Destekleyici </a:t>
            </a:r>
            <a:r>
              <a:rPr lang="tr-TR" dirty="0" err="1">
                <a:latin typeface="Segoe UI" panose="020B0502040204020203" pitchFamily="34" charset="0"/>
              </a:rPr>
              <a:t>kanit</a:t>
            </a:r>
            <a:r>
              <a:rPr lang="tr-TR" dirty="0">
                <a:latin typeface="Segoe UI" panose="020B0502040204020203" pitchFamily="34" charset="0"/>
              </a:rPr>
              <a:t> olarak </a:t>
            </a:r>
            <a:r>
              <a:rPr lang="tr-TR" dirty="0" err="1">
                <a:latin typeface="Segoe UI" panose="020B0502040204020203" pitchFamily="34" charset="0"/>
              </a:rPr>
              <a:t>kullanilmali</a:t>
            </a:r>
            <a:r>
              <a:rPr lang="tr-TR" dirty="0">
                <a:latin typeface="Segoe UI" panose="020B0502040204020203" pitchFamily="34" charset="0"/>
              </a:rPr>
              <a:t> (tek </a:t>
            </a:r>
            <a:r>
              <a:rPr lang="tr-TR" dirty="0" err="1">
                <a:latin typeface="Segoe UI" panose="020B0502040204020203" pitchFamily="34" charset="0"/>
              </a:rPr>
              <a:t>basina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degil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Geleneksel toksikoloji ile birlikte </a:t>
            </a:r>
            <a:r>
              <a:rPr lang="tr-TR" dirty="0" err="1">
                <a:latin typeface="Segoe UI" panose="020B0502040204020203" pitchFamily="34" charset="0"/>
              </a:rPr>
              <a:t>degerlendirilmeli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Kronolojik maruziyet boyutu ekler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METODOLOJIK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GEREKSINIMLER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Doku kalitesi: pH &gt; 6.0 </a:t>
            </a:r>
            <a:r>
              <a:rPr lang="tr-TR" dirty="0" err="1">
                <a:latin typeface="Segoe UI" panose="020B0502040204020203" pitchFamily="34" charset="0"/>
              </a:rPr>
              <a:t>esigi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PMI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duzeltme</a:t>
            </a:r>
            <a:r>
              <a:rPr lang="tr-TR" dirty="0">
                <a:latin typeface="Segoe UI" panose="020B0502040204020203" pitchFamily="34" charset="0"/>
              </a:rPr>
              <a:t>: Zorunlu postmortem analiz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Kalite kontrol metrikleri </a:t>
            </a:r>
            <a:r>
              <a:rPr lang="tr-TR" dirty="0" err="1">
                <a:latin typeface="Segoe UI" panose="020B0502040204020203" pitchFamily="34" charset="0"/>
              </a:rPr>
              <a:t>raporlanmali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BELIRSIZLIK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IFADESI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MAE</a:t>
            </a:r>
            <a:r>
              <a:rPr lang="tr-TR" dirty="0">
                <a:latin typeface="Segoe UI" panose="020B0502040204020203" pitchFamily="34" charset="0"/>
              </a:rPr>
              <a:t> = 3.8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PMI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duzeltilmis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Guven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araliklari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raporlanmali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Analiz sınırlamaları belirtilmeli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STANDARDIZASYON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GEREKSINIMI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Uluslararasi</a:t>
            </a:r>
            <a:r>
              <a:rPr lang="tr-TR" dirty="0">
                <a:latin typeface="Segoe UI" panose="020B0502040204020203" pitchFamily="34" charset="0"/>
              </a:rPr>
              <a:t> protokoller </a:t>
            </a:r>
            <a:r>
              <a:rPr lang="tr-TR" dirty="0" err="1">
                <a:latin typeface="Segoe UI" panose="020B0502040204020203" pitchFamily="34" charset="0"/>
              </a:rPr>
              <a:t>gelistirilmeli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Laboratuvar akreditasyonu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Referans </a:t>
            </a:r>
            <a:r>
              <a:rPr lang="tr-TR" dirty="0" err="1">
                <a:latin typeface="Segoe UI" panose="020B0502040204020203" pitchFamily="34" charset="0"/>
              </a:rPr>
              <a:t>veritabanlari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olusturulmali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21762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Halk </a:t>
            </a:r>
            <a:r>
              <a:rPr lang="tr-TR" dirty="0" err="1">
                <a:latin typeface="Segoe UI" panose="020B0502040204020203" pitchFamily="34" charset="0"/>
              </a:rPr>
              <a:t>Sagligi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Implikasyonlari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BAĞIMLILIK </a:t>
            </a:r>
            <a:r>
              <a:rPr lang="tr-TR" dirty="0" err="1">
                <a:latin typeface="Segoe UI" panose="020B0502040204020203" pitchFamily="34" charset="0"/>
              </a:rPr>
              <a:t>YUKUMLULUGU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- 296 milyon </a:t>
            </a:r>
            <a:r>
              <a:rPr lang="tr-TR" dirty="0" err="1">
                <a:latin typeface="Segoe UI" panose="020B0502040204020203" pitchFamily="34" charset="0"/>
              </a:rPr>
              <a:t>illicit</a:t>
            </a:r>
            <a:r>
              <a:rPr lang="tr-TR" dirty="0">
                <a:latin typeface="Segoe UI" panose="020B0502040204020203" pitchFamily="34" charset="0"/>
              </a:rPr>
              <a:t> madde </a:t>
            </a:r>
            <a:r>
              <a:rPr lang="tr-TR" dirty="0" err="1">
                <a:latin typeface="Segoe UI" panose="020B0502040204020203" pitchFamily="34" charset="0"/>
              </a:rPr>
              <a:t>kullanicisi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UNODC</a:t>
            </a:r>
            <a:r>
              <a:rPr lang="tr-TR" dirty="0">
                <a:latin typeface="Segoe UI" panose="020B0502040204020203" pitchFamily="34" charset="0"/>
              </a:rPr>
              <a:t>, 2021)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- 3 milyon alkol-</a:t>
            </a:r>
            <a:r>
              <a:rPr lang="tr-TR" dirty="0" err="1">
                <a:latin typeface="Segoe UI" panose="020B0502040204020203" pitchFamily="34" charset="0"/>
              </a:rPr>
              <a:t>iliskili</a:t>
            </a:r>
            <a:r>
              <a:rPr lang="tr-TR" dirty="0">
                <a:latin typeface="Segoe UI" panose="020B0502040204020203" pitchFamily="34" charset="0"/>
              </a:rPr>
              <a:t> olum/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(WHO, 2018)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Epigenetik yaş ivmelenmesi: Ek </a:t>
            </a:r>
            <a:r>
              <a:rPr lang="tr-TR" dirty="0" err="1">
                <a:latin typeface="Segoe UI" panose="020B0502040204020203" pitchFamily="34" charset="0"/>
              </a:rPr>
              <a:t>saglik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yukumlulugu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ONLEME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STRATEJILERI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Eğitim seviyesi </a:t>
            </a:r>
            <a:r>
              <a:rPr lang="tr-TR" dirty="0" err="1">
                <a:latin typeface="Segoe UI" panose="020B0502040204020203" pitchFamily="34" charset="0"/>
              </a:rPr>
              <a:t>artisi</a:t>
            </a:r>
            <a:r>
              <a:rPr lang="tr-TR" dirty="0">
                <a:latin typeface="Segoe UI" panose="020B0502040204020203" pitchFamily="34" charset="0"/>
              </a:rPr>
              <a:t>: -1.3 </a:t>
            </a:r>
            <a:r>
              <a:rPr lang="tr-TR" dirty="0" err="1">
                <a:latin typeface="Segoe UI" panose="020B0502040204020203" pitchFamily="34" charset="0"/>
              </a:rPr>
              <a:t>yil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/seviye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Duzenli</a:t>
            </a:r>
            <a:r>
              <a:rPr lang="tr-TR" dirty="0">
                <a:latin typeface="Segoe UI" panose="020B0502040204020203" pitchFamily="34" charset="0"/>
              </a:rPr>
              <a:t> egzersiz: %43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azalmasi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Erken </a:t>
            </a:r>
            <a:r>
              <a:rPr lang="tr-TR" dirty="0" err="1">
                <a:latin typeface="Segoe UI" panose="020B0502040204020203" pitchFamily="34" charset="0"/>
              </a:rPr>
              <a:t>mudahale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Genc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baslangic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yasi</a:t>
            </a:r>
            <a:r>
              <a:rPr lang="tr-TR" dirty="0">
                <a:latin typeface="Segoe UI" panose="020B0502040204020203" pitchFamily="34" charset="0"/>
              </a:rPr>
              <a:t> (&gt;50 yas) daha </a:t>
            </a:r>
            <a:r>
              <a:rPr lang="tr-TR" dirty="0" err="1">
                <a:latin typeface="Segoe UI" panose="020B0502040204020203" pitchFamily="34" charset="0"/>
              </a:rPr>
              <a:t>yuksek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EAA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TEDAVI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OPTIMIZASYONU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Entegre </a:t>
            </a:r>
            <a:r>
              <a:rPr lang="tr-TR" dirty="0" err="1">
                <a:latin typeface="Segoe UI" panose="020B0502040204020203" pitchFamily="34" charset="0"/>
              </a:rPr>
              <a:t>yaklasim</a:t>
            </a:r>
            <a:r>
              <a:rPr lang="tr-TR" dirty="0">
                <a:latin typeface="Segoe UI" panose="020B0502040204020203" pitchFamily="34" charset="0"/>
              </a:rPr>
              <a:t>: Farmakolojik + psikolojik + yasam </a:t>
            </a:r>
            <a:r>
              <a:rPr lang="tr-TR" dirty="0" err="1">
                <a:latin typeface="Segoe UI" panose="020B0502040204020203" pitchFamily="34" charset="0"/>
              </a:rPr>
              <a:t>tarzi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Kisisellestirilmis</a:t>
            </a:r>
            <a:r>
              <a:rPr lang="tr-TR" dirty="0">
                <a:latin typeface="Segoe UI" panose="020B0502040204020203" pitchFamily="34" charset="0"/>
              </a:rPr>
              <a:t> tedavi: </a:t>
            </a:r>
            <a:r>
              <a:rPr lang="tr-TR" dirty="0" err="1">
                <a:latin typeface="Segoe UI" panose="020B0502040204020203" pitchFamily="34" charset="0"/>
              </a:rPr>
              <a:t>Mediyator</a:t>
            </a:r>
            <a:r>
              <a:rPr lang="tr-TR" dirty="0">
                <a:latin typeface="Segoe UI" panose="020B0502040204020203" pitchFamily="34" charset="0"/>
              </a:rPr>
              <a:t> ve </a:t>
            </a:r>
            <a:r>
              <a:rPr lang="tr-TR" dirty="0" err="1">
                <a:latin typeface="Segoe UI" panose="020B0502040204020203" pitchFamily="34" charset="0"/>
              </a:rPr>
              <a:t>moderator</a:t>
            </a:r>
            <a:r>
              <a:rPr lang="tr-TR" dirty="0">
                <a:latin typeface="Segoe UI" panose="020B0502040204020203" pitchFamily="34" charset="0"/>
              </a:rPr>
              <a:t> profilleme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Uzun vadeli takip: Tersine </a:t>
            </a:r>
            <a:r>
              <a:rPr lang="tr-TR" dirty="0" err="1">
                <a:latin typeface="Segoe UI" panose="020B0502040204020203" pitchFamily="34" charset="0"/>
              </a:rPr>
              <a:t>cevrilebilirlik</a:t>
            </a:r>
            <a:r>
              <a:rPr lang="tr-TR" dirty="0">
                <a:latin typeface="Segoe UI" panose="020B0502040204020203" pitchFamily="34" charset="0"/>
              </a:rPr>
              <a:t> izleme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POLITIKA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ÖNERİLERI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Bağımlılık tedavisinde yasam </a:t>
            </a:r>
            <a:r>
              <a:rPr lang="tr-TR" dirty="0" err="1">
                <a:latin typeface="Segoe UI" panose="020B0502040204020203" pitchFamily="34" charset="0"/>
              </a:rPr>
              <a:t>tarzi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mudahalelerinin</a:t>
            </a:r>
            <a:r>
              <a:rPr lang="tr-TR" dirty="0">
                <a:latin typeface="Segoe UI" panose="020B0502040204020203" pitchFamily="34" charset="0"/>
              </a:rPr>
              <a:t> entegrasyonu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Psikolojik </a:t>
            </a:r>
            <a:r>
              <a:rPr lang="tr-TR" dirty="0" err="1">
                <a:latin typeface="Segoe UI" panose="020B0502040204020203" pitchFamily="34" charset="0"/>
              </a:rPr>
              <a:t>dayaniklilik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programlarina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yatirim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Epigenetik izleme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arastirma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finansmani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61164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Etik Hususlar ve Sorumluluklar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GIZLILIK</a:t>
            </a:r>
            <a:r>
              <a:rPr lang="tr-TR" dirty="0">
                <a:latin typeface="Segoe UI" panose="020B0502040204020203" pitchFamily="34" charset="0"/>
              </a:rPr>
              <a:t> VE </a:t>
            </a:r>
            <a:r>
              <a:rPr lang="tr-TR" dirty="0" err="1">
                <a:latin typeface="Segoe UI" panose="020B0502040204020203" pitchFamily="34" charset="0"/>
              </a:rPr>
              <a:t>VERI</a:t>
            </a:r>
            <a:r>
              <a:rPr lang="tr-TR" dirty="0">
                <a:latin typeface="Segoe UI" panose="020B0502040204020203" pitchFamily="34" charset="0"/>
              </a:rPr>
              <a:t> KORUMASI: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DNA verisi son derece hassas </a:t>
            </a:r>
            <a:r>
              <a:rPr lang="tr-TR" dirty="0" err="1">
                <a:latin typeface="Segoe UI" panose="020B0502040204020203" pitchFamily="34" charset="0"/>
              </a:rPr>
              <a:t>kisisel</a:t>
            </a:r>
            <a:r>
              <a:rPr lang="tr-TR" dirty="0">
                <a:latin typeface="Segoe UI" panose="020B0502040204020203" pitchFamily="34" charset="0"/>
              </a:rPr>
              <a:t> bilgi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GDPR</a:t>
            </a:r>
            <a:r>
              <a:rPr lang="tr-TR" dirty="0">
                <a:latin typeface="Segoe UI" panose="020B0502040204020203" pitchFamily="34" charset="0"/>
              </a:rPr>
              <a:t>/HIPAA uyumluluk </a:t>
            </a:r>
            <a:r>
              <a:rPr lang="tr-TR" dirty="0" err="1">
                <a:latin typeface="Segoe UI" panose="020B0502040204020203" pitchFamily="34" charset="0"/>
              </a:rPr>
              <a:t>zorunlulugu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Anonimizasyon</a:t>
            </a:r>
            <a:r>
              <a:rPr lang="tr-TR" dirty="0">
                <a:latin typeface="Segoe UI" panose="020B0502040204020203" pitchFamily="34" charset="0"/>
              </a:rPr>
              <a:t> ve </a:t>
            </a:r>
            <a:r>
              <a:rPr lang="tr-TR" dirty="0" err="1">
                <a:latin typeface="Segoe UI" panose="020B0502040204020203" pitchFamily="34" charset="0"/>
              </a:rPr>
              <a:t>guvennli</a:t>
            </a:r>
            <a:r>
              <a:rPr lang="tr-TR" dirty="0">
                <a:latin typeface="Segoe UI" panose="020B0502040204020203" pitchFamily="34" charset="0"/>
              </a:rPr>
              <a:t> depolama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AYRIMCILIK </a:t>
            </a:r>
            <a:r>
              <a:rPr lang="tr-TR" dirty="0" err="1">
                <a:latin typeface="Segoe UI" panose="020B0502040204020203" pitchFamily="34" charset="0"/>
              </a:rPr>
              <a:t>RISKI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Sigorta, istihdam </a:t>
            </a:r>
            <a:r>
              <a:rPr lang="tr-TR" dirty="0" err="1">
                <a:latin typeface="Segoe UI" panose="020B0502040204020203" pitchFamily="34" charset="0"/>
              </a:rPr>
              <a:t>kararlarinda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kullanim</a:t>
            </a:r>
            <a:r>
              <a:rPr lang="tr-TR" dirty="0">
                <a:latin typeface="Segoe UI" panose="020B0502040204020203" pitchFamily="34" charset="0"/>
              </a:rPr>
              <a:t> potansiyeli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Genetik </a:t>
            </a:r>
            <a:r>
              <a:rPr lang="tr-TR" dirty="0" err="1">
                <a:latin typeface="Segoe UI" panose="020B0502040204020203" pitchFamily="34" charset="0"/>
              </a:rPr>
              <a:t>ayrimcilik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yasalarinin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genisletilmesi</a:t>
            </a:r>
            <a:r>
              <a:rPr lang="tr-TR" dirty="0">
                <a:latin typeface="Segoe UI" panose="020B0502040204020203" pitchFamily="34" charset="0"/>
              </a:rPr>
              <a:t> gerekebilir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BILGILENDIRILMIS</a:t>
            </a:r>
            <a:r>
              <a:rPr lang="tr-TR" dirty="0">
                <a:latin typeface="Segoe UI" panose="020B0502040204020203" pitchFamily="34" charset="0"/>
              </a:rPr>
              <a:t> ONAM: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Epigenetik test </a:t>
            </a:r>
            <a:r>
              <a:rPr lang="tr-TR" dirty="0" err="1">
                <a:latin typeface="Segoe UI" panose="020B0502040204020203" pitchFamily="34" charset="0"/>
              </a:rPr>
              <a:t>sonuclarinin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anlaminin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aciklanmasi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Belirsizlik ve </a:t>
            </a:r>
            <a:r>
              <a:rPr lang="tr-TR" dirty="0" err="1">
                <a:latin typeface="Segoe UI" panose="020B0502040204020203" pitchFamily="34" charset="0"/>
              </a:rPr>
              <a:t>limitasyonlarin</a:t>
            </a:r>
            <a:r>
              <a:rPr lang="tr-TR" dirty="0">
                <a:latin typeface="Segoe UI" panose="020B0502040204020203" pitchFamily="34" charset="0"/>
              </a:rPr>
              <a:t> ifadesi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Geri </a:t>
            </a:r>
            <a:r>
              <a:rPr lang="tr-TR" dirty="0" err="1">
                <a:latin typeface="Segoe UI" panose="020B0502040204020203" pitchFamily="34" charset="0"/>
              </a:rPr>
              <a:t>donus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haklari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ADIL </a:t>
            </a:r>
            <a:r>
              <a:rPr lang="tr-TR" dirty="0" err="1">
                <a:latin typeface="Segoe UI" panose="020B0502040204020203" pitchFamily="34" charset="0"/>
              </a:rPr>
              <a:t>ERISIM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Teknolojinin </a:t>
            </a:r>
            <a:r>
              <a:rPr lang="tr-TR" dirty="0" err="1">
                <a:latin typeface="Segoe UI" panose="020B0502040204020203" pitchFamily="34" charset="0"/>
              </a:rPr>
              <a:t>tum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populasyonlara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erisilebilirligi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Etnik/sosyoekonomik </a:t>
            </a:r>
            <a:r>
              <a:rPr lang="tr-TR" dirty="0" err="1">
                <a:latin typeface="Segoe UI" panose="020B0502040204020203" pitchFamily="34" charset="0"/>
              </a:rPr>
              <a:t>esitsizliklerin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onlenmesi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SORUMLULUK: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Araştırmacilar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Sonuçlarin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dogru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yorumlanmasi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Klinisyenler: Uygun klinik </a:t>
            </a:r>
            <a:r>
              <a:rPr lang="tr-TR" dirty="0" err="1">
                <a:latin typeface="Segoe UI" panose="020B0502040204020203" pitchFamily="34" charset="0"/>
              </a:rPr>
              <a:t>baglam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Politikacilar</a:t>
            </a:r>
            <a:r>
              <a:rPr lang="tr-TR" dirty="0">
                <a:latin typeface="Segoe UI" panose="020B0502040204020203" pitchFamily="34" charset="0"/>
              </a:rPr>
              <a:t>: Etik </a:t>
            </a:r>
            <a:r>
              <a:rPr lang="tr-TR" dirty="0" err="1">
                <a:latin typeface="Segoe UI" panose="020B0502040204020203" pitchFamily="34" charset="0"/>
              </a:rPr>
              <a:t>cerceve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olusturma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6471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Sonuç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184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Bu </a:t>
            </a:r>
            <a:r>
              <a:rPr lang="tr-TR" dirty="0" err="1">
                <a:latin typeface="Segoe UI" panose="020B0502040204020203" pitchFamily="34" charset="0"/>
              </a:rPr>
              <a:t>calisma</a:t>
            </a:r>
            <a:r>
              <a:rPr lang="tr-TR" dirty="0">
                <a:latin typeface="Segoe UI" panose="020B0502040204020203" pitchFamily="34" charset="0"/>
              </a:rPr>
              <a:t>, 10,542 DNA metilasyon profili </a:t>
            </a:r>
            <a:r>
              <a:rPr lang="tr-TR" dirty="0" err="1">
                <a:latin typeface="Segoe UI" panose="020B0502040204020203" pitchFamily="34" charset="0"/>
              </a:rPr>
              <a:t>uzerinde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gerceklestirilen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kapsamli</a:t>
            </a:r>
            <a:r>
              <a:rPr lang="tr-TR" dirty="0">
                <a:latin typeface="Segoe UI" panose="020B0502040204020203" pitchFamily="34" charset="0"/>
              </a:rPr>
              <a:t> analizlerle, madde </a:t>
            </a:r>
            <a:r>
              <a:rPr lang="tr-TR" dirty="0" err="1">
                <a:latin typeface="Segoe UI" panose="020B0502040204020203" pitchFamily="34" charset="0"/>
              </a:rPr>
              <a:t>kullanim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bozukluklarinin</a:t>
            </a:r>
            <a:r>
              <a:rPr lang="tr-TR" dirty="0">
                <a:latin typeface="Segoe UI" panose="020B0502040204020203" pitchFamily="34" charset="0"/>
              </a:rPr>
              <a:t> epigenetik yaslanma </a:t>
            </a:r>
            <a:r>
              <a:rPr lang="tr-TR" dirty="0" err="1">
                <a:latin typeface="Segoe UI" panose="020B0502040204020203" pitchFamily="34" charset="0"/>
              </a:rPr>
              <a:t>uzerindeki</a:t>
            </a:r>
            <a:r>
              <a:rPr lang="tr-TR" dirty="0">
                <a:latin typeface="Segoe UI" panose="020B0502040204020203" pitchFamily="34" charset="0"/>
              </a:rPr>
              <a:t> etkilerini sistematik olarak karakterize </a:t>
            </a:r>
            <a:r>
              <a:rPr lang="tr-TR" dirty="0" err="1">
                <a:latin typeface="Segoe UI" panose="020B0502040204020203" pitchFamily="34" charset="0"/>
              </a:rPr>
              <a:t>etmistir</a:t>
            </a:r>
            <a:r>
              <a:rPr lang="tr-TR" dirty="0">
                <a:latin typeface="Segoe UI" panose="020B0502040204020203" pitchFamily="34" charset="0"/>
              </a:rPr>
              <a:t>.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TEMEL BULGULAR: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Tum</a:t>
            </a:r>
            <a:r>
              <a:rPr lang="tr-TR" dirty="0">
                <a:latin typeface="Segoe UI" panose="020B0502040204020203" pitchFamily="34" charset="0"/>
              </a:rPr>
              <a:t> madde kategorileri </a:t>
            </a:r>
            <a:r>
              <a:rPr lang="tr-TR" dirty="0" err="1">
                <a:latin typeface="Segoe UI" panose="020B0502040204020203" pitchFamily="34" charset="0"/>
              </a:rPr>
              <a:t>anlamli</a:t>
            </a:r>
            <a:r>
              <a:rPr lang="tr-TR" dirty="0">
                <a:latin typeface="Segoe UI" panose="020B0502040204020203" pitchFamily="34" charset="0"/>
              </a:rPr>
              <a:t> epigenetik yas ivmelenmesi </a:t>
            </a:r>
            <a:r>
              <a:rPr lang="tr-TR" dirty="0" err="1">
                <a:latin typeface="Segoe UI" panose="020B0502040204020203" pitchFamily="34" charset="0"/>
              </a:rPr>
              <a:t>gosterir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- 1,847 maddeye  </a:t>
            </a:r>
            <a:r>
              <a:rPr lang="tr-TR" dirty="0" err="1">
                <a:latin typeface="Segoe UI" panose="020B0502040204020203" pitchFamily="34" charset="0"/>
              </a:rPr>
              <a:t>ozgu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CpG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imzasi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tanimlandi</a:t>
            </a:r>
            <a:r>
              <a:rPr lang="tr-TR" dirty="0">
                <a:latin typeface="Segoe UI" panose="020B0502040204020203" pitchFamily="34" charset="0"/>
              </a:rPr>
              <a:t> (%87.3 </a:t>
            </a:r>
            <a:r>
              <a:rPr lang="tr-TR" dirty="0" err="1">
                <a:latin typeface="Segoe UI" panose="020B0502040204020203" pitchFamily="34" charset="0"/>
              </a:rPr>
              <a:t>dogruluk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Fizyolojik </a:t>
            </a:r>
            <a:r>
              <a:rPr lang="tr-TR" dirty="0" err="1">
                <a:latin typeface="Segoe UI" panose="020B0502040204020203" pitchFamily="34" charset="0"/>
              </a:rPr>
              <a:t>mediyatorler</a:t>
            </a:r>
            <a:r>
              <a:rPr lang="tr-TR" dirty="0">
                <a:latin typeface="Segoe UI" panose="020B0502040204020203" pitchFamily="34" charset="0"/>
              </a:rPr>
              <a:t> toplam etkinin %</a:t>
            </a:r>
            <a:r>
              <a:rPr lang="tr-TR" dirty="0" err="1">
                <a:latin typeface="Segoe UI" panose="020B0502040204020203" pitchFamily="34" charset="0"/>
              </a:rPr>
              <a:t>61'ini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aciklar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Psikolojik </a:t>
            </a:r>
            <a:r>
              <a:rPr lang="tr-TR" dirty="0" err="1">
                <a:latin typeface="Segoe UI" panose="020B0502040204020203" pitchFamily="34" charset="0"/>
              </a:rPr>
              <a:t>dayaniklilik</a:t>
            </a:r>
            <a:r>
              <a:rPr lang="tr-TR" dirty="0">
                <a:latin typeface="Segoe UI" panose="020B0502040204020203" pitchFamily="34" charset="0"/>
              </a:rPr>
              <a:t> etkileri %50-70 </a:t>
            </a:r>
            <a:r>
              <a:rPr lang="tr-TR" dirty="0" err="1">
                <a:latin typeface="Segoe UI" panose="020B0502040204020203" pitchFamily="34" charset="0"/>
              </a:rPr>
              <a:t>azaltir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Postmortem validasyon adli </a:t>
            </a:r>
            <a:r>
              <a:rPr lang="tr-TR" dirty="0" err="1">
                <a:latin typeface="Segoe UI" panose="020B0502040204020203" pitchFamily="34" charset="0"/>
              </a:rPr>
              <a:t>uygulanabilirligi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gosterir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KLİNİK </a:t>
            </a:r>
            <a:r>
              <a:rPr lang="tr-TR" dirty="0" err="1">
                <a:latin typeface="Segoe UI" panose="020B0502040204020203" pitchFamily="34" charset="0"/>
              </a:rPr>
              <a:t>DEGER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Risk </a:t>
            </a:r>
            <a:r>
              <a:rPr lang="tr-TR" dirty="0" err="1">
                <a:latin typeface="Segoe UI" panose="020B0502040204020203" pitchFamily="34" charset="0"/>
              </a:rPr>
              <a:t>stratifikasyonu</a:t>
            </a:r>
            <a:r>
              <a:rPr lang="tr-TR" dirty="0">
                <a:latin typeface="Segoe UI" panose="020B0502040204020203" pitchFamily="34" charset="0"/>
              </a:rPr>
              <a:t> ve tedavi izleme </a:t>
            </a:r>
            <a:r>
              <a:rPr lang="tr-TR" dirty="0" err="1">
                <a:latin typeface="Segoe UI" panose="020B0502040204020203" pitchFamily="34" charset="0"/>
              </a:rPr>
              <a:t>araci</a:t>
            </a:r>
            <a:r>
              <a:rPr lang="tr-TR" dirty="0">
                <a:latin typeface="Segoe UI" panose="020B0502040204020203" pitchFamily="34" charset="0"/>
              </a:rPr>
              <a:t> olarak potansiyel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Kisisellestirilmis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mudahale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yaklasimlarina</a:t>
            </a:r>
            <a:r>
              <a:rPr lang="tr-TR" dirty="0">
                <a:latin typeface="Segoe UI" panose="020B0502040204020203" pitchFamily="34" charset="0"/>
              </a:rPr>
              <a:t> temel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Tersine </a:t>
            </a:r>
            <a:r>
              <a:rPr lang="tr-TR" dirty="0" err="1">
                <a:latin typeface="Segoe UI" panose="020B0502040204020203" pitchFamily="34" charset="0"/>
              </a:rPr>
              <a:t>cevrilebilirlik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kanitlari</a:t>
            </a:r>
            <a:r>
              <a:rPr lang="tr-TR" dirty="0">
                <a:latin typeface="Segoe UI" panose="020B0502040204020203" pitchFamily="34" charset="0"/>
              </a:rPr>
              <a:t> tedavi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umut verici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GELECEK: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Epigenetik plastisite, </a:t>
            </a:r>
            <a:r>
              <a:rPr lang="tr-TR" dirty="0" err="1">
                <a:latin typeface="Segoe UI" panose="020B0502040204020203" pitchFamily="34" charset="0"/>
              </a:rPr>
              <a:t>bagimlilik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yonetiminde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kisisellestirilmis</a:t>
            </a:r>
            <a:r>
              <a:rPr lang="tr-TR" dirty="0">
                <a:latin typeface="Segoe UI" panose="020B0502040204020203" pitchFamily="34" charset="0"/>
              </a:rPr>
              <a:t>, epigenetik-</a:t>
            </a:r>
            <a:r>
              <a:rPr lang="tr-TR" dirty="0" err="1">
                <a:latin typeface="Segoe UI" panose="020B0502040204020203" pitchFamily="34" charset="0"/>
              </a:rPr>
              <a:t>bilgilendirilmis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yaklasimlarin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gelismesini</a:t>
            </a:r>
            <a:r>
              <a:rPr lang="tr-TR" dirty="0">
                <a:latin typeface="Segoe UI" panose="020B0502040204020203" pitchFamily="34" charset="0"/>
              </a:rPr>
              <a:t> desteklemektedir.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3856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Tesekkur</a:t>
            </a:r>
            <a:r>
              <a:rPr lang="tr-TR" dirty="0">
                <a:latin typeface="Segoe UI" panose="020B0502040204020203" pitchFamily="34" charset="0"/>
              </a:rPr>
              <a:t> ve Kaynaklar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9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VERI</a:t>
            </a:r>
            <a:r>
              <a:rPr lang="tr-TR" dirty="0">
                <a:latin typeface="Segoe UI" panose="020B0502040204020203" pitchFamily="34" charset="0"/>
              </a:rPr>
              <a:t> KAYNAKLARI: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- 15 </a:t>
            </a:r>
            <a:r>
              <a:rPr lang="tr-TR" dirty="0" err="1">
                <a:latin typeface="Segoe UI" panose="020B0502040204020203" pitchFamily="34" charset="0"/>
              </a:rPr>
              <a:t>bagimsiz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arastirma</a:t>
            </a:r>
            <a:r>
              <a:rPr lang="tr-TR" dirty="0">
                <a:latin typeface="Segoe UI" panose="020B0502040204020203" pitchFamily="34" charset="0"/>
              </a:rPr>
              <a:t> grubu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Gene </a:t>
            </a:r>
            <a:r>
              <a:rPr lang="tr-TR" dirty="0" err="1">
                <a:latin typeface="Segoe UI" panose="020B0502040204020203" pitchFamily="34" charset="0"/>
              </a:rPr>
              <a:t>Expression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Omnibus</a:t>
            </a:r>
            <a:r>
              <a:rPr lang="tr-TR" dirty="0">
                <a:latin typeface="Segoe UI" panose="020B0502040204020203" pitchFamily="34" charset="0"/>
              </a:rPr>
              <a:t> (</a:t>
            </a:r>
            <a:r>
              <a:rPr lang="tr-TR" dirty="0" err="1">
                <a:latin typeface="Segoe UI" panose="020B0502040204020203" pitchFamily="34" charset="0"/>
              </a:rPr>
              <a:t>GEO</a:t>
            </a:r>
            <a:r>
              <a:rPr lang="tr-TR" dirty="0">
                <a:latin typeface="Segoe UI" panose="020B0502040204020203" pitchFamily="34" charset="0"/>
              </a:rPr>
              <a:t>)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ArrayExpress</a:t>
            </a:r>
            <a:r>
              <a:rPr lang="tr-TR" dirty="0">
                <a:latin typeface="Segoe UI" panose="020B0502040204020203" pitchFamily="34" charset="0"/>
              </a:rPr>
              <a:t>, </a:t>
            </a:r>
            <a:r>
              <a:rPr lang="tr-TR" dirty="0" err="1">
                <a:latin typeface="Segoe UI" panose="020B0502040204020203" pitchFamily="34" charset="0"/>
              </a:rPr>
              <a:t>EWAS</a:t>
            </a:r>
            <a:r>
              <a:rPr lang="tr-TR" dirty="0">
                <a:latin typeface="Segoe UI" panose="020B0502040204020203" pitchFamily="34" charset="0"/>
              </a:rPr>
              <a:t> Data </a:t>
            </a:r>
            <a:r>
              <a:rPr lang="tr-TR" dirty="0" err="1">
                <a:latin typeface="Segoe UI" panose="020B0502040204020203" pitchFamily="34" charset="0"/>
              </a:rPr>
              <a:t>Hub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ACIK </a:t>
            </a:r>
            <a:r>
              <a:rPr lang="tr-TR" dirty="0" err="1">
                <a:latin typeface="Segoe UI" panose="020B0502040204020203" pitchFamily="34" charset="0"/>
              </a:rPr>
              <a:t>BILIM</a:t>
            </a:r>
            <a:r>
              <a:rPr lang="tr-TR" dirty="0">
                <a:latin typeface="Segoe UI" panose="020B0502040204020203" pitchFamily="34" charset="0"/>
              </a:rPr>
              <a:t> TOPLULUĞU: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Bioconductor</a:t>
            </a:r>
            <a:r>
              <a:rPr lang="tr-TR" dirty="0">
                <a:latin typeface="Segoe UI" panose="020B0502040204020203" pitchFamily="34" charset="0"/>
              </a:rPr>
              <a:t> R paketleri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GitHub</a:t>
            </a:r>
            <a:r>
              <a:rPr lang="tr-TR" dirty="0">
                <a:latin typeface="Segoe UI" panose="020B0502040204020203" pitchFamily="34" charset="0"/>
              </a:rPr>
              <a:t> ekosistemi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Python/</a:t>
            </a:r>
            <a:r>
              <a:rPr lang="tr-TR" dirty="0" err="1">
                <a:latin typeface="Segoe UI" panose="020B0502040204020203" pitchFamily="34" charset="0"/>
              </a:rPr>
              <a:t>PyTorch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toplulugu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REFERANS </a:t>
            </a:r>
            <a:r>
              <a:rPr lang="tr-TR" dirty="0" err="1">
                <a:latin typeface="Segoe UI" panose="020B0502040204020203" pitchFamily="34" charset="0"/>
              </a:rPr>
              <a:t>METODOLOJILER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Horvath</a:t>
            </a:r>
            <a:r>
              <a:rPr lang="tr-TR" dirty="0">
                <a:latin typeface="Segoe UI" panose="020B0502040204020203" pitchFamily="34" charset="0"/>
              </a:rPr>
              <a:t> (2013): </a:t>
            </a:r>
            <a:r>
              <a:rPr lang="tr-TR" dirty="0" err="1">
                <a:latin typeface="Segoe UI" panose="020B0502040204020203" pitchFamily="34" charset="0"/>
              </a:rPr>
              <a:t>Pan-tissue</a:t>
            </a:r>
            <a:r>
              <a:rPr lang="tr-TR" dirty="0">
                <a:latin typeface="Segoe UI" panose="020B0502040204020203" pitchFamily="34" charset="0"/>
              </a:rPr>
              <a:t> epigenetik saat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Levine</a:t>
            </a:r>
            <a:r>
              <a:rPr lang="tr-TR" dirty="0">
                <a:latin typeface="Segoe UI" panose="020B0502040204020203" pitchFamily="34" charset="0"/>
              </a:rPr>
              <a:t> et al. (2018): </a:t>
            </a:r>
            <a:r>
              <a:rPr lang="tr-TR" dirty="0" err="1">
                <a:latin typeface="Segoe UI" panose="020B0502040204020203" pitchFamily="34" charset="0"/>
              </a:rPr>
              <a:t>PhenoAge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Lu et al. (2019): </a:t>
            </a:r>
            <a:r>
              <a:rPr lang="tr-TR" dirty="0" err="1">
                <a:latin typeface="Segoe UI" panose="020B0502040204020203" pitchFamily="34" charset="0"/>
              </a:rPr>
              <a:t>GrimAge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- </a:t>
            </a:r>
            <a:r>
              <a:rPr lang="tr-TR" dirty="0" err="1">
                <a:latin typeface="Segoe UI" panose="020B0502040204020203" pitchFamily="34" charset="0"/>
              </a:rPr>
              <a:t>Belsky</a:t>
            </a:r>
            <a:r>
              <a:rPr lang="tr-TR" dirty="0">
                <a:latin typeface="Segoe UI" panose="020B0502040204020203" pitchFamily="34" charset="0"/>
              </a:rPr>
              <a:t> et al. (2022): </a:t>
            </a:r>
            <a:r>
              <a:rPr lang="tr-TR" dirty="0" err="1">
                <a:latin typeface="Segoe UI" panose="020B0502040204020203" pitchFamily="34" charset="0"/>
              </a:rPr>
              <a:t>DunedinPACE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KOD </a:t>
            </a:r>
            <a:r>
              <a:rPr lang="tr-TR" dirty="0" err="1">
                <a:latin typeface="Segoe UI" panose="020B0502040204020203" pitchFamily="34" charset="0"/>
              </a:rPr>
              <a:t>ERISIMI</a:t>
            </a:r>
            <a:r>
              <a:rPr lang="tr-TR" dirty="0">
                <a:latin typeface="Segoe UI" panose="020B0502040204020203" pitchFamily="34" charset="0"/>
              </a:rPr>
              <a:t>: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github.com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mortemdulcem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epi</a:t>
            </a:r>
            <a:r>
              <a:rPr lang="tr-TR" dirty="0">
                <a:latin typeface="Segoe UI" panose="020B0502040204020203" pitchFamily="34" charset="0"/>
              </a:rPr>
              <a:t>-</a:t>
            </a:r>
            <a:r>
              <a:rPr lang="tr-TR" dirty="0" err="1">
                <a:latin typeface="Segoe UI" panose="020B0502040204020203" pitchFamily="34" charset="0"/>
              </a:rPr>
              <a:t>clock</a:t>
            </a:r>
            <a:r>
              <a:rPr lang="tr-TR" dirty="0">
                <a:latin typeface="Segoe UI" panose="020B0502040204020203" pitchFamily="34" charset="0"/>
              </a:rPr>
              <a:t>-DNA-</a:t>
            </a:r>
            <a:r>
              <a:rPr lang="tr-TR" dirty="0" err="1">
                <a:latin typeface="Segoe UI" panose="020B0502040204020203" pitchFamily="34" charset="0"/>
              </a:rPr>
              <a:t>mtl</a:t>
            </a:r>
            <a:r>
              <a:rPr lang="tr-TR" dirty="0">
                <a:latin typeface="Segoe UI" panose="020B0502040204020203" pitchFamily="34" charset="0"/>
              </a:rPr>
              <a:t>-</a:t>
            </a:r>
            <a:r>
              <a:rPr lang="tr-TR" dirty="0" err="1">
                <a:latin typeface="Segoe UI" panose="020B0502040204020203" pitchFamily="34" charset="0"/>
              </a:rPr>
              <a:t>prototype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>
                <a:latin typeface="Segoe UI" panose="020B0502040204020203" pitchFamily="34" charset="0"/>
              </a:rPr>
              <a:t>FONLAMA: Bu </a:t>
            </a:r>
            <a:r>
              <a:rPr lang="tr-TR" dirty="0" err="1">
                <a:latin typeface="Segoe UI" panose="020B0502040204020203" pitchFamily="34" charset="0"/>
              </a:rPr>
              <a:t>calisma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icin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ozel</a:t>
            </a:r>
            <a:r>
              <a:rPr lang="tr-TR" dirty="0">
                <a:latin typeface="Segoe UI" panose="020B0502040204020203" pitchFamily="34" charset="0"/>
              </a:rPr>
              <a:t> fon </a:t>
            </a:r>
            <a:r>
              <a:rPr lang="tr-TR" dirty="0" err="1">
                <a:latin typeface="Segoe UI" panose="020B0502040204020203" pitchFamily="34" charset="0"/>
              </a:rPr>
              <a:t>alinmamistir</a:t>
            </a:r>
            <a:r>
              <a:rPr lang="tr-TR" dirty="0">
                <a:latin typeface="Segoe UI" panose="020B0502040204020203" pitchFamily="34" charset="0"/>
              </a:rPr>
              <a:t>.</a:t>
            </a:r>
            <a:endParaRPr lang="tr-TR" dirty="0">
              <a:latin typeface="Segoe UI" panose="020B0502040204020203" pitchFamily="34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CIKAR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CATISMASI</a:t>
            </a:r>
            <a:r>
              <a:rPr lang="tr-TR" dirty="0">
                <a:latin typeface="Segoe UI" panose="020B0502040204020203" pitchFamily="34" charset="0"/>
              </a:rPr>
              <a:t>: Yazarlar herhangi bir </a:t>
            </a:r>
            <a:r>
              <a:rPr lang="tr-TR" dirty="0" err="1">
                <a:latin typeface="Segoe UI" panose="020B0502040204020203" pitchFamily="34" charset="0"/>
              </a:rPr>
              <a:t>cikar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catismasi</a:t>
            </a:r>
            <a:r>
              <a:rPr lang="tr-TR" dirty="0">
                <a:latin typeface="Segoe UI" panose="020B0502040204020203" pitchFamily="34" charset="0"/>
              </a:rPr>
              <a:t> bildirmemektedir.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80" y="2688336"/>
            <a:ext cx="9144000" cy="91440"/>
          </a:xfrm>
          <a:prstGeom prst="rect">
            <a:avLst/>
          </a:prstGeom>
          <a:solidFill>
            <a:srgbClr val="00A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TESEKKURLER</a:t>
            </a:r>
            <a:endParaRPr lang="tr-TR" dirty="0">
              <a:latin typeface="Segoe U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rPr lang="tr-TR" dirty="0" err="1">
                <a:latin typeface="Segoe UI" panose="020B0502040204020203" pitchFamily="34" charset="0"/>
              </a:rPr>
              <a:t>EpiClock</a:t>
            </a:r>
            <a:r>
              <a:rPr lang="tr-TR" dirty="0">
                <a:latin typeface="Segoe UI" panose="020B0502040204020203" pitchFamily="34" charset="0"/>
              </a:rPr>
              <a:t> </a:t>
            </a:r>
            <a:r>
              <a:rPr lang="tr-TR" dirty="0" err="1">
                <a:latin typeface="Segoe UI" panose="020B0502040204020203" pitchFamily="34" charset="0"/>
              </a:rPr>
              <a:t>v4.0</a:t>
            </a:r>
            <a:br>
              <a:rPr lang="tr-TR" dirty="0">
                <a:latin typeface="Segoe UI" panose="020B0502040204020203" pitchFamily="34" charset="0"/>
              </a:rPr>
            </a:br>
            <a:r>
              <a:rPr lang="tr-TR" dirty="0">
                <a:latin typeface="Segoe UI" panose="020B0502040204020203" pitchFamily="34" charset="0"/>
              </a:rPr>
              <a:t>DNA Metilasyon </a:t>
            </a:r>
            <a:r>
              <a:rPr lang="tr-TR" dirty="0" err="1">
                <a:latin typeface="Segoe UI" panose="020B0502040204020203" pitchFamily="34" charset="0"/>
              </a:rPr>
              <a:t>Tabanli</a:t>
            </a:r>
            <a:r>
              <a:rPr lang="tr-TR" dirty="0">
                <a:latin typeface="Segoe UI" panose="020B0502040204020203" pitchFamily="34" charset="0"/>
              </a:rPr>
              <a:t> Epigenetik Bağımlılık Analiz Platformu</a:t>
            </a:r>
            <a:br>
              <a:rPr lang="tr-TR" dirty="0">
                <a:latin typeface="Segoe UI" panose="020B0502040204020203" pitchFamily="34" charset="0"/>
              </a:rPr>
            </a:br>
            <a:r>
              <a:rPr lang="tr-TR" dirty="0" err="1">
                <a:latin typeface="Segoe UI" panose="020B0502040204020203" pitchFamily="34" charset="0"/>
              </a:rPr>
              <a:t>GitHub</a:t>
            </a:r>
            <a:r>
              <a:rPr lang="tr-TR" dirty="0">
                <a:latin typeface="Segoe UI" panose="020B0502040204020203" pitchFamily="34" charset="0"/>
              </a:rPr>
              <a:t>: </a:t>
            </a:r>
            <a:r>
              <a:rPr lang="tr-TR" dirty="0" err="1">
                <a:latin typeface="Segoe UI" panose="020B0502040204020203" pitchFamily="34" charset="0"/>
              </a:rPr>
              <a:t>github.com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mortemdulcem</a:t>
            </a:r>
            <a:r>
              <a:rPr lang="tr-TR" dirty="0">
                <a:latin typeface="Segoe UI" panose="020B0502040204020203" pitchFamily="34" charset="0"/>
              </a:rPr>
              <a:t>/</a:t>
            </a:r>
            <a:r>
              <a:rPr lang="tr-TR" dirty="0" err="1">
                <a:latin typeface="Segoe UI" panose="020B0502040204020203" pitchFamily="34" charset="0"/>
              </a:rPr>
              <a:t>epi</a:t>
            </a:r>
            <a:r>
              <a:rPr lang="tr-TR" dirty="0">
                <a:latin typeface="Segoe UI" panose="020B0502040204020203" pitchFamily="34" charset="0"/>
              </a:rPr>
              <a:t>-</a:t>
            </a:r>
            <a:r>
              <a:rPr lang="tr-TR" dirty="0" err="1">
                <a:latin typeface="Segoe UI" panose="020B0502040204020203" pitchFamily="34" charset="0"/>
              </a:rPr>
              <a:t>clock</a:t>
            </a:r>
            <a:r>
              <a:rPr lang="tr-TR" dirty="0">
                <a:latin typeface="Segoe UI" panose="020B0502040204020203" pitchFamily="34" charset="0"/>
              </a:rPr>
              <a:t>-DNA-</a:t>
            </a:r>
            <a:r>
              <a:rPr lang="tr-TR" dirty="0" err="1">
                <a:latin typeface="Segoe UI" panose="020B0502040204020203" pitchFamily="34" charset="0"/>
              </a:rPr>
              <a:t>mtl</a:t>
            </a:r>
            <a:r>
              <a:rPr lang="tr-TR" dirty="0">
                <a:latin typeface="Segoe UI" panose="020B0502040204020203" pitchFamily="34" charset="0"/>
              </a:rPr>
              <a:t>-</a:t>
            </a:r>
            <a:r>
              <a:rPr lang="tr-TR" dirty="0" err="1">
                <a:latin typeface="Segoe UI" panose="020B0502040204020203" pitchFamily="34" charset="0"/>
              </a:rPr>
              <a:t>prototype</a:t>
            </a:r>
            <a:endParaRPr lang="tr-TR" dirty="0"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50215</Words>
  <Application>WPS Sunum</Application>
  <PresentationFormat>Ekran Gösterisi (4:3)</PresentationFormat>
  <Paragraphs>4089</Paragraphs>
  <Slides>110</Slides>
  <Notes>110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110</vt:i4>
      </vt:variant>
    </vt:vector>
  </HeadingPairs>
  <TitlesOfParts>
    <vt:vector size="120" baseType="lpstr">
      <vt:lpstr>Arial</vt:lpstr>
      <vt:lpstr>SimSun</vt:lpstr>
      <vt:lpstr>Wingdings</vt:lpstr>
      <vt:lpstr>Arial</vt:lpstr>
      <vt:lpstr>Segoe UI</vt:lpstr>
      <vt:lpstr>Calibri</vt:lpstr>
      <vt:lpstr>Microsoft YaHei</vt:lpstr>
      <vt:lpstr>Arial Unicode MS</vt:lpstr>
      <vt:lpstr>Aptos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NURCAN</dc:creator>
  <dc:description>generated using python-pptx</dc:description>
  <cp:lastModifiedBy>Zeynep</cp:lastModifiedBy>
  <cp:revision>6</cp:revision>
  <dcterms:created xsi:type="dcterms:W3CDTF">2013-01-27T09:14:00Z</dcterms:created>
  <dcterms:modified xsi:type="dcterms:W3CDTF">2025-12-07T22:51:13Z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38A397FCD56A467F9FA64D46AAC58733_12</vt:lpwstr>
  </property>
  <property fmtid="{D5CDD505-2E9C-101B-9397-08002B2CF9AE}" pid="3" name="KSOProductBuildVer">
    <vt:lpwstr>1055-12.2.0.22549</vt:lpwstr>
  </property>
</Properties>
</file>