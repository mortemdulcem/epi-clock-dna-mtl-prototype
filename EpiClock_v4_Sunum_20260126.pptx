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EpiClock v4.0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7D8"/>
                </a:solidFill>
              </a:defRPr>
            </a:pPr>
            <a:r>
              <a:t>DNA Metilasyonu Tabanli Epigenetik Yas Analiz Platformu</a:t>
            </a:r>
            <a:br/>
            <a:r>
              <a:t>Bagimlilik Tespiti ve Adli Bilisim Uygulamalari</a:t>
            </a:r>
            <a:br/>
            <a:br/>
            <a:r>
              <a:t>Dr. Nurcan Denli Bayir (nrcdnl94)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PLATFORM GENEL BAKIS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EpiClock v4.0 - Misyon ve Vizyon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MISYON: DNA metilasyonu yoluyla bagimlilik maddelerinin biyolojik etkilerini tespit etmek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TEMEL YETENEKLER: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 Major Epigenetik Saat (Horvath, Hannum, PhenoAge, GrimAge, DunedinPACE)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- 12 Doku-Spesifik Saat + Capraz-Doku Normalizasyonu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Makine Ogrenmesi Ensemble Modeli (RF + XGBoost + ElasticNet)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Graph Neural Network (GNN) Molekul Analizi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- 55+ Farmakolojik Reseptor Hedefi (IUPHAR/DrugBank/ChEMBL)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UN/WHO/EMCDDA Regulatuvar Schedule Siniflandirmasi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Blockchain Audit Trail ve Adli Bilisim Modulleri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HEDEF KULLANICILAR: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Klinik Arastirmacilar ve Hekimler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Adli Tip Uzmanlari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Bagimlilik Tedavi Merkezleri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Regulatuvar Kurumlar (UNODC, WHO, EMCDDA)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Sistem Mimarisi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FRONTEND KATMANI: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Streamlit Web Uygulamasi (Port 5000)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UNODC Kurumsal Tema (#0050A0, #003366, #00A7D8)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Interaktif Plotly/Matplotlib Gorsellestirme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Rol Tabanli Kullanici Arayuzu (Klinisyen/Arastirmaci/Adli)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BACKEND KATMANI: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Python 3.11 + NumPy/Pandas/SciPy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PyTorch Graph Neural Network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RDKit Molekul Islemleri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Scikit-learn + XGBoost ML Pipeline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VERITABANI KATMANI: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PostgreSQL (Neon-backed)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CpG Marker Veritabani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Madde Panel Veritabani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Audit Log ve Blockchain Kayitlari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EPIGENETIK SAATLER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DNA Metilasyonu Teorisi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DNA METILASYONU NEDIR?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Sitozin bazina metil grubu (-CH3) eklenmesi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CpG dinukleotidlerinde yogunlasir (5'-CG-3')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Epigenetik gen regülasyonunun temel mekanizmasi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CPG ADALARI: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Promotor bolgelerde yogunlasan CpG zengin bolgeler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Genellikle metillenmemis (aktif transkripsiyon)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Hipermetilasyon = Gen susturulmesi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BIYOLOJIK YASLANMA: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CpG metilasyon paternleri yasla degisir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Belirli CpG siteleri yasla korelasyon gosterir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'Epigenetik saat' kavraminin temeli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OLCUM YONTEMLERI: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Illumina 450K/EPIC Array (485.000+ CpG)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Bisulfit Sekanslama (WGBS, RRBS)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Pyrosequencing (hedefli)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 Major Epigenetik Saat Karsilastirmasi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Saat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Yil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CpG Sayisi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Doku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Olcum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Pan-tissue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DNAm 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Horvath, 2013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Hannum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DNAm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Hannum et al., 2013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PhenoAge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Fenotipik Yas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Levine et al., 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Mortalite Riski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Lu et al., 2019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DunedinPACE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Yaslanma Hizi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Belsky et al., 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Horvath Saati (2013)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TEORIK TEMEL: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Ilk pan-tissue epigenetik saat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- 353 CpG sitesi ile kronolojik yas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ElasticNet regresyon modeli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MATEMATIKSEL FORMUL: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DNAm Age = anti.F(sum(w_i * beta_i) + intercept)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F = transformasyon fonksiyonu (adult/child ayirimi)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OZELLIKLER: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- 51 farkli doku/hucre tipinde gecerli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Median hata: 3.6 yil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Korelasyon: r = 0.96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KLINIK UYGULAMALAR: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Biyolojik yas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Yas hizlanmasi (Age Acceleration) hesabi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Kanser, obezite, HIV ile iliskili calismalar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PhenoAge ve GrimAge (2018-2019)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PHENOAGE (Levine, 2018):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- 513 CpG sitesi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Fenotipik biyomarkerlerle egitilmis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- 9 klinik olcum: albumin, kreatinin, glukoz, CRP, lenfosit...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Mortalite ve morbiditey daha iyi tahmin eder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GRIMAGE (Lu, 2019):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- 1030 CpG sitesi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DNAm-bazli plazma protein surrogatlari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Sigara paket-yili, PAI-1, GDF-15, ADM, B2M...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'En iyi mortalite tahmincisi'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DUNEDINPACE (Belsky, 2022):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- 173 CpG sitesi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Yaslanma HIZI olcumu (pace of aging)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Longitudinal Dunedin kohortu (45 yillik takip)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Deger yorumu: 1.0 = normal, &gt;1.0 = hizli yaslanma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BAGIMLILIK VE EPIGENETIK YAS HIZLANMASI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Madde Bagimliligi ve Epigenetik Etkiler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TEMEL MEKANIZMALAR: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Kronik madde kullanimi DNA metilasyon paternlerini degistirir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Reward pathway genlerinde (OPRM1, DRD2, DAT) metilasyon degisiklikleri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Stres yaniit genlerinde (NR3C1, FKBP5) epigenetik modifikasyonlar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EPIGENETIK YAS HIZLANMASI (EAA):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EAA = DNAm Age - Kronolojik Yas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Pozitif EAA = Biyolojik olarak 'daha yasli'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MADDE-SPESIFIK EAA DEGERLERI: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Metamfetamin: +4.2 yil (95% CI: 3.5-4.9)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Kokain: +3.1 yil (95% CI: 2.4-3.8)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Opioidler: +2.9 yil (95% CI: 2.5-3.4)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Alkol: +2.2 yil (95% CI: 1.8-2.6)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Kannabis: +0.8 yil (95% CI: 0.3-1.4)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KAYNAK: Rosen et al., 2018; Quach et al., 2017; Beach et al., 2015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Madde Sinifina Gore CpG Degisiklikleri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OPIOIDLER (OPRM1, OPRD1, OPRK1):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cg16419235 (OPRM1 promotor) - Hipometilasyon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cg23663830 (POMC) - Hipermetilasyon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Tolerans ve bagimlilik gelisimi ile iliskili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STIMULANLAR (DAT, DRD2, COMT):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cg06500161 (SLC6A3) - Metilasyon artisi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cg14976642 (DRD2) - Promotor hipermetilasyonu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Dopamin sinyal yolagi disregulasyonu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ALKOL (ADH, ALDH, GABRA):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cg21161138 (GABRA1) - Metilasyon degisimi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cg09935388 (ADH1B) - Polimorfizm-metilasyon etkilesimi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KANNABINOIDLER (CNR1, FAAH):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cg12654770 (CNR1) - Kronik kullanimda hipometilasyon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Endokannabinoid sistem disregulasyonu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MAKINE OGRENMESI MODELLERI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Ensemble ML Arsitekturisi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MODEL BILESENLERI: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1. Random Forest (n_estimators=500, max_depth=20)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2. XGBoost (learning_rate=0.05, max_depth=6)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3. ElasticNet (alpha=0.5, l1_ratio=0.5)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ENSEMBLE STRATEJISI: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Weighted Average (agirlikli ortalama)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RF: 0.35, XGBoost: 0.45, ElasticNet: 0.20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Optimum agirliklar CV ile belirlenmis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OZELLIK SETI: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- 10,542 CpG beta degeri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Demografik ozellikler (yas, cinsiyet, etnisite)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Klinik biyomarkerler (CRP, albumin, vb.)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PERFORMANS METRIKLERI: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RMSE: 2.8 yil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MAE: 2.1 yil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R-squared: 0.94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- 5-fold Cross-validation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GRAPH NEURAL NETWORK MOLEKUL ANALIZI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GNN Arsitekturisi - MPNN +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MODEL PARAMETRELERI: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- 4 Message Passing katmani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- 256 gizli boyut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Multi-head Attention (8 head)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~1.2 milyon parametre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ATOM OZELLIKLERI (146 boyut):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Atom numarasi (one-hot encoding)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Derece, formal yuk, hibridizasyon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Aromatiklik, halka uyeligi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Implicit hidrojenler, radikallik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BAG OZELLIKLERI (12 boyut):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Bag tipi (tek, cift, uc, aromatik)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Konjugasyon, halka icinde olma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Stereo konfigurasyonu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CIKIS KATMANLARI: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Bagimlilik potansiyeli + Belirsizlik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Toksisite siniflandirmasi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Metabolizma yukumlulugu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CYP inhibisyonu (1A2, 2C9, 2C19, 2D6, 3A4)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Molekuler Graf Gosterimi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SMILES -&gt; GRAF DONUSUMU: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RDKit ile molekul okuma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Her atom = bir dugum (node)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Her bag = bir kenar (edge)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Yonlu graf (directed graph)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MESSAGE PASSING MEKANIZMASI: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m_ij = MLP([h_i || h_j || e_ij])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h_i' = GRU(h_i, sum(m_ji))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GLOBAL HAVUZLAMA: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Attention-weighted sum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Max pooling + Mean pooling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Molekul seviyesi temsil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UNCERTAINTY QUANTIFICATION: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Monte Carlo Dropout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- 50 forward pass ile belirsizlik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Epistemic + Aleatoric ayirimi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GELISMIS OZELLIK MUHENDISLIGI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55+ Reseptor Hedefi - Kategoriler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Reseptorler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Bagimlilik Agirligi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MOR, DOR, KOR, NOP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%25-95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Dopaminerjik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DAT, D1, D2, D3, D4, 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%50-92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Serotonerjik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SERT, 5-HT1A/1B/2A/2C/3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%30-60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GABAerjik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GABA-A (alpha1-5, gamma2, delta), GABA-B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%45-75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Glutamaterjik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NMDA NR1/NR2B, AMPA, mGluR2/5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Kannabinoid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CB1, CB2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%25-55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Kolinerjik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nAChR (a4b2, a7, a3b4), mAChR (M1, M2)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%30-85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Adrenerjik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NET, Alpha2A, Beta1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%35-65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Stres/Neuropeptid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CRF1/2, OX1/2, NK1, NPY-Y1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%40-65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Sigma-1, Sigma-2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%35-50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Enzimler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MAO-A/B, COMT, FAAH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%40-45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Kimyasal Ozellik Ekstraksiyon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MORGAN/ECFP FINGERPRINTS: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- 2048-bit dairesel fingerprint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Radius = 2 (ECFP4 esdegeri)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Yapısal benzerlik hesabi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FIZIKOKIMYASAL DESCRIPTORLER: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Molekul agirligi (MW)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cLogP (lipofili)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TPSA (polar yuzey alani)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HBD/HBA (hidrojen bag verici/alici)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Rotatable bond sayisi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Aromatik halka sayisi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PKA TAHMINLERI: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Asidik/bazik gruplar icin pKa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Iyonizasyon durumu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LIPINSKI/VEBER KURALLARI: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MW &lt; 500, LogP &lt; 5, HBD &lt;= 5, HBA &lt;= 10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TPSA &lt; 140, Rotatable bonds &lt;= 10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Ihlal sayisi hesabi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Farmakokinetik Profil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BBB GECIRGENLIK: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LogP ve TPSA bazli tahmin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Optimal: LogP 2-4, TPSA &lt; 70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Yuksek BBB = Yuksek CNS etkisi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PLAZMA PROTEIN BAGLAMA: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Albumin ve AAG baglama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Serbest fraksiyon hesabi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YARI OMUR (t1/2):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Hepatik klerens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Kisa t1/2 = Sik doz tekrari = Yuksek bagimlilik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BIYOYARARLANIM: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Oral absorpsiyon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Ilk gecis metabolizmasi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CYP ENZIM INHIBISYONU: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CYP1A2, CYP2C9, CYP2C19, CYP2D6, CYP3A4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Ilac-ilac etkilesim riski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REGULATUVAR CERCEVE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UN/WHO/EMCDDA Schedule Siniflandirmasi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Tanim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Istismar Skoru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Ornekler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Yuksek istismar, tibbi kullanim yok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Heroin, LSD, MDMA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Yuksek istismar, sinirli tibbi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Morfin, Fentanil, Kokain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III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Orta istismar, tibbi kullanim var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Buprenorfin, Ketamin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Dusuk-orta istismar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Benzodiazepinler, Tramadol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Dusuk istismar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Pregabalin, Dusuk doz kodein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Unscheduled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Kontrolsuz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Kafein (Nikotin/Alkol ayri)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Istismar Potansiyeli Hesaplama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WEAK-SUPERVISION YAKLASIMI: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Validated substances: Literatur referansli degerler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Predicted substances: Reseptor + PK faktörleri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HESAPLAMA FORMULU: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Abuse_Score = w1*Receptor_Score + w2*PK_Score + w3*Schedule_Score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RESEPTOR KATKISI: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MOR aktivasyonu: +0.95 (en yuksek)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DAT inhibisyonu: +0.92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GABA-A modulasyonu: +0.75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Toplamda 55+ reseptor agirligi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FARMAKOKINETIK CARPANLAR: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Hizli etki baslangici: x1.5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Yuksek BBB gecisi: x1.3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Kisa yari omur: x1.2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Yuksek biyoyararlanim: x1.1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GUVEN ARALIGI: Bootstrap ile %95 CI hesabi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ADLI BILISIM MODULLERI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Blockchain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BLOCKCHAIN OZELLIKLERI: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SHA-256 hash zinciri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Degistirilemez kayit (immutable)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Zaman damgali islemler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AUDIT KAYITLARI: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Ornek girisi ve kimlik dogrulama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Analiz baslangic/bitis zamanlari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Sonuc uretimi ve onaylama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Kullanici erisim loglari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TAMPER DETECTION: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Hash zinciri butunluk kontrolu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Herhangi bir degisiklik tespit edilir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Adli delil kabul edilebilirligi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CHAIN OF CUSTODY: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Ornek transferi takibi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Sorumluluk zinciri dokumantasyonu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Dijital imza destegi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Postmortem Validasyon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PMI (POSTMORTEM INTERVAL) DUZELTMESI: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DNA metilasyonu olum sonrasi degisir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PMI-bagimlı beta deger ayarlamasi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Doku tipine gore duzeltme faktorleri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DOKU BUTUNLUK DEGERLENDIRMESI: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DNA kalitesi skoru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Degradasyon markerleri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Guvenirlirlik skoru hesabi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ADLI TIP UYGULAMALARI: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Olum ani madde kullanim tespiti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Kronik bagimlilik gecmisi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Cause of death destekleme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RAPORLAMA: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PDF klinik rapor uretimi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Adli standartlara uygun format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Yorum ve oneriler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VERITABANI VE ENTEGRASYONLAR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Veritabani Semaşi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POSTGRESQL TABLOLARI: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cpg_markers: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marker_id, chromosome, position, gene, island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clock_membership (Horvath, Hannum, etc.)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methylation_mean, std, range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substance_panels: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substance_id, name, schedule, class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abuse_potential, references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receptor_targets, metabolism_pathway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analysis_results: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sample_id, patient_id, analysis_date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clock_results (JSON), eaa_values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ml_predictions, gnn_results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audit_logs: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log_id, timestamp, user_id, action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hash_chain, previous_hash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 Veritabani Entegrasyonlari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GENOMIK VERITABANLARI: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- 1000 Genomes Project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gnomAD (Genome Aggregation Database)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UK Biobank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TOPMed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EPIGENETIK VERITABANLARI: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EWAS Catalog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GEO (Gene Expression Omnibus)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ENCODE (Encyclopedia of DNA Elements)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FARMAKOLOJIK VERITABANLARI: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IUPHAR/BPS Guide to Pharmacology (3,112 hedef)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DrugBank 6.0 (4,563 onayii ilac)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ChEMBL (13,503 ligand)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PharmGKB (Farmakogenomik)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REGULATUVAR KAYNAKLAR: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UN 1961/1971 Conventions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WHO Expert Committee raporlari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EMCDDA Early Warning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KLINIK UYGULAMALAR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Klinik Kullanim Senaryolari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BAGIMLILIK TEDAVI MERKEZLERI: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Tedavi oncesi biyolojik yas degerlendirmesi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Tedavi etkinligi takibi (EAA degisimi)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Relaps riski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ADLI TIP: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Madde kullanim gecmisi tespiti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Postmortem bagimlilik analizi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Delil destekleme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KLINIK ARASTIRMA: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Madde-spesifik epigenetik etkiler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Longitudinal kohort calismalari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Biomarker kesfii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KORUYUCU SAGLIK: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Risk degerlendirmesi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Erken mudahale planlama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Genetik yatkinlik entegrasyonu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Karar Destek Sistemi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RISK SKORLAMASI: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Dusuk Risk (EAA &lt; 1 yil): Takip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Orta Risk (EAA 1-3 yil): Yakin izlem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Yuksek Risk (EAA &gt; 3 yil): Mudahale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TEDAVI ONERILERI: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Madde-spesifik tedavi protokolleri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Farmakogenetik uyumluluk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Yasam tarzı modifikasyonlari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TAKIP PROTOKOLU: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- 3-6 aylik DNA metilasyon kontrolu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EAA trendii izleme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Tedavi yanit degerlendirmesi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RAPORLAMA: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Klinisyen-dostu ozet rapor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Detayli teknik rapor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PDF export (ReportLab)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TEKNIK DOKUMANTASYON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Python Kutuphaneleri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Kutuphane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Versiyon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Kullanim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Web arayuzu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Veri islemleri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numpy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Numerik hesaplamalar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ML modelleri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GNN/Deep learning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rdkit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Molekul islemleri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plotly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Interaktif grafikler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matplotlib/seaborn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Statik grafikler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psycopg2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PostgreSQL baglantisi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reportlab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PDF uretimi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ve Entegrasyon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REST API ENDPOINTLERI: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POST /api/analyze - DNA metilasyon analizi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POST /api/molecule - Molekul GNN analizi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GET /api/results/{id} - Sonuc sorgulama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GET /api/audit/{sample_id} - Audit log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VERI FORMATLARI: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Input: CSV, Excel, IDAT dosyalari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Output: JSON, PDF, Excel rapor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SMILES/SDF molekul formatlari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GUVENLIK: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Session-based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HTTPS zorunlu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Hassas veri sifreleme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INTEROPERABILITY: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HL7 FHIR uyumlu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LOINC kodlari destegi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SONUC VE GELECEK YONELIMLER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Platform Ozeti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EPICLOCK v4.0 YETENEKLERI: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5 Major Epigenetik Saat + 12 Doku-Spesifik Saat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Ensemble ML: RF + XGBoost + ElasticNet (R2=0.94)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PyTorch GNN: MPNN + Attention (1.2M parametre)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55+ Farmakolojik Reseptor Hedefi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UN/WHO/EMCDDA Regulatuvar Uyum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40+ Valide Madde Veritabani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Blockchain Audit Trail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Adli Bilisim Modulleri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PostgreSQL Veritabani Entegrasyonu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Interaktif Web Arayuzu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ONEMLI NOT: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Bu bir PROTOTIP'tir. Gercek klinik/adli kullanim icin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UCSD lisanslari ve valide koefisyenler gerekmektedir.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Gelecek Gelistirmeler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KISA VADELI (6 ay):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Gercek epigenetik saat koefisyenlerinin lisanslanmasi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Daha buyuk valide madde veritabani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Multi-omics entegrasyonu (transkriptomik, proteomik)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ORTA VADELI (1 yil):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Prospektif klinik validasyon calismalari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Mobile uyumlu arayuz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Federated learning ile gizlilik korumali ogrenme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UZUN VADELI (2+ yil):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Regulatory approval (CE-IVD, FDA clearance)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Uluslararasi cok merkezli calismalar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Yapay zeka destekli tedavi optimizasyonu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ILETISIM: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Dr. Nurcan Denli Bayir (nrcdnl94)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EpiClock Gelistirme Ekibi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TESEKKURLER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7D8"/>
                </a:solidFill>
              </a:defRPr>
            </a:pPr>
            <a:r>
              <a:t>Sorular ve Tartisma</a:t>
            </a:r>
            <a:br/>
            <a:br/>
            <a:r>
              <a:t>EpiClock v4.0</a:t>
            </a:r>
            <a:br/>
            <a:r>
              <a:t>Dr. Nurcan Denli Bayir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YENI EKLENEN STANDARTLAR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50A0"/>
                </a:solidFill>
              </a:defRPr>
            </a:pPr>
            <a:r>
              <a:t>26 Ocak 2026 Guncellemesi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EWAS Raporlama Standartlari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P-value esigi: P &lt; 1x10^-7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Bonferroni duzeltmesi: EPIC v1 icin 5.77x10^-8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DMR (Farkli Metile Bolgeler) analizi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methQTL entegrasyonu ve duyarlilik analizi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Hucre tipi dekompozisyonu: Houseman, EpiDISH, ReFACTor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- 36 maddelik raporlama kontrol listesi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MIQE Standartlari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qPCR Deneyleri icin Minimum Bilgi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- 60+ kontrol maddesi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Primer tasarim validasyonu: Tm, GC%, amplikon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Amplifikasyon verimliligi: %90-110 aralik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Standart egri analizi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MIAME Standartlari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Microarray Deneyi Hakkinda Minimum Bilgi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- 27 maddelik kontrol listesi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GEO gonderimi: SOFT format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ArrayExpress: IDF/SDRF format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FAIR Prensipleri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Findable: DOI, ORCID, ROR tanimlayicilar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Accessible: HTTP/HTTPS protokolleri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Interoperable: Dublin Core, DataCite metadata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Reusable: CC-BY-4.0 lisanslama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MINSEQE Standartlari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Sekanslama Deneyi standartlari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WGBS/RRBS icin 33 maddelik liste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SRA gonderim uretici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ENA XML uretici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GATHER Standartlari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Gen listesi raporlama kilavuzlari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HGNC sembol standardizasyonu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Yolak analizi: GO, KEGG, Reactome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- 17 maddelik kontrol listesi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REMARK Standartlari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Tumor Marker Prognostik Calismalari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Biyomarker kesim noktasi belirleme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C-indeksi hesaplamasi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Bootstrap validasyonu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STARD Standartlari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Tani Dogrulugu Calismalari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Duyarlilik, Ozgulluk, PPV, NPV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ROC-AUC analizi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DeLong testi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TEST SONUCLARI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EWAS: GECTI - Bonferroni: 5.77e-08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MIQE: GECTI - Verimlilik: %100.9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MIAME: GECTI - SOFT/IDF/SDRF uretimi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FAIR: GECTI - Dublin Core metadata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MINSEQE: GECTI - SRA/ENA XML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GATHER: GECTI - Yolak zenginlestirme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REMARK: GECTI - Bootstrap CI: [0.66, 0.84]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STARD: GECTI - AUC: 0.867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0A0"/>
                </a:solidFill>
              </a:defRPr>
            </a:pPr>
            <a:r>
              <a:t>PLATFORM OZETI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Toplam 11 buyuk bilimsel publikasyon standardi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- 8 yeni modul eklendi (26 Ocak 2026)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Tum moduller test edildi ve GitHub'a yuklendi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UNODC kurumsal standartlarina uyumluluk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Renk paleti: #003366, #0050A0, #00A7D8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