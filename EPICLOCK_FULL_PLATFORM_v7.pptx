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badi"/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D2F0"/>
                </a:solidFill>
                <a:latin typeface="Abadi"/>
              </a:defRPr>
            </a:pPr>
            <a:r>
              <a:t>Detection of Epigenetic Age Acceleration in Addiction Using DNA Methylation Clocks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B4DC"/>
                </a:solidFill>
                <a:latin typeface="Abadi"/>
              </a:defRPr>
            </a:pPr>
            <a:r>
              <a:t>Arş. Gör. Dr. Nurcan Denli Bayır | Adli Tıp | EpiClock v4.0 | 36,170 Yapısal Varyant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EPİCLOCK PLATFORM GENEL BAKIŞ: 35+ MODÜL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PLATFORM ÖZELLİKLERİ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35+ Analiz Modülü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36,170 Kimyasal Varyant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10,542 DNA Metilasyon Profili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 Epigenetik Saat (Horvath,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Hannum, PhenoAge, GrimAge,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DunedinPACE)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12 Doku-Spesifik Saat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Blockchain Denetim İzi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PDF Rapor Üretimi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Multi-Omics Entegrasyon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MODÜL KATEGORİLERİ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Epigenetik Saat Analizi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Madde Tespiti (18 madde)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NPS Veritabanı (2,822 türev)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Markush Yapı (29,277 var.)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5. Farmakofor Kütüphanesi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6. Polisubstans Kombinasyonları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7. Kemoinformatik Araçlar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8. GWAS/EWAS Entegrasyonu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9. PRS (Poligenik Risk Skoru)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10. Adli Tıp Uygulamaları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5 MAJOR EPİGENETİK SAAT KARŞILAŞTIRMASI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8247" y="1097280"/>
            <a:ext cx="7315200" cy="192023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396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SAAT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0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276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YIL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85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428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00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580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73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308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17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8748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ÖZELLİK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38247" y="1417319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396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Horvath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0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276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985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428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00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580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51 doku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73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308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3.6 yıl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17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8748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Pan-tissue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38247" y="1737360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396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Hannum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0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276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85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428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300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580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273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7308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3.9 yıl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417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8748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 optimize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38247" y="2057400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396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PhenoAge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70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1276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985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428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300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7580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Çoklu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73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7308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2.5 yıl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417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748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 biyobelirteç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8247" y="2377439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8396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GrimAge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670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1276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2019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985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4428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300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7580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273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7308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417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8748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Mortalite pred.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38247" y="2697480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8396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670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1276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985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4428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173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300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7580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273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7308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N/A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17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8748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Yaşlanma hızı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3291839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GrimAge: En güçlü mortalite prediktörü (HR: 1.10 per yıl EAA)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DunedinPACE: 20 yıllık longitudinal veri, yaşlanma hızı ölçümü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MADDEYE ÖZGÜ EPİGENETİK YAŞ İVMELENMESİ (GrimAge)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1127" y="1097280"/>
            <a:ext cx="6949440" cy="256032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84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852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29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8687" y="11247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95% 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60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172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p-değeri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732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900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Cohen's 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1127" y="1417319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684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Polisubstans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28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852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+7.3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129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8687" y="14447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6.4 - 8.3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60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172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32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900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1127" y="1737360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684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28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852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+6.2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129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58687" y="17647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4.5 - 8.1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60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172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732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900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21127" y="2057400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684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28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852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+4.1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129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58687" y="208483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3.5 - 4.7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760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172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32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900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21127" y="2377439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684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Alkol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328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7852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+3.6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29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58687" y="240487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3.1 - 4.2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60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2172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732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1900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21127" y="2697480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6684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328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7852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+2.9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129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58687" y="27249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2.5 - 3.4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760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2172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32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900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0.65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21127" y="3017520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6684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Esrar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328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7852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+0.8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129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58687" y="30449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0.3 - 1.4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760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2172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0.008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732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900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0.18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21127" y="3337559"/>
            <a:ext cx="69494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6684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Kontrol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328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8527" y="336499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129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58687" y="336499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-0.3 - 0.3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760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2172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ref.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732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1900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3931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Doz-yanıt ilişkisi: r = 0.67 (kullanım yılı × EAA)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Meta-analiz: 15 bağımsız kohort, N = 10,542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YENİ PSİKOAKTİF MADDELER (NPS): 9 KİMYASAL SINIF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3927" y="1097280"/>
            <a:ext cx="7863840" cy="320040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9647" y="11247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996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TÜREV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86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436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ÖRNEK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45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028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HEDEF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18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756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POTENS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3927" y="1417319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9647" y="14447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Sentetik Kanabinoidler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42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996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386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436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JWH-018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45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028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18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756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THC 10-50x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3927" y="1737360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09647" y="176479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Sentetik Katinonlar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42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996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386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8436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α-PVP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45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028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DAT/NET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18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756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Amfetamin-tipi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63927" y="2057400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09647" y="208483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Fentanil Analogları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42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996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386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8436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Carfentanil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845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028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18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756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Morfin 100x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63927" y="2377439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09647" y="240487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242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6996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386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8436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Etonitazene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845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3028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18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2756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Morfin 1000x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63927" y="2697480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09647" y="27249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242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6996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386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8436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5-MeO-DMT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845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3028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818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2756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Halüsinojenik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63927" y="3017520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09647" y="30449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242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69967" y="30449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192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386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8436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25I-NBOMe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845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3028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818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2756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LSD-tipi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63927" y="3337559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09647" y="336499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Dizayner Benzolar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242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69967" y="336499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386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8436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Flualprazolam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845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3028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GABA-A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818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2756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Alprazolam 4x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63927" y="3657600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09647" y="368503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242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69967" y="368503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386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8436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3-MeO-PCP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845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3028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NMDA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818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2756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Ketamin-tipi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63927" y="3977639"/>
            <a:ext cx="78638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209647" y="400507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Diğer NPS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242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69967" y="400507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386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84367" y="40050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GHB analogları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845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33028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GABA-B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818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27567" y="40050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TOPLAM: 2,822 türev | UNODC Early Warning Advisory sistemine entegre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EPİCLOCK VERİTABANI MODÜLLERİ: 36,170 YAPISAL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6807" y="1097280"/>
            <a:ext cx="7498079" cy="320040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12471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MODÜL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28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1860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KAYIT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0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80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6807" y="141731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2527" y="144475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Temel Madde Veritabanı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728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60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1,815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SMILES, CAS, Sınıf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60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180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PubChem, ChEMBL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6807" y="173736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2527" y="176479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NPS Türev Veritabanı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728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60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2,822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300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Türev, Potens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60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180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UNODC, EMCDDA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46807" y="20574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2527" y="208483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Polisubstans Kombinasyonları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28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60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257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72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300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Sinerji,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0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80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Literatür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6807" y="23774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92527" y="240487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Kimyasal Sentez Reaksiyonları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728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60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72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300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Prekursor → Ürün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160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180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DEA, INCB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6807" y="269748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527" y="272491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Metabolik Yolaklar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728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60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72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300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CYP450, Faz I/II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160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180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46807" y="301752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92527" y="304495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Farmakofor Sanal Kütüphane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728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18607" y="30449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1,920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872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300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In silico prediksiyon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160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180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Hesaplamalı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46807" y="333755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92527" y="336499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Metabolit Tahminleri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728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18607" y="336499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6,240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872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3300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Faz I, II, Piroliz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160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6180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BioTransformer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46807" y="36576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92527" y="368503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Markush Yapısal Varyantları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728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18607" y="368503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872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3300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R-grup kombinasyonları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160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6180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Patent analizi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46807" y="39776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92527" y="400507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728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18607" y="400507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36,170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872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3300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160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6180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DNA METİLASYON REFERANS VERİTABANI: 10,542 PROFİL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2527" y="1097280"/>
            <a:ext cx="7406640" cy="288036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247" y="112471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KATEGORİ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57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144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01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816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7367" y="11247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32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896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2527" y="1417319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8247" y="1444751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Alkol Kullanım Bozukluğu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57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44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2,183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01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584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20.7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16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367" y="14447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32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896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485K-866K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92527" y="1737360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38247" y="176479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 Kullanım Bozukluğu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57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8144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1,360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501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584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12.9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16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7367" y="176479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32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896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485K-866K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2527" y="2057400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38247" y="2084831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Kokain Kullanım Bozukluğu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57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144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501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584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816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7367" y="208483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532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896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92527" y="2377439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38247" y="2404871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Polisubstans Kullanımı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357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8144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501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584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816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27367" y="240487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EPIC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532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9896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866,895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92527" y="2697480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38247" y="272491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Esrar Kullanım Bozukluğu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357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8144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194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501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584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816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27367" y="2724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532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9896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92527" y="3017520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38247" y="3044951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Metamfetamin Kullanımı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357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81447" y="30449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501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95847" y="30449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816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27367" y="30449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32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9896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92527" y="3337559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38247" y="3364991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Sağlıklı Kontrol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3572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81447" y="336499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5,007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5012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95847" y="336499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47.5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816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27367" y="336499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Karma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532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9896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92527" y="3657600"/>
            <a:ext cx="740664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38247" y="3685032"/>
            <a:ext cx="2651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3572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81447" y="368503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10,542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5012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95847" y="368503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816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27367" y="368503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532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9896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4251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15 Bağımsız Kohort: GEO (GSE veri setleri), TCGA, Blueprint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MARKUSH YAPI KURALLARI: 29,277 KİMYASAL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5407" y="1097280"/>
            <a:ext cx="7040880" cy="352043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112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KURAL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69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264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57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44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74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127" y="11247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R-GRUP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190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472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VARYANT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5407" y="1417319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112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069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64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57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44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Benzimidazol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74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3127" y="14447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90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472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5,200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75407" y="1737360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112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69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264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57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8144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Fenilpropilamin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474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93127" y="176479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90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472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4,800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75407" y="2057400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2112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69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264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357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8144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İndoletilamin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474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3127" y="208483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190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472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3,600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75407" y="2377439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2112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069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5264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Benzodiazepinler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357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8144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1,4-Benzodiazepin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474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93127" y="240487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190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6472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3,200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75407" y="2697480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112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069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5264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Kanabinoidler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57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144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İndol/İndazol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474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93127" y="2724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90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6472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3,800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75407" y="3017520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21127" y="30449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069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5264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Katinonlar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357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8144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β-keto fenilamin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474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93127" y="30449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190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6472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2,800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75407" y="3337559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21127" y="336499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0692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5264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Fentaniller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3572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8144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4-Anilinpiperidin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474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93127" y="336499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190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6472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2,400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75407" y="3657600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21127" y="368503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0692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5264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3572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81447" y="36850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474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93127" y="368503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R1-R3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190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6472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1,600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575407" y="3977639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21127" y="400507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9-10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0692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5264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3572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181447" y="400507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4740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93127" y="400507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1900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6472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1,877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75407" y="4297680"/>
            <a:ext cx="70408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21127" y="43251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</a:p>
        </p:txBody>
      </p:sp>
      <p:sp>
        <p:nvSpPr>
          <p:cNvPr id="109" name="Rectangle 108"/>
          <p:cNvSpPr/>
          <p:nvPr/>
        </p:nvSpPr>
        <p:spPr>
          <a:xfrm>
            <a:off x="330692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52647" y="43251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3572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81447" y="43251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4740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93127" y="43251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1900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64727" y="43251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'Kimyasal olarak mümkün' bileşiklerin sistematik üretimi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POLİSUBSTANS KOMBİNASYONLARI: RİSK MATRİSİ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097280"/>
            <a:ext cx="7589520" cy="288036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6807" y="11247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KOMBİNASYON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14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7127" y="11247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SOKAK ADI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SİNERJİ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88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4567" y="112471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ÖLÜM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8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52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MEKANİZMA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1087" y="1417319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6807" y="14447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Fentanil+Heroin+Carfentanil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14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7127" y="14447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Grey Death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44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4.2x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88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4567" y="144475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8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752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Resp. depresyon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1087" y="173736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6807" y="176479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Fentanil+Heroin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14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7127" y="17647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Purple Dope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16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3.5x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88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4567" y="176479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18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752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 toksisitesi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1087" y="205740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6807" y="208483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Kokain+Heroin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14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7127" y="208483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Speedball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44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016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388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84567" y="208483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18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752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Kardiyovasküler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1087" y="2377439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6807" y="240487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Benzodiazepin+Opioid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14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07127" y="240487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44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016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3.2x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388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84567" y="240487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618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0752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Resp. depresyon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01087" y="269748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46807" y="27249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Alkol+Opioid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614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07127" y="27249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44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016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388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84567" y="272491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618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0752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CNS depresyon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01087" y="301752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46807" y="30449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MDMA+Amfetamin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14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07127" y="30449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244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0167" y="30449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2.4x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388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84567" y="304495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618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0752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Hipertermi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01087" y="3337559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46807" y="336499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Kokain+Alkol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14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07127" y="336499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Cocaethylene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244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70167" y="336499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1.9x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388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84567" y="336499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12%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618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0752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01087" y="365760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46807" y="368503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MDMA+LSD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14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07127" y="368503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Candy Flip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244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70167" y="368503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1.8x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388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84567" y="368503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618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0752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Serotonerjik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4251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257 tehlikeli kombinasyon | SF = Gözlenen etki / Beklenen aditif etki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FARMAKOFOR SANAL KÜTÜPHANESİ: 1,920 BİLEŞİK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8287" y="1097280"/>
            <a:ext cx="6675120" cy="352043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07" y="11247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9" name="Rectangle 8"/>
          <p:cNvSpPr/>
          <p:nvPr/>
        </p:nvSpPr>
        <p:spPr>
          <a:xfrm>
            <a:off x="53186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4327" y="11247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672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296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HEDEF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31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888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logP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04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6167" y="112471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BBB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58287" y="1417319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4007" y="14447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Fenetilamin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6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4327" y="144475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672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296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DAT/SERT/5-HT2A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31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888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1.5-3.5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104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6167" y="144475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58287" y="1737360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4007" y="176479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Triptamin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86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64327" y="176479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672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296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5-HT2A/5-HT1A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31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888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1.0-3.0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104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6167" y="176479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58287" y="2057400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04007" y="208483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Fentanil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186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64327" y="208483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672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1296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131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5888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3.0-5.0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104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167" y="208483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8287" y="2377439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04007" y="240487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86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4327" y="240487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672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1296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GABA-A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31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5888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2.0-4.0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104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6167" y="240487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58287" y="2697480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04007" y="27249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186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64327" y="27249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672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1296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NMDA/σ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131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5888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2.5-4.5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104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6167" y="272491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58287" y="3017520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04007" y="30449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Katinonn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186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64327" y="304495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672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1296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DAT/NET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131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5888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1.0-2.5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104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56167" y="304495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58287" y="3337559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04007" y="336499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Kanabinoid (İndol)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186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64327" y="336499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672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1296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CB1/CB2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131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5888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4.0-7.0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104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56167" y="336499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58287" y="3657600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04007" y="368503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Kanabinoid (İndazol)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186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64327" y="368503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8672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1296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131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5888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4.5-7.5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104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56167" y="368503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58287" y="3977639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04007" y="400507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 (Morfin-tipi)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1860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64327" y="400507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672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12967" y="40050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μ/κ/δ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131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5888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0.5-2.5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104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56167" y="400507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58287" y="4297680"/>
            <a:ext cx="66751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04007" y="43251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Diğer (8 çekirdek)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1860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64327" y="43251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86724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12967" y="43251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1316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8887" y="43251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61044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56167" y="432511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16 farmakofor çekirdeği × ortalama 120 türev = 1,920 sanal bileşik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IN SILICO ADMET TAHMİNLERİ: 1,920 BİLEŞİK ANALİZİ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097280"/>
            <a:ext cx="7589519" cy="288036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680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PARAMETRE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98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560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58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1527" y="11247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SONUÇ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74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12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EŞİK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75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3287" y="11247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YORUM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1087" y="1417319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680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BBB Geçirgenliği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298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560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QSAR (logBB)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58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1527" y="14447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1,144 (%59.6)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74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312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275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3287" y="14447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CNS aktif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1087" y="1737360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680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Caco-2 Permeabilite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298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560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PAMPA modeli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58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1527" y="176479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1,456 (%75.8)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474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9312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&gt;1×10⁻⁶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75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3287" y="17647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İyi absorpsiyon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1087" y="2057400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680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P-gp Substrat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298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560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ML classifier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758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21527" y="208483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768 (%40.0)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474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312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Prob &gt;0.5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275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3287" y="208483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Efflux riski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1087" y="2377439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680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CYP3A4 İnhibisyon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298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7560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Docking + QSAR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758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21527" y="240487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624 (%32.5)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474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9312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IC50 &lt;10μM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275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73287" y="240487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DDI riski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01087" y="2697480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4680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CYP2D6 İnhibisyon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298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60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Docking + QSAR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758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21527" y="2724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512 (%26.7)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474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9312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IC50 &lt;10μM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275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73287" y="27249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DDI riski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01087" y="3017520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4680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hERG İnhibisyon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298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7560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QSAR (pIC50)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758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21527" y="30449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384 (%20.0)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474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9312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IC50 &lt;10μM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275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73287" y="30449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QT uzaması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01087" y="3337559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4680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298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7560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DILI classifier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758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21527" y="336499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288 (%15.0)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474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93127" y="336499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Prob &gt;0.5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275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73287" y="336499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Karaciğer riski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01087" y="3657600"/>
            <a:ext cx="758951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4680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AMES Mutajenite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298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7560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Derek/Sarah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58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21527" y="368503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192 (%10.0)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474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93127" y="368503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Pozitif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275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73287" y="368503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Genotoksik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RESEPTÖR AFİNİTE TAHMİN PANELİ (Ki, nM)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6807" y="1097280"/>
            <a:ext cx="7498079" cy="352043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RESEPTÖR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20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GEN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57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148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FONKSİYON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45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028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REFERANS LİGAND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04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620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Ki (nM)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6807" y="141731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252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4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20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SLC6A3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57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148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Dopamin taşıyıcı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45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028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304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620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46807" y="173736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9252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84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420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SLC6A4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557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148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Serotonin taşıyıcı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45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028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Fluoksetin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04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620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46807" y="20574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252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84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420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SLC6A2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57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0148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Norepinefrin taşıyıcı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845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028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Atomoksetin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04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620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6807" y="23774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52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584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420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HTR2A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557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148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Serotonin 2A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845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3028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LSD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04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7620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46807" y="269748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9252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5-HT1A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584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420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HTR1A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557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0148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Serotonin 1A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845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3028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Buspiron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304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7620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46807" y="301752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9252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μ-Opioid (OPRM1)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584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0420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OPRM1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557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0148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 reseptör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845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3028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Morfin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304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76207" y="30449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46807" y="333755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9252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κ-Opioid (OPRK1)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584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0420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OPRK1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557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0148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 reseptör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845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3028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Salvinorin 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304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76207" y="336499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46807" y="36576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92527" y="36850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584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0420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CNR1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557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0148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Kanabinoid 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845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3028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THC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304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76207" y="368503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346807" y="39776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392527" y="400507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NMDA (GluN2B)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584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0420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GRIN2B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557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0148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Glutamat reseptör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845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330287" y="40050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Ketamin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304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76207" y="400507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2,200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346807" y="429768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92527" y="43251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GABA-A (α1)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5848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04207" y="43251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GABRA1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5576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01487" y="43251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GABA reseptör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8456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30287" y="43251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Diazepam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3048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76207" y="43251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QSAR + Molecular Docking ile tahmin | Doğrulama: ChEMBL verisi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METABOLİT TAHMİN SİSTEMİ: 6,240 METABOLİT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097280"/>
            <a:ext cx="7589520" cy="288036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680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REAKSİYON TİPİ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27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848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ENZİM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586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4407" y="11247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ÜRÜN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02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6007" y="11247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89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ÖRNEK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1087" y="1417319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680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Aromatik Hidroksilasyon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27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848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CYP1A2, 3A4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86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4407" y="14447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Ar-OH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02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6007" y="144475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1,840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789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64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4-OH-amfetamin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1087" y="173736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680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Alifatik Hidroksilasyon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27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848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CYP3A4, 2D6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586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4407" y="176479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R-CH₂-OH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302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6007" y="176479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789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464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ω-OH-THC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1087" y="205740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680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N-Dealkilasyon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27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5848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CYP3A4, 2B6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86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04407" y="208483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R-NH₂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302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6007" y="208483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789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464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Norfentanil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01087" y="2377439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680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O-Dealkilasyon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127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848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CYP2D6, 3A4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586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4407" y="240487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R-OH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302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6007" y="240487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89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464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O-desmetil-tramadol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01087" y="269748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4680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N-Oksidasyon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127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5848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FMO3, CYP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586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04407" y="272491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R₃N→O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302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76007" y="27249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420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789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2464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Metamfetamin N-oksit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01087" y="301752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4680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Glukuronidasyon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127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5848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UGT1A1, 2B7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586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04407" y="304495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R-O-Gluk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302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6007" y="304495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789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2464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Morfin-6-glukuronid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01087" y="3337559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4680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Sülfatasyon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127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5848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SULT1A1, 2A1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586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04407" y="3364991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R-O-SO₃H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302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76007" y="336499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7892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2464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MDMA-4-sülfat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301087" y="3657600"/>
            <a:ext cx="758952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46807" y="36850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Piroliz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127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5848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Termal (&gt;200°C)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586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04407" y="3685032"/>
            <a:ext cx="1280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Dekompozisyon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302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76007" y="368503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320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7892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24647" y="36850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Crack metabolitleri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42519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BioTransformer + literatür tabanlı | GC-MS/LC-MS retention time tahminleri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DNA'DAN MADDE TESPİTİ: 18 TESPİT EDİLEBİLİR MADDE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097280"/>
            <a:ext cx="6400800" cy="320040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116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996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GEN/CpG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16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740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DUYARLILIK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89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68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ÖZGÜLLÜK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5447" y="1417319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116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Sigara (Aktif)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42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996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AHRR, F2RL3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01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016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740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89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468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95447" y="1737360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116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Sigara (Eski)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42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996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AHRR, GFI1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01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588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16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740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89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68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95447" y="2057400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116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Alkol (Kronik)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42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996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HECW2, SLC7A11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01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588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016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4740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89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468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5447" y="2377439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4116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242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6996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DDR1, SMPD3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701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588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016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4740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989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468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95447" y="2697480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4116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242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6996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OPRM1, PENK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701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588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016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4740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989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4468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95447" y="3017520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4116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242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6996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DAT1, DRD2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701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15887" y="30449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016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4740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989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4468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95447" y="3337559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4116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Esrar (THC)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242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69967" y="336499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CNR1, MGLL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701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15887" y="336499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016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4740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989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4468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95447" y="3657600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4116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MDMA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242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69967" y="368503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SLC6A4, HTR2A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701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15887" y="368503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016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4740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989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4468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95447" y="3977639"/>
            <a:ext cx="64008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4116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242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69967" y="400507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GABRA1, GABRA2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701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15887" y="400507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016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4740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74%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989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4468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100+ CpG marker | Kullanım süresi tahmini (yıl, 95% CI)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DOKU-SPESİFİK EPİGENETİK SAATLER: 12 DOKU TİPİ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6847" y="1097280"/>
            <a:ext cx="6858000" cy="416052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2567" y="11247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9" name="Rectangle 8"/>
          <p:cNvSpPr/>
          <p:nvPr/>
        </p:nvSpPr>
        <p:spPr>
          <a:xfrm>
            <a:off x="52271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288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586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440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59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1687" y="112471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60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176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6847" y="1417319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2567" y="14447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Beyin - Prefrontal Korteks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71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288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86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440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59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1687" y="144475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960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176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6847" y="173736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2567" y="176479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Beyin - Hipokampus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271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7288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586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440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59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1687" y="176479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60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176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66847" y="205740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12567" y="208483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Beyin - Serebellum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71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7288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86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0440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59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1687" y="208483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60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4176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66847" y="2377439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12567" y="240487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Karaciğer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271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7288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586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440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59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01687" y="240487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960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4176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66847" y="269748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12567" y="27249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Böbrek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271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7288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586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0440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59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01687" y="272491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960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4176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66847" y="301752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12567" y="30449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Kalp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271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72887" y="30449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356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586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0440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59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01687" y="304495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960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4176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66847" y="3337559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12567" y="336499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Akciğer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271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72887" y="336499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334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586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0440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559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01687" y="336499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9604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4176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66847" y="365760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12567" y="368503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Kas (İskelet)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271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72887" y="368503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289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586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0440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559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01687" y="368503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9604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4176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Multi-tissue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66847" y="3977639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12567" y="400507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Kan (Periferik)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271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72887" y="400507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586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0440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559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01687" y="400507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9604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4176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Horvath (2013)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66847" y="429768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12567" y="43251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Tükürük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2716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72887" y="43251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5868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04407" y="43251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5596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01687" y="432511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69604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741767" y="43251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Bocklandt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666847" y="4617720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12567" y="464515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Deri (Epidermis)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227167" y="46177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72887" y="464515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315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58687" y="46177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04407" y="464515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55967" y="46177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101687" y="464515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696047" y="46177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741767" y="464515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Skin clock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666847" y="4937759"/>
            <a:ext cx="68580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712567" y="496519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Yağ Dokusu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227167" y="49377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272887" y="49651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328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958687" y="49377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04407" y="49651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3.9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055967" y="49377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101687" y="496519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96047" y="49377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741767" y="49651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Adipose clock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5532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Çapraz-doku normalizasyon algoritmaları mevcut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GWAS/EWAS VERİTABANI ENTEGRASYONU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6807" y="1097280"/>
            <a:ext cx="7498079" cy="320040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VERİTABANI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6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1327" y="112471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1247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KAYIT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332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892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ENTEGRASYON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6807" y="141731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252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GWAS Catalog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6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1327" y="144475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SNP-trait ilişkileri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1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4447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550,000+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332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892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API entegre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6807" y="173736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252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EWAS Catalog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6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1327" y="176479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CpG-trait ilişkileri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01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5887" y="17647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1,200,000+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32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892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Lokal kopya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46807" y="20574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252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56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1327" y="208483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Farmakogenomik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01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5887" y="208483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45,000+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332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892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API entegre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6807" y="23774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9252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CPIC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56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1327" y="240487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Klinik PGx kılavuzları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01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240487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332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7892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Manuel güncelleme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6807" y="269748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52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6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1327" y="272491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Gen ekspresyon verileri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701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5887" y="27249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4,000,000+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32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7892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GEOquery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46807" y="301752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92527" y="30449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1000 Genomes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56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1327" y="304495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Popülasyon genetiği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701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5887" y="30449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2,504 birey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3320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892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VCF dosyaları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46807" y="333755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92527" y="336499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gnomAD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756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21327" y="336499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Varyant frekansları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01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5887" y="336499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76,000+ birey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3320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7892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API entegre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46807" y="36576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92527" y="368503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UK Biobank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756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21327" y="368503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Biyobanka verileri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701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15887" y="368503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500,000 birey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3320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78927" y="36850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Özet istatistikler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46807" y="39776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92527" y="400507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TOPMed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7560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21327" y="400507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WGS verileri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701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15887" y="400507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180,000+ birey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3320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78927" y="400507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Özet istatistikler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Gerçek zamanlı sorgu | Otomatik veri güncelleme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POLİGENİK RİSK SKORU (PRS): 6 BAĞIMLILIK TRAİTİ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5407" y="1097280"/>
            <a:ext cx="7040879" cy="224027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1127" y="11247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TRAİT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57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144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SNP SAYISI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58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12471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h²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59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168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GWAS 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61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84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PREDIKTIF 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5407" y="1417319"/>
            <a:ext cx="70408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1127" y="14447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Alkol Kullanım Bozukluğu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57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44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1,200,000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44475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0.49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59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168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435,563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61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184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0.63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75407" y="1737360"/>
            <a:ext cx="70408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1127" y="176479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Nikotin Bağımlılığı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57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8144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980,000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58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1607" y="176479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59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168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1,232,091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61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184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75407" y="2057400"/>
            <a:ext cx="70408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21127" y="208483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Esrar Kullanımı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57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144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850,000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58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1607" y="208483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59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168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184,765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61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184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75407" y="2377439"/>
            <a:ext cx="70408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21127" y="240487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 Kullanım Bozukluğu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357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8144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720,000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158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1607" y="240487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59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0168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82,707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61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184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75407" y="2697480"/>
            <a:ext cx="70408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21127" y="2724912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Genel Madde Kullanımı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357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8144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1,100,000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58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61607" y="2724912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0.44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59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0168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1,025,550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61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184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0.61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75407" y="3017520"/>
            <a:ext cx="70408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21127" y="3044951"/>
            <a:ext cx="246887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Risk Alma Davranışı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357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8144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890,000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158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61607" y="3044951"/>
            <a:ext cx="548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59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0168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466,571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361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8184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0.57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3611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GWAS-validated weights | LD-pruning + clumping | Ancestry-corrected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MEDİASYON ANALİZİ: YOLAK SONUÇLARI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2567" y="1097280"/>
            <a:ext cx="6766559" cy="224027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828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YOLAK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207" y="112471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AÇIKLAMA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45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028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0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807" y="11247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647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044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p-değeri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2567" y="1417319"/>
            <a:ext cx="676655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828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 (Total)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4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207" y="144475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Madde → EAA (toplam)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45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028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60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1807" y="144475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647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044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12567" y="1737360"/>
            <a:ext cx="676655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828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84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4207" y="176479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Madde → DNA Metilasyonu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845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028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60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1807" y="176479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647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044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12567" y="2057400"/>
            <a:ext cx="676655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5828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84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4207" y="208483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DNA Metilasyonu → EAA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845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028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-12.40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0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807" y="208483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647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044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12567" y="2377439"/>
            <a:ext cx="676655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5828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c' (Direct)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584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4207" y="240487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Madde → EAA (direkt)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845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3028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160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1807" y="240487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647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0447" y="240487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12567" y="2697480"/>
            <a:ext cx="676655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5828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ab (Indirect)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584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4207" y="2724912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Mediasyon etkisi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845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3028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1.86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160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61807" y="2724912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0.22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647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10447" y="27249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12567" y="3017520"/>
            <a:ext cx="676655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58287" y="30449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ab/c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584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04207" y="3044951"/>
            <a:ext cx="2834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Mediasyon oranı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845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30287" y="30449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43.3%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160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61807" y="3044951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647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10447" y="30449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3611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Bootstrap 10,000 rep: 95% CI (1.42 - 2.31) → Anlamlı kısmi mediasyon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DNA metilasyonu, madde kullanımı-EAA ilişkisini kısmen açıklar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MAKİNE ÖĞRENMESİ ENSEMBLE: PERFORMANS METRİKLERİ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3967" y="1097280"/>
            <a:ext cx="7223760" cy="160020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2968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AĞIRLIK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929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864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02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592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874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3207" y="112471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104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616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Pearson 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3967" y="1417319"/>
            <a:ext cx="72237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968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Random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56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136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929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864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2.4 yıl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02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592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3.1 yıl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874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3207" y="144475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104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616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3967" y="1737360"/>
            <a:ext cx="72237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2968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XGBoost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956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136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29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864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2.0 yıl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02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592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2.6 yıl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874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33207" y="1764792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104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616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3967" y="2057400"/>
            <a:ext cx="72237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2968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ElasticNet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956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136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929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864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902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3592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3.5 yıl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874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33207" y="208483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104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16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83967" y="2377439"/>
            <a:ext cx="72237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2968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ENSEMBLE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956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136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929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864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902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3592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2.8 yıl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874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33207" y="2404871"/>
            <a:ext cx="731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104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616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2971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10-fold cross-validation | Hyperparameter tuning: GridSearchCV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Feature importance: Top 20 CpG = %65 varyans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BLOCKCHAIN DENETİM İZİ: SHA-256 HASH ZİNCİRİ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BLOCK YAPISI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Block[n] = {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timestamp: ISO 8601,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sample_id: UUID,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analysis_type: string,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parameters: JSON,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result_hash: SHA-256,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prev_hash: Block[n-1],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nonce: PoW solution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Hash = SHA256(prev || data)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Değişiklik → Zincir kırılır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ADLİ GEÇERLİLİK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NIST FIPS 180-4: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256-bit digest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Collision: O(2¹²⁸)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Preimage: O(2²⁵⁶)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ÖZELLİKLER: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Tamper-evident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Immutable kayıt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Zaman damgası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STANDART: Daubert/Frye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POSTMORTEM DNA METİLASYON: PMI DÜZELTME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9767" y="1097280"/>
            <a:ext cx="5852160" cy="224027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548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PMI (saat)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99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647" y="11247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4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716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DÜZELTME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588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4607" y="11247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GÜVENİLİRLİK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69767" y="1417319"/>
            <a:ext cx="58521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548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0-12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499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647" y="14447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14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716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Minimal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88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4607" y="14447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69767" y="1737360"/>
            <a:ext cx="58521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1548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12-24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99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5647" y="176479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14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716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87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44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88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607" y="17647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9767" y="2057400"/>
            <a:ext cx="58521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1548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24-48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499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5647" y="208483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814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716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87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444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04607" y="208483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9767" y="2377439"/>
            <a:ext cx="58521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1548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48-72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99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5647" y="240487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144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716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87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444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588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04607" y="240487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69767" y="2697480"/>
            <a:ext cx="58521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1548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72-120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499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95647" y="2724912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&gt;0.75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144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716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787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444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588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04607" y="27249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Düşük-Orta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69767" y="3017520"/>
            <a:ext cx="585216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1548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120-168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499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95647" y="3044951"/>
            <a:ext cx="6400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&gt;0.70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144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2716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6.8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7872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24447" y="30449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Maksimum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588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04607" y="30449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3611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DNAmAge_corr = DNAmAge_raw - f(PMI, Sıcaklık, Doku tipi)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Bakteriyel kontaminasyon ve DNA degradasyon düzeltmesi dahil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KLİNİK KARAR DESTEK: RİSK STRATİFİKASYONU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6807" y="1097280"/>
            <a:ext cx="7498080" cy="192023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RİSK KATEGORİSİ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7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38447" y="11247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57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148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592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1647" y="1124712"/>
            <a:ext cx="3017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KLİNİK AKSİYON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6807" y="1417319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252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Minimal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27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8447" y="144475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 +1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57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148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&lt; 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592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1647" y="1444751"/>
            <a:ext cx="3017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Rutin takip, yıllık değerlendirme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6807" y="1737360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252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27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8447" y="176479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+1 ≤ EAA &lt; +3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557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148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1.0-1.1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3592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1647" y="1764792"/>
            <a:ext cx="3017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Yaşam tarzı önerileri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46807" y="2057400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252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927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8447" y="208483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+3 ≤ EAA &lt; +5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557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148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1.1-1.2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592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1647" y="2084831"/>
            <a:ext cx="3017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Aktif izlem, 6 aylık kontrol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6807" y="2377439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9252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927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38447" y="2404871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+5 ≤ EAA &lt; +8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557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1487" y="240487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1.2-1.3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3592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1647" y="2404871"/>
            <a:ext cx="3017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Yoğun tedavi, 3 aylık kontrol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6807" y="2697480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52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27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8447" y="2724912"/>
            <a:ext cx="1371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≥ +8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557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1487" y="27249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&gt; 1.3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3592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81647" y="2724912"/>
            <a:ext cx="3017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Acil müdahale, multidisipliner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291839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GrimAge HR: 1.10 per yıl EAA | Bu araç klinik değerlendirme yerini almaz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MALİYET-ETKİNLİK ANALİZİ: %97 TASARRUF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8247" y="1097280"/>
            <a:ext cx="7315200" cy="128016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396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41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988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WGBS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144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716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16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1247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ANALİZ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60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172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32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9007" y="112471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SÜRE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38247" y="1417319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396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Geleneksel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41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2988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$2,500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44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716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7" y="144475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60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172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$3,100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732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9007" y="144475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2-4 hafta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38247" y="1737360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396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EpiClock Panel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841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2988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144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716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16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7327" y="176479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760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172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732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9007" y="1764792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24 saat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38247" y="2057400"/>
            <a:ext cx="731520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396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TASARRUF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841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2988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8144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716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16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7327" y="2084831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60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172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$3,020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732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9007" y="2084831"/>
            <a:ext cx="118871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%97.4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1,000 örnek için toplam tasarruf: $3,020,000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Hedefli panel: 353-1,030 CpG sitesi (saat'e göre)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KAPSAMLI GEN VERİTABANI: 2,800+ GEN, 14 SİSTEM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6807" y="1097280"/>
            <a:ext cx="7498079" cy="4800600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1247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BİYOLOJİK SİSTEM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848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207" y="11247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GEN SAYISI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57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1487" y="112471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ANAHTAR GENLER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6807" y="141731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2527" y="14447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Dopaminerjik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848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207" y="14447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57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1487" y="1444751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DRD1-5, DAT, TH, DDC, COMT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46807" y="173736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2527" y="17647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Serotonerjik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848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4207" y="17647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57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1487" y="176479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HTR1A-7, SERT, TPH1/2, MAOA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46807" y="20574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2527" y="208483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Opioiderjik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848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4207" y="208483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557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1487" y="2084831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OPRM1, OPRK1, OPRD1, PDYN, PENK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46807" y="23774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2527" y="240487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GABAerjik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5848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4207" y="240487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557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1487" y="2404871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GABRA1-6, GABRB1-3, GAD1/2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46807" y="269748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92527" y="27249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Glutamaterjik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848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4207" y="27249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57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01487" y="272491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GRIN1-3, GRM1-8, SLC1A1-3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46807" y="301752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92527" y="304495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Kolinerjik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5848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04207" y="304495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134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55767" y="30175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01487" y="3044951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CHRNA1-10, CHRNB1-4, CHAT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46807" y="333755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92527" y="3364991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Endokanabinoid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848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04207" y="3364991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89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55767" y="33375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01487" y="3364991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CNR1, CNR2, FAAH, MGLL, DAGLA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46807" y="36576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92527" y="36850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Stres Yanıtı (HPA)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5848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04207" y="36850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167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55767" y="36576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01487" y="368503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CRH, CRHR1/2, NR3C1, FKBP5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46807" y="397763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92527" y="400507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Nöroplastisite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5848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04207" y="40050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234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55767" y="39776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01487" y="400507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BDNF, NTRK2, CREB1, ARC, FOS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46807" y="429768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92527" y="432511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Epigenetik Regülatörler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5848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04207" y="432511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178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55767" y="42976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01487" y="432511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DNMT1/3A/3B, TET1-3, HDAC1-11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46807" y="461772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92527" y="464515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İnflamatuar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58487" y="46177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04207" y="464515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55767" y="461772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01487" y="464515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IL6, IL1B, TNF, CRP, NFkB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46807" y="4937759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92527" y="496519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Oksidatif Stres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58487" y="49377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04207" y="496519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145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55767" y="493775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01487" y="496519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SOD1-3, CAT, GPX1-8, NRF2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46807" y="525780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92527" y="52852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Metabolizma (CYP)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58487" y="52578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04207" y="52852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55767" y="52578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01487" y="528523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CYP1A2, 2B6, 2C9, 2C19, 2D6, 3A4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46807" y="5577840"/>
            <a:ext cx="7498079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92527" y="560527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58487" y="557784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04207" y="560527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387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55767" y="557784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01487" y="5605272"/>
            <a:ext cx="42976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DİNAMİK KOMBİNASYON HESAPLAYICI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44 MADDE TİPİ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UYARICILAR: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Kokain, Amfetamin, MDMA,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Metamfetamin, Nikotin, Kafein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DEPRESANLAR: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Alkol, Heroin, Morfin,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Oksikodoln, Fentanil, GHB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HALÜSİNOJENLER: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LSD, Psilosibin, DMT, Ketamin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DİĞER: Esrar, Benzolar,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İnhalanlar, Steroidler...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56 HASTALIK + SİNERJİLER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HASTALIK KATEGORİLERİ: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Kardiyovasküler (12)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Metabolik (8)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Nörolojik (10)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Psikiyatrik (14)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Hepatik (6)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Renal (6)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SİNERJİ TİPLERİ: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Madde-Madde (100+)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Hastalık-Hastalık (50+)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Çapraz sinerjiler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KEMOİNFORMATİK ARAÇLAR: MOLEKÜLER ANALİZ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SMILES ANALİZİ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MOLEKÜLER TANIMLAYICILAR: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Moleküler Ağırlık (MW)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logP (Lipofiliklik)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PSA (Polar Surface Area)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HBA/HBD (H-bağı)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RotBonds (Esneklik)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Aromatik Halka Sayısı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Lipinski Kuralı Kontrolü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RDKit Entegrasyonu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BENZERLİK ANALİZİ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PARMAK İZİ YÖNTEMLERİ: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ECFP4 (1024-bit)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ECFP6 (2048-bit)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MACCS (166-bit)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Morgan (configurable)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BENZERLİK METRİKLERİ: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Tanimoto similarity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Dice similarity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PubChem entegrasyonu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VERİ DIŞA AKTARMA: ÇOKLUFORMATLİ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DESTEKLENEN FORMATLAR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CSV (Comma-Separated)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Tüm veritabanları için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BED (Browser Extensible)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UCSC Genome Browser için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IGV entegrasyonu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JSON (JavaScript Object)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API entegrasyonu için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Nested veri yapıları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SQL (INSERT statements)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PostgreSQL uyumlu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EXPORT SEÇENEKLERİ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VERİTABANLARI: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CpG Marker Veritabanı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Madde Panelleri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Gen Sistemleri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Epigenetik Saatler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NPS Türevleri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Markush Varyantları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Metabolit Tahminleri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Seçili kayıt veya tümü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PDF RAPOR ÜRETİMİ: KLİNİK RAPORLAMA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RAPOR İÇERİĞİ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HASTA BİLGİLERİ: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ID, Yaş, Cinsiyet, Tarih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EPİGENETİK YAŞ: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 saat sonucu + grafik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EAA ANALİZİ: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IEAA, EEAA, yorumlama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RİSK DEĞERLENDİRME: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Kategori, öneriler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GRAFİKLER: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Radar plot, heatmap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RAPOR ÖZELLİKLERİ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FORMAT: ReportLab PDF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BÖLÜMLER: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Yönetici Özeti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Detaylı Sonuçlar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Metodoloji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Referans Değerler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Öneriler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EKLER: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Blockchain hash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Denetim izi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Kalite kontrol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KULLANIM KILAVUZU: 6 SEKMELİ AKADEMİK REHBER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KILAVUZ İÇERİĞİ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PLATFORM TANITIMI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Genel bakış, özellikler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EPİGENETİK SAATLER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5 saat detaylı açıklama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ANALİZ MODÜLLER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35+ modül kullanımı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VERİ YORUMLAMA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EAA, klinik korelasyonlar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5. TEKNİK DETAYLAR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Algoritmalar, validasyon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EK KAYNAKLAR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6. REFERANSLAR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AKADEMİK ATIFLAR: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Horvath (2013)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Hannum (2013)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Levine (2018)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Lu (2019)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Belsky (2022)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SÖZLÜK: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100+ terim tanımı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VİDEO EĞİTİMLER: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Modül bazlı tutorials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MOBİL-RESPONSIVE UI: TOUCH-FRIENDLY TASARIM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UI ÖZELLİKLERİ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RESPONSIVE DESIGN: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Fluid layouts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Breakpoint adaptasyonu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Touch-friendly butonlar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Swipe navigasyon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ROL-BAZLI PRESETLER: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Klinisyen modu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Araştırmacı modu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Adli uzman modu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Öğrenci modu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TEMA SEÇENEKLERİ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UNODC TEMA: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Profesyonel, kurumsal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KOYU TEMA: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Göz yorgunluğu azaltma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AYARLAR: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Font boyutu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Kontrast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Animasyonlar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Bildirimler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Streamlit native components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MULTİ-OMİKS ENTEGRASYON STRATEJİLERİ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6807" y="1097280"/>
            <a:ext cx="7498080" cy="1920239"/>
          </a:xfrm>
          <a:prstGeom prst="rect">
            <a:avLst/>
          </a:prstGeom>
          <a:solidFill>
            <a:srgbClr val="002850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252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badi"/>
              </a:defRPr>
            </a:pPr>
            <a:r>
              <a:t>OMİKS KATMANI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6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1327" y="11247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440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0127" y="112471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8967" y="10972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687" y="11247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badi"/>
              </a:defRPr>
            </a:pPr>
            <a:r>
              <a:t>ENTEGRASYON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6807" y="1417319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252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Genomics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6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1327" y="144475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SNP, CNV, 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440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0127" y="144475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WGS, WES, Array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8967" y="141731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4687" y="144475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VCF parsing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6807" y="1737360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9252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Epigenomics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6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1327" y="176479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5mC, 5hmC, Histon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440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0127" y="176479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450K, EPIC, ChIP-seq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8967" y="173736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687" y="176479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Beta-value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46807" y="2057400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252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Transcriptomics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56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1327" y="208483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mRNA, ncRNA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0440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0127" y="208483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RNA-seq, Microarray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98967" y="205740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4687" y="208483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TPM/FPKM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6807" y="2377439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9252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Proteomics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756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1327" y="2404871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Protein, PTMs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0440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50127" y="2404871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MS/MS, Antibody array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8967" y="2377439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4687" y="2404871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Intensity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6807" y="2697480"/>
            <a:ext cx="7498080" cy="13716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52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BFF"/>
                </a:solidFill>
                <a:latin typeface="Abadi"/>
              </a:defRPr>
            </a:pPr>
            <a:r>
              <a:t>Metabolomics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6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1327" y="2724912"/>
            <a:ext cx="17373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Polar, Lipit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0440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50127" y="2724912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LC-MS, GC-MS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98967" y="2697480"/>
            <a:ext cx="13716" cy="32004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44687" y="2724912"/>
            <a:ext cx="15544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EBFF"/>
                </a:solidFill>
                <a:latin typeface="Abadi"/>
              </a:defRPr>
            </a:pPr>
            <a:r>
              <a:t>Peak area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291839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MOFA+: Multi-Omics Factor Analysis | PLS-DA: Supervised DR</a:t>
            </a:r>
          </a:p>
          <a:p>
            <a:pPr>
              <a:defRPr sz="1400">
                <a:solidFill>
                  <a:srgbClr val="C8DCF0"/>
                </a:solidFill>
                <a:latin typeface="Abadi"/>
              </a:defRPr>
            </a:pPr>
            <a:r>
              <a:t>SNF: Similarity Network Fusion | iCluster: Integrative clustering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ÇALIŞMA SINIRLARI VE LİMİTASYONLAR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METODOLOJİK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1. SİMÜLE KATSAYILAR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Gerçek katsayılar lisans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gerektirir (UCSD)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2. POPÜLASYON TEMSİLİ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Çoğunlukla Avrupa kökenli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Trans-etnik validasyon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çalışmaları gerekli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3. TEKNİK VARYASYON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Lab protokol farklılıkları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Batch efektler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YORUMLAMA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4. NEDENSELLİK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Korelasyon ≠ Nedensellik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Mendelian randomizasyon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planlanıyor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5. BİREYSEL VARYASYON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 Genetik, çevre, yaşam tarzı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⚠️ PROTOTIP UYARISI: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Klinik karar için tek başına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kullanılmamalıdır. Danışman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hekim değerlendirmesi şart.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GELECEK ARAŞTIRMA YÖNELİMLERİ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KISA VADELİ (6-12 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Gerçek epigenetik saat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katsayıları lisans anlaşması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Prospektif pilot klinik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validasyon çalışması (n=200)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Türkiye popülasyonu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referans veritabanı başlangıcı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REST API geliştirme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Mobil uygulama (iOS/Android)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ORTA-UZUN VADELİ (1-5+ yıl)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ORTA VADELİ (1-3 yıl):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100,000+ profil veritabanı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5 yıllık longitudinal kohort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Tam multi-omics platform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CE-IVD hazırlık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UZUN VADELİ (3-5+ yıl):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FDA 510(k) / CE-IVD onay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Klinik lab entegrasyonu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• Uluslararası RCT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VİZYON: Kişiselleştirilmiş tıp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731520"/>
          </a:xfrm>
          <a:prstGeom prst="rect">
            <a:avLst/>
          </a:prstGeom>
          <a:solidFill>
            <a:srgbClr val="00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badi"/>
              </a:defRPr>
            </a:pPr>
            <a:r>
              <a:t>TEMEL REFERANSLAR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05840"/>
            <a:ext cx="18288" cy="5303520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EPİGENETİK SAATLER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Horvath S (2013)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Genome Biology 14:R115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Hannum G et al (2013)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Mol Cell 49:359-367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Levine ME et al (2018)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Aging 10:573-591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Lu AT et al (2019)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Aging 11:303-327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Belsky DW et al (2022)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eLife 11:e73420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303520" cy="411480"/>
          </a:xfrm>
          <a:prstGeom prst="roundRect">
            <a:avLst/>
          </a:prstGeom>
          <a:solidFill>
            <a:srgbClr val="00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E6FF"/>
                </a:solidFill>
                <a:latin typeface="Abadi"/>
              </a:defRPr>
            </a:pPr>
            <a:r>
              <a:t>BAĞIMLILIK &amp; KEMOİNFORMATİK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BAĞIMLILIK EPİGENETİĞİ: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Zillich L et al (2024)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Mol Psychiatry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Wangler LM et al (2022)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Drug Alcohol Depend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KEMOİNFORMATİK: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Weininger D (1988)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J Chem Inf Comput Sci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Rogers D, Hahn M (2010)</a:t>
            </a:r>
          </a:p>
          <a:p>
            <a:pPr>
              <a:spcAft>
                <a:spcPts val="300"/>
              </a:spcAft>
              <a:defRPr sz="1600">
                <a:solidFill>
                  <a:srgbClr val="E6F0FF"/>
                </a:solidFill>
                <a:latin typeface="Abadi"/>
              </a:defRPr>
            </a:pPr>
            <a:r>
              <a:t>  J Chem Inf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B4D2"/>
                </a:solidFill>
                <a:latin typeface="Abadi"/>
              </a:defRPr>
            </a:pPr>
            <a:r>
              <a:t>EpiClock v4.0 | 36,170 Yapısal Varyant | Dünyada İlk Kapsamlı Platform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7649614296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42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badi"/>
              </a:defRPr>
            </a:pPr>
            <a: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4D2F0"/>
                </a:solidFill>
                <a:latin typeface="Abadi"/>
              </a:defRPr>
            </a:pPr>
            <a:r>
              <a:t>Arş. Gör. Dr. Nurcan Denli Bayır | Adli Tıp Anabilim Dalı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CB4DC"/>
                </a:solidFill>
                <a:latin typeface="Abadi"/>
              </a:defRPr>
            </a:pPr>
            <a:r>
              <a:t>GitHub: github.com/mortemdulcem/epi-clock-DNA-mtl-prototype</a:t>
            </a:r>
            <a:br/>
            <a:r>
              <a:t>EpiClock v4.0 | 36,170 Yapısal Varyant | 35+ Modül | Dünyada İlk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