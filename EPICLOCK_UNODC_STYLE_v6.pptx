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badi"/>
              </a:defRPr>
            </a:pPr>
            <a:r>
              <a:t>DNA METİLASYON SAATLERİYLE BAĞIMLILIKTA</a:t>
            </a:r>
            <a:br/>
            <a:r>
              <a:t>EPİGENETİK YAŞ İVMELENMESİNİN TESPİTİ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4D2F0"/>
                </a:solidFill>
                <a:latin typeface="Abadi"/>
              </a:defRPr>
            </a:pPr>
            <a:r>
              <a:t>Detection of Epigenetic Age Acceleration in Addiction Using DNA Methylation Clocks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CB4DC"/>
                </a:solidFill>
                <a:latin typeface="Abadi"/>
              </a:defRPr>
            </a:pPr>
            <a:r>
              <a:t>Arş. Gör. Dr. Nurcan Denli Bayır | Adli Tıp Anabilim Dalı | EpiClock v4.0 | 36,170 Yapısal Varyant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EPİGENETİK: MOLEKÜLER BİYOLOJİNİN YENİ PARADİGMASI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05840"/>
            <a:ext cx="18288" cy="5303520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EPİGENETİK TANIM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DNA sekansında değişiklik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olmaksızın gen ekspresyonunun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kalıtsal modifikasyonları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Conrad Waddington (1942)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'Epigenetic Landscape' konsepti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Anahtar Kavram: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Kalıtsal ama reversibl değişiklikler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Çevresel faktörlere duyarlı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Hücre hafızası mekanizması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4 TEMEL MEKANİZMA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1. DNA METİLASYONU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• 5-metilsitozin (5mC)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• DNMT1, DNMT3A/B enzimleri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2. HİSTON MODİFİKASYONLARI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• Asetilasyon, Metilasyon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• H3K4me3, H3K27me3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3. NON-CODING RNA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• miRNA, lncRNA, piRNA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4. KROMATİN REMODELİNG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• SWI/SNF, ISWI, CHD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B4D2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DNA METİLASYON BİYOKİMYASI: MOLEKÜLER DETAYLAR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05840"/>
            <a:ext cx="18288" cy="5303520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5-METİLSİTOZİN OLUŞUMU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REAKSİYON: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Sitozin + SAM →→ 5mC + SAH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     (DNMT enzimi)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DNMT AİLESİ: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DNMT1 (Maintenance)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Hemimetile DNA tanıma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Replikasyonda patern koruma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DNMT3A/3B (De novo)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Yeni metilasyon paternleri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DEMETİLASYON YOLAĞI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TET ENZİMLERİ: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5mC → 5hmC → 5fC → 5caC → C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TET1, TET2, TET3: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α-ketoglutarat bağımlı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dioksigenazlar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CpG ADALARI: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GC içeriği &gt;50%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O/E CpG oranı &gt;0.6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Uzunluk &gt;200 bp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Promoter regülasyonu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B4D2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EPİGENETİK SAAT: MATEMATİKSEL MODELLEME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05840"/>
            <a:ext cx="18288" cy="5303520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TAHMİN DENKLEMİ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DNAmAge = α + Σ(βᵢ × Mᵢ)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Parametreler: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Mᵢ = CpG β-değeri (0-1)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βᵢ = Regresyon katsayısı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α = İntercept değeri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n = CpG sayısı (353-1030)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Model Tipi: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ElasticNet Regression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(L1 + L2 regularization)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VALİDASYON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ELASTİCNET FORMÜLÜ: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L(β) = ||y-Xβ||² + λ₁||β||₁ + λ₂||β||²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L1 (Lasso): Özellik seçimi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L2 (Ridge): Multikolinearite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PERFORMANS: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LOOCV cross-validation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Pearson r &gt; 0.95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MAE: 2.5-4 yıl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Training: N &gt; 8,000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B4D2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EPİGENETİK YAŞ İVMELENMESİ (EAA)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05840"/>
            <a:ext cx="18288" cy="5303520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EAA FORMÜLÜ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EAA = DNAmAge - Kronolojik Yaş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İKİ TİP EAA: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IEAA (Intrinsic):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Hücre-içi yaşlanma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Kan kompozisyonundan bağımsız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EEAA (Extrinsic):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İmmunosenescence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Bağışıklık yaşlanması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DunedinPACE: Yaşlanma hızı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(Referans değer: 1.0)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KLİNİK KORELASYONLAR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POZİTİF EAA (+):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Hızlanmış biyolojik yaşlanma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Mortalite HR: 1.03-1.09/yıl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KVS hastalık riski ↑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Nörodejenerasyon riski ↑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Kanser insidansı ↑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NEGATİF EAA (-):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Yavaşlamış yaşlanma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Süper-yüzlüler özelliği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Sağlıklı yaşam tarzı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B4D2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5 MAJOR EPİGENETİK SAAT: KARŞILAŞTIRMA TABLOSU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05840"/>
            <a:ext cx="18288" cy="5303520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SAAT 1-3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┌─────────────────────────┐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1. HORVATH (2013)  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• 353 CpG sitesi   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• 51 doku tipi     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• MAE: 3.6 yıl     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• Pan-tissue       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├─────────────────────────┤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2. HANNUM (2013)   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• 71 CpG sitesi    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• Kan optimize     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• MAE: 3.9 yıl     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├─────────────────────────┤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3. PHENOAGE (2018) 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• 513 CpG sitesi   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• 9 klinik biyobelirteç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└─────────────────────────┘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SAAT 4-5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┌─────────────────────────┐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4. GRIMAGE (2019)  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• 1,030 CpG sitesi 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• 7 plazma protein 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• En güçlü mortalite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  prediktörü       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• HR: 1.10 per yıl EAA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├─────────────────────────┤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5. DUNEDINPACE (2022)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• 173 CpG sitesi   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• 19 organ sistem  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• Yaşlanma HIZI ölçümü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• 20 yıllık longitudinal│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• Tek ölçümden veri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└─────────────────────────┘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B4D2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KEMOİNFORMATİK: HESAPLAMALI KİMYA VE VERİ BİLİMİ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05840"/>
            <a:ext cx="18288" cy="5303520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TANIM VE KAPSAM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KEMOİNFORMATİK (Brown, 1998):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'Kimyasal bilginin toplanması,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depolanması, analizi için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bilgisayar bilimi tekniklerinin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uygulanması'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UYGULAMA ALANLARI: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İlaç keşfi ve geliştirme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Toksikoji tahmini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Madde tespiti (forensic)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NPS identifikasyonu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4 TEMEL ALAN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1. MOLEKÜLER TEMSİL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SMILES, InChI, Fingerprints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2. QSAR/QSPR MODELLEMESİ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Yapı-Aktivite İlişkileri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3. SANAL TARAMA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• Ligand-bazlı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• Yapı-bazlı (docking)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• Farmakofor-bazlı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4. ADMET TAHMİNİ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Farmakokineik özellikler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B4D2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SMILES NOTASYONU: MOLEKÜLER TEMSİL SİSTEMİ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05840"/>
            <a:ext cx="18288" cy="5303520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SMILES KURALLARI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Weininger (1988):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ASCII ile lineer kodlama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ATOMLAR: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C, N, O, S, P, F, Cl, Br, I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(lowercase = aromatik)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BAĞLAR: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- (single), = (double)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# (triple), : (aromatik)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DALLANMA: ()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HALKA: rakamlar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STEREO: @, @@, /, \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ÖRNEK SMILES YAPILARI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┌──────────────────────┐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MORFİN:         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CN1CC[C@]23c4c5ccc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├──────────────────────┤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FENTANİL:       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CCC(=O)N(c1ccccc1)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C2CCN(CCc3ccccc3)CC2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├──────────────────────┤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THC:            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CCCCCc1cc(O)c2...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├──────────────────────┤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MDMA:           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CC(NC)Cc1ccc2OCOc2c1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├──────────────────────┤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KOKAİN:         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COC(=O)C1C2CCC...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└──────────────────────┘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B4D2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MOLEKÜLER PARMAK İZLERİ (FINGERPRINTS)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05840"/>
            <a:ext cx="18288" cy="5303520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PARMAK İZİ TİPLERİ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1. SUBSTRUCTURE FP: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MACCS Keys (166 bit):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Önceden tanımlanmış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fonksiyonel gruplar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PubChem (881 bit):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Geniş yapısal özellik seti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2. CIRCULAR FP: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ECFP4: Yarıçap 2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ECFP6: Yarıçap 3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Morgan: RDKit versiyon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BENZERLİK ANALİZİ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TANİMOTO KATSAYİSİ: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T(A,B) = |A∩B| / |A∪B|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En yaygın metrik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0-1 arası değer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&gt;0.85: Yüksek benzerlik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DICE KATSAYİSİ: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D(A,B) = 2|A∩B| / (|A|+|B|)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UYGULAMALAR: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Sanal tarama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NPS sınıflandırma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B4D2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QSAR/QSPR: YAPI-AKTİVİTE İLİŞKİLERİ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05840"/>
            <a:ext cx="18288" cy="5303520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QSAR PARADİGMASI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Hansch &amp; Fujita (1964):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Aktivite = f(Tanımlayıcılar)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TANIMLAYICI TİPLERİ: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1D: Atom sayısı, MW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2D: Topolojik indeksler,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 Bağlanabilirlik, ECFP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3D: Yüzey alanı, Hacim,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 Farmakofor özellikleri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LİPİNSKİ KURALI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Rule of Five (1997):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┌─────────────────────┐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MW      ≤ 500 Da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logP    ≤ 5    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HBD     ≤ 5    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HBA     ≤ 10   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└─────────────────────┘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→ Oral biyoyararlanım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→ %90 ilaç adayı uyumlu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FİZİKOKİMYASAL: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logP, pKa, PSA, RotBonds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B4D2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ADMET TAHMİNLERİ: FARMAKOKİNETİK MODELLEMESİ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05840"/>
            <a:ext cx="18288" cy="5303520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A - D PARAMETRELERİ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ABSORPSİYON (A):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Caco-2 permeabilite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PAMPA assay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P-gp substrat/inhibitor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İntestinal absorpsiyon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DAĞILIM (D):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BBB geçirgenliği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logBB &gt; 0.3 → CNS aktif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VDss (dağılım hacmi)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PPB (protein bağlanma)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M - E - T PARAMETRELERİ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METABOLİZMA (M):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CYP450 İnhibisyonu: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1A2, 2C9, 2C19, 2D6, 3A4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Metabolik stabilite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Intrinsic clearance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TOKSİSİTE (T):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hERG → QT uzaması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DILI → Hepatotoksisite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AMES → Mutajenite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LD50 tahminleri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B4D2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FARMAKOFOR MODELLEMESİ: 3D YAPI-AKTİVİTE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05840"/>
            <a:ext cx="18288" cy="5303520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FARMAKOFOR TANIMI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IUPAC (1998):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'Biyolojik hedefe optimal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supramoleküler etkileşimleri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sağlayan sterik ve elektronik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özelliklerin 3D düzenlemesi'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Ortak izosterik özellikler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tüm aktif ligandlarda mevcut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EPİCLOCK: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16 farmakofor çekirdeği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× 120 türev = 1,920 bileşik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FARMAKOFOR ÖZELLİKLERİ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┌────────────────────────┐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HBA: H-bond Akseptör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    N, O lone pairs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├────────────────────────┤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HBD: H-bond Donör 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    -NH, -OH grupları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├────────────────────────┤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HYD: Hidrofobik   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    Alifatik, Aromatik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├────────────────────────┤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AR: Aromatik Halka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    π-π stacking  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├────────────────────────┤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PI/NI: İyonize gruplar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└────────────────────────┘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B4D2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EPİCLOCK VERİTABANI: 36,170 YAPISAL VARYANT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05840"/>
            <a:ext cx="18288" cy="5303520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VERİTABANI MODÜLLER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┌──────────────────────────┐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MODÜL              N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├──────────────────────────┤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Temel Madde DB    1,815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NPS Türevleri     2,822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Polisubstans        257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Sentez Rxn          31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Metabolik Yolak     48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Farmakofor Lib    1,920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Metabolit Tah.    6,240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Markush Var.     29,277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├──────────────────────────┤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TOPLAM           36,170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└──────────────────────────┘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VERİ YAPISI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MOLEKÜLER TEMSİL: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SMILES (RDKit validated)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InChI / InChIKey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Canonical representation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HESAPLANAN ÖZELLİKLER: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MW (Moleküler Ağırlık)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logP (Lipofiliklik)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PSA (Polar Surface Area)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pKa (İyonizasyon)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HBA / HBD (H-bağı)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RotBonds (Esneklik)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TPSA (Topological PSA)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B4D2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YENİ PSİKOAKTİF MADDELER (NPS): 9 KİMYASAL SINIF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05840"/>
            <a:ext cx="18288" cy="5303520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SINIF 1-3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1. SENTETİK KANABİNOİDLER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n = 784 türev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• JWH-018, AM-2201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• CB1 tam agonist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• THC'nin 10-50x potent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2. SENTETİK KATİNONLAR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n = 840 türev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• Mephedrone, MDPV, α-PVP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• DAT/NET/SERT inhibitor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3. FENTANİL ANALOGLARI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n = 416 türev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• Carfentanil (100x morfin)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• μ-opioid tam agonist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SINIF 4-5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4. NİTAZENLER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n = 208 türev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⚠️ EN TEHLİKELİ SINIF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• Etonitazene (1000x morfin)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• Benzimidazol iskeleti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• Yüksek overdoz riski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5. TRİPTAMİNLER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n = 156 türev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• DMT, 5-MeO-DMT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• Psilosibin, αMT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• 5-HT2A agonist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• Halüsinojenik etki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B4D2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NPS KİMYASAL SINIFLARI (DEVAM)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05840"/>
            <a:ext cx="18288" cy="5303520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SINIF 6-7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6. FENETİLAMİNLER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n = 192 türev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• 2C-x serisi: 2C-B, 2C-I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  (Alexander Shulgin)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• NBOMe serisi: 25I-NBOMe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  (LSD'nin 10x potent)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• DOx serisi: DOM, DOB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  (Uzun etki süresi)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7. DİZAYNER BENZODİAZEPİNLER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n = 128 türev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• Flualprazolam, Clonazolam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• GABA-A PAM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SINIF 8-9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8. DİSSOSİYATİFLER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n = 64 türev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Arilsikloheksilaminler: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• 3-MeO-PCP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• MXE (Methoxetamine)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• DCK (Deschloroketamine)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• NMDA antagonist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9. DİĞER NPS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n = 34 türev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• GHB analogları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• Aminoindanlar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• Piperazinler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B4D2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MARKUSH YAPI SİSTEMİ: KOMBİNATORYEL ÖNGÖRÜ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05840"/>
            <a:ext cx="18288" cy="5303520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MARKUSH TANIMI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Patent Terminolojisi: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Değiştirilebilir grupların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(R-grupları) sistematik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olarak tanımlandığı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jenerik yapı temsili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FORMÜL: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Core-Scaffold +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[R₁][R₂][R₃]...[Rₙ]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Core = Ana iskelet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Rₙ = Değişken substitüent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EPİCLOCK MARKUSH KURALLARI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10 YAPISAL KURAL: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┌─────────────────────────┐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Kural 1: Nitazenler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        → 5,200 varyant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Kural 2: Fenetilaminler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        → 4,800 varyant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Kural 3: Triptaminler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        → 3,600 varyant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Kural 4: Benzodiazepinler│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        → 3,200 varyant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Kural 5-10: Diğer  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        → 12,477 varyant│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├─────────────────────────┤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TOPLAM: 29,277 varyant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└─────────────────────────┘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B4D2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MARKUSH SUBSTİTÜENT PALETİ: R-GRUP DEĞİŞKENLERİ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05840"/>
            <a:ext cx="18288" cy="5303520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HALOJEN &amp; ALKİL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HALOJEN SUBSTİTÜSYONU: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R = -F (fluoro)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R = -Cl (chloro)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R = -Br (bromo)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R = -I (iodo)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Pozisyon: 2-, 3-, 4-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(ortho, meta, para)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ALKİL SUBSTİTÜSYONU: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-CH₃, -C₂H₅, -C₃H₇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i-propil, t-butil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siklopropil, siklobutil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ALKOKSİ &amp; AZOT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ALKOKSİ SUBSTİTÜSYONU: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R = -OCH₃ (metoksi)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R = -OC₂H₅ (etoksi)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R = -OCF₃ (trifluorometoksi)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AZOT MODİFİKASYONLARI: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(N-alkilasyon)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N-metil, N-etil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N-propil, N-benzil, N-allil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HALKA MODİFİKASYONLARI: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5→6, 6→7 (genişleme)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C→N, C→O, C→S (heteroatom)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B4D2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IN SILICO RESEPTÖR AFİNİTE TAHMİNLERİ (Ki, nM)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05840"/>
            <a:ext cx="18288" cy="5303520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TAHMİN YÖNTEMLERİ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HESAPLAMALI YAKLAŞIMLAR: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1. QSAR Modelleri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RF, SVM, DNN regresyon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2. Molecular Docking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AutoDock Vina, Glide, GOLD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3. FEP (Free Energy)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Termodinamik hesaplama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VALİDASYON: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Cross-validation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Deneysel Ki korelasyonu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RMSE &lt; 1 log unit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EPİCLOCK RESEPTÖR PANELİ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┌────────────────────────┐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DAT (SLC6A3)      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→ Uyarıcı etki    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├────────────────────────┤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SERT (SLC6A4)     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→ SSRI/MDMA aktivite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├────────────────────────┤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5-HT2A (HTR2A)    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→ Halüsinojen aktivite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├────────────────────────┤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OPRM1 (μ-Opioid)  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→ Analjezi, bağımlılık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├────────────────────────┤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CB1 (CNR1)        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→ Kannabimimetik etki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└────────────────────────┘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B4D2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KAN-BEYİN BARİYERİ (BBB) GEÇİRGENLİK TAHMİNİ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05840"/>
            <a:ext cx="18288" cy="5303520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BBB FİZYOLOJİSİ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YAPI: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Tight junctions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Claudin-5, Occludin, ZO-1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Efflux transporterları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P-gp (ABCB1)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BCRP (ABCG2)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MRP (ABCC)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Metabolik enzimler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CYP1B1, CYP2D6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UGT, SULT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GEÇİRGENLİK KRİTERLERİ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logBB (Brain/Blood):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┌─────────────────────────┐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logBB &gt; 0.3  → CNS aktif│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logBB &lt; -1.0 → Periferik│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└─────────────────────────┘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PSA EŞİK DEĞERLERİ: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PSA &lt; 60 Ų  → Yüksek BBB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PSA 60-90 Ų → Orta BBB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PSA &gt; 90 Ų  → Düşük BBB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EPİCLOCK (1,920 bileşik):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BBB+: 1,144 | BBB-: 776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B4D2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METABOLİT TAHMİN SİSTEMİ: 6,240 ÖNGÖRÜLEN METABOLİT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05840"/>
            <a:ext cx="18288" cy="5303520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FAZ I REAKSİYONLARI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CYP450 Biyotransformasyon: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Aromatik Hidroksilasyon: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Ar-H → Ar-OH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Alifatik Hidroksilasyon: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R-CH₃ → R-CH₂-OH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N-dealkilasyon: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R-N(CH₃)₂ → R-NH₂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O-dealkilasyon: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R-O-CH₃ → R-OH + HCHO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N/S-oksidasyon: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R₃N → R₃N→O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FAZ II &amp; PİROLİZ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KONJUGASYON: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UGT Glukuronidasyon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R-OH + UDPGA → R-O-Gluk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SULT Sülfatasyon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R-OH + PAPS → R-O-SO₃H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GST Glutatyon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Elektrofil + GSH → GS-X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NAT Asetilasyon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R-NH₂ → R-NH-COCH₃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PİROLİZ ÜRÜNLERİ: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Termal dekompozisyon &gt;200°C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B4D2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DNA METİLASYON REFERANS VERİTABANI: 10,542 PROFİL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05840"/>
            <a:ext cx="18288" cy="5303520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VERİ KAYNAKLARI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15 BAĞIMSIZ KOHORT: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PLATFORMLAR: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Illumina 450K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485,577 CpG sitesi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Illumina EPIC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866,895 CpG sitesi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WGBS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~28 milyon CpG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Coğrafya: ABD, Avrupa, Asya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POPÜLASYON DAĞILIMI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┌────────────────────────┐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KATEGORİ         N   %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├────────────────────────┤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Alkol KB      2,183 21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Opioid KB     1,360 13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Kokain KB     1,030 10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Polisubstans    720  7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Esrar KB        194  2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Metamfetamin     48  0.5│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Kontrol       5,007 47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├────────────────────────┤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TOPLAM       10,542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└────────────────────────┘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B4D2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MADDEYE ÖZGÜ EAA SONUÇLARI (GrimAge-Bazlı)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05840"/>
            <a:ext cx="18288" cy="5303520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EAA TABLOSU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┌───────────────────────────┐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MADDE         EAA   95%CI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├───────────────────────────┤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Polisubstans +7.3  6.4-8.3│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Metamfetamin +6.2  4.5-8.1│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Kokain       +4.1  3.5-4.7│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Alkol        +3.6  3.1-4.2│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Opioidler    +2.9  2.5-3.4│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Esrar        +0.8  0.3-1.4│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Kontrol       0.0  ref.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└───────────────────────────┘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Tüm gruplar p &lt; 0.01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İSTATİSTİKSEL ANALİZ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DOZ-YANIT İLİŞKİSİ: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Kullanım yılı × EAA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r = 0.67, p &lt; .001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EFFECT SIZE (Cohen's d):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Polisubstans vs Kontrol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d = 1.42 (çok büyük etki)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MORTALİTE HAZARDİ: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GrimAge EAA per yıl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HR = 1.10 (1.08-1.12)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p &lt; .001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B4D2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MEDİASYON ANALİZİ: NEDENSELLİK MODELLEMESİ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05840"/>
            <a:ext cx="18288" cy="5303520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MEDİASYON MODELİ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Baron &amp; Kenny (1986):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 X → M → Y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Madde Kullanımı (X)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 ↓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DNA Metilasyonu (M)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 ↓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EAA (Y)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HIPOTEZ: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DNA metilasyonu mediator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olarak işlev görür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YOLAK ANALİZİ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┌─────────────────────────┐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YOLAK         β     p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├─────────────────────────┤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c (Total)    4.30 &lt;.001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a (X→M)     -0.15 &lt;.001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b (M→Y)    -12.40 &lt;.001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c' (Direct)  2.44 &lt;.001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└─────────────────────────┘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İNDİREKT ETKİ: ab = 1.86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Mediasyon: ab/c = 43.3%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Bootstrap 95% CI: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(1.42 - 2.31) → Anlamlı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B4D2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MAKİNE ÖĞRENMESİ ENSEMBLE MODELİ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05840"/>
            <a:ext cx="18288" cy="5303520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ENSEMBLE MİMARİSİ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WEIGHTED VOTING: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Ŷ = w₁×RF + w₂×XGB + w₃×EN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1. RANDOM FOREST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w₁ = 0.35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n_estimators = 500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max_depth = 20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2. XGBOOST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w₂ = 0.45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learning_rate = 0.01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n_estimators = 1000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3. ELASTICNET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w₃ = 0.20, α = 0.5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MODEL PERFORMANSI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10-FOLD CV SONUÇLARI: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┌─────────────────────────┐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METRİK        DEĞER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├─────────────────────────┤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MAE          2.1 yıl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RMSE         2.8 yıl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R²           0.96  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Pearson r    0.98  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└─────────────────────────┘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FEATURE IMPORTANCE: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Top 20 CpG: %65 varyans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GrimAge components: %25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Clinical features: %10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B4D2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POLİSUBSTANS KOMBİNASYONLARI: SİNERJİ MATRİSİ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05840"/>
            <a:ext cx="18288" cy="5303520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SİNERJİ HESAPLAMA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FORMÜL: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SF = Gözlenen / Beklenen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SF &gt; 1.0 → Sinerjistik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SF = 1.0 → Aditif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SF &lt; 1.0 → Antagonistik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MEKANİZMALAR: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Solunum depresyonu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Kardiyotoksisite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Serotonin sendromu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Hepatotoksisite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RİSKLİ KOMBİNASYONLAR (n=257)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┌──────────────────────────┐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KOMB.        SF   ÖLÜM %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├──────────────────────────┤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Grey Death   4.2   50%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(Fent+Her+Carf)     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Purple Dope  3.5   45%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(Fent+Heroin)       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Speedball    2.8   35%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(Kok+Heroin)        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Benzo+Opioid 3.2   30%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Alkol+Opioid 2.8   28%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Candy Flip   1.8    5%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(MDMA+LSD)           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└──────────────────────────┘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B4D2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BLOCKCHAIN DENETİM İZİ: KRİPTOGRAFİK BÜTÜNLÜK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05840"/>
            <a:ext cx="18288" cy="5303520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BLOCKCHAIN MİMARİSİ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Block[n] = {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timestamp: ISO 8601,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sample_id: UUID,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analysis_params: JSON,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result_hash: SHA-256,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prev_hash: Block[n-1],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nonce: PoW solution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}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ZİNCİR DOĞRULAMA: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Block[n].hash =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SHA256(prev_hash || data)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Değişiklik → Tüm hash'ler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SHA-256 &amp; ADLİ GEÇERLİLİK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SHA-256 (NIST FIPS 180-4):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H(m) = 256-bit digest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GÜVENLİK: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Çarpışma: O(2¹²⁸)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Preimage: O(2²⁵⁶)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ÖZELLİKLER: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Tamper-evident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Immutable kayıt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Zaman damgası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ADLİ STANDART: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Daubert/Frye uyumlu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B4D2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POSTMORTEM DNA METİLASYON ANALİZİ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05840"/>
            <a:ext cx="18288" cy="5303520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POSTMORTEM ZORLUKLAR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PMI ETKİLERİ: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Hücre ölümü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Apoptoz → Nekroz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DNA degradasyonu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Endonükleaz aktivitesi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Bakteriyel kontaminasyon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Endojen mikrobiom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Çevresel faktörler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Sıcaklık, nem, pH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PMI DÜZELTME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DÜZELTME MODELİ: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DNAmAge_corr = DNAmAge_raw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          - f(PMI, T, Doku)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DOKU STABİLİTE: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┌─────────────────────────┐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PMI(saat)  r    MAE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├─────────────────────────┤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  0-48   &gt;0.95  2.5 yıl│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 48-72   &gt;0.85  4.2 yıl│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 72-168  &gt;0.70  6.8 yıl│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└─────────────────────────┘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B4D2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MULTİ-OMİKS ENTEGRASYON STRATEJİLERİ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05840"/>
            <a:ext cx="18288" cy="5303520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OMİKS KATMANLARI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VERİ TİPLERİ: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GENOMICS: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SNP, CNV, SV, Indels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EPIGENOMICS: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5mC, 5hmC, Histon marks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TRANSCRIPTOMICS: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mRNA, ncRNA, splicing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PROTEOMICS: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Protein, PTMs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METABOLOMICS: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Polar, Lipit metabolitler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ENTEGRASYON YÖNTEMLERİ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1. MOFA+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(Multi-Omics Factor Analysis)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Probabilistic latent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factor model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K faktör × N omiks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2. PLS-DA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(Partial Least Squares)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Supervised dimensionality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reduction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3. SNF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(Similarity Network Fusion)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Patient similarity networks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B4D2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KLİNİK KARAR DESTEK SİSTEMİ: RİSK STRATİFİKASYONU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05840"/>
            <a:ext cx="18288" cy="5303520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RİSK KATEGORİLERİ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┌──────────────────────────┐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RİSK       EAA   AKSİYON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├──────────────────────────┤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Minimal   &lt;+1   Rutin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Düşük    1-3    Yaşam T.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Orta     3-5    Aktif İz.│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Yüksek   5-8    Yoğun Td.│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Çok Y.   ≥+8    Acil Müd.│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└──────────────────────────┘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PROGNOSTİK: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GrimAge HR: 1.10/yıl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DunedinPACE &gt; 1.2 →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KİŞİSELLEŞTİRİLMİŞ ÖNERİLER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FARMAKOGENETİK: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CYP2D6 genotipleme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CYP3A4 metabolizer status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Doza göre ayarlama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YAŞAM TARZI: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Mediterranean diyet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HIIT egzersiz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Uyku hijyeni (7-9 saat)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Stres yönetimi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⚠️ Karar destek aracı,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klinik değerlendirme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yerini almaz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B4D2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MALİYET-ETKİNLİK ANALİZİ: ROI HESAPLAMASI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05840"/>
            <a:ext cx="18288" cy="5303520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GELENEKSEL YÖNTEM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PER ÖRNEK MALİYET: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┌─────────────────────────┐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WGBS           $2,500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450K/EPIC       $400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Biyoinformatik  $200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├─────────────────────────┤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TOPLAM        ~$3,100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└─────────────────────────┘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SÜRE: 2-4 hafta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GEREKSİNİM: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Yüksek miktarda DNA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Uzman personel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Pahalı ekipman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EPİCLOCK YAKLAŞIMI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PER ÖRNEK MALİYET: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┌─────────────────────────┐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Hedefli Panel    $80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Platform analizi  $0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├─────────────────────────┤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│ TOPLAM          ~$80    │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└─────────────────────────┘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TASARRUF: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Per örnek: $3,020 (%97.4)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1,000 örnek için: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$3,020,000 tasarruf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SÜRE: 24 saat turnaround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B4D2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ÇALIŞMA SINIRLARI VE LİMİTASYONLAR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05840"/>
            <a:ext cx="18288" cy="5303520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METODOLOJİK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1. SİMÜLE KATSAYILAR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Gerçek epigenetik saat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katsayıları proprietary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(UCSD lisans gerekli)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2. POPÜLASYON TEMSİLİ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Çoğunlukla Avrupa kökenli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Trans-etnik validasyon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çalışmaları gerekli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3. TEKNİK VARYASYON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Farklı lab protokolleri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Batch efektler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YORUMLAMA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4. NEDENSELLİK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Gözlemsel veri limiti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Korelasyon ≠ Nedensellik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Mendelian randomizasyon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çalışmaları planlanıyor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5. BİREYSEL VARYASYON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Genetik faktörler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Çevresel faktörler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Yaşam tarzı değişkenleri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⚠️ PROTOTIP UYARISI: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Klinik karar için tek başına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kullanılmamalıdır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B4D2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GELECEK ARAŞTIRMA YÖNELİMLERİ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05840"/>
            <a:ext cx="18288" cy="5303520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KISA VADELİ (6-12 ay)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Gerçek epigenetik saat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katsayıları lisans anlaşması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Prospektif pilot klinik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validasyon çalışması (n=200)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Türkiye popülasyonu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referans veritabanı başlangıcı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REST API geliştirme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Mobil uygulama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ORTA-UZUN VADELİ (1-5+ yıl)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ORTA VADELİ (1-3 yıl):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100,000+ profil veritabanı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Longitudinal kohort (5 yıl)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Multi-omics platform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CE-IVD hazırlık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UZUN VADELİ (3-5+ yıl):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FDA 510(k) / CE-IVD onay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Klinik lab entegrasyonu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Uluslararası RCT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VİZYON: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Kişiselleştirilmiş bağımlılık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tıbbı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B4D2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TEMEL REFERANSLAR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05840"/>
            <a:ext cx="18288" cy="5303520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EPİGENETİK SAATLER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Horvath S (2013)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Genome Biology 14:R115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Hannum G et al (2013)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Mol Cell 49:359-367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Levine ME et al (2018)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Aging 10:573-591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Lu AT et al (2019)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GrimAge. Aging 11:303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Belsky DW et al (2022)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DunedinPACE. eLife 11:e73420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303520" cy="45720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789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E6FF"/>
                </a:solidFill>
                <a:latin typeface="Abadi"/>
              </a:defRPr>
            </a:pPr>
            <a:r>
              <a:t>BAĞIMLILIK &amp; KEMOİNFORMATİK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BAĞIMLILIK EPİGENETİĞİ: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Zillich L et al (2024)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Mol Psychiatry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Wangler LM et al (2022)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Drug Alcohol Depend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KEMOİNFORMATİK: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Weininger D (1988)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J Chem Inf Comput Sci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Rogers D, Hahn M (2010)</a:t>
            </a:r>
          </a:p>
          <a:p>
            <a:pPr>
              <a:spcAft>
                <a:spcPts val="4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ECFP. J Chem Inf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B4D2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badi"/>
              </a:defRPr>
            </a:pPr>
            <a:r>
              <a:t>TEŞEKKÜRLER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4D2F0"/>
                </a:solidFill>
                <a:latin typeface="Abadi"/>
              </a:defRPr>
            </a:pPr>
            <a:r>
              <a:t>Arş. Gör. Dr. Nurcan Denli Bayır | Adli Tıp Anabilim Dalı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CB4DC"/>
                </a:solidFill>
                <a:latin typeface="Abadi"/>
              </a:defRPr>
            </a:pPr>
            <a:r>
              <a:t>GitHub: github.com/mortemdulcem/epi-clock-DNA-mtl-prototype</a:t>
            </a:r>
            <a:br/>
            <a:r>
              <a:t>EpiClock v4.0 | 36,170 Yapısal Varyant | Dünyada İlk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