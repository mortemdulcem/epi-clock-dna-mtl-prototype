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DNA METİLASYON SAATLERİYLE BAĞIMLILIKTA</a:t>
            </a:r>
            <a:br/>
            <a:r>
              <a:t>EPİGENETİK YAŞ İVMELENMESİNİN TESPİTİ:</a:t>
            </a:r>
            <a:br/>
            <a:r>
              <a:t>UÇTAN UCA HESAPLAMALI BİR YAKLAŞIM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4C8DC"/>
                </a:solidFill>
              </a:defRPr>
            </a:pPr>
            <a:r>
              <a:t>Detection of Epigenetic Age Acceleration in Addiction Using DNA Methylation Clocks:</a:t>
            </a:r>
            <a:br/>
            <a:r>
              <a:t>An End-to-End Computational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AABE"/>
                </a:solidFill>
              </a:defRPr>
            </a:pPr>
            <a:r>
              <a:t>Arş. Gör. Dr. Nurcan Denli Bayır | Adli Tıp Anabilim Dalı</a:t>
            </a:r>
            <a:br/>
            <a:r>
              <a:t>EpiClock v4.0 Computational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EPİGENETİK: MOLEKÜLER BİYOLOJİNİN YENİ PARADİGMASI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TANIM: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 sekansında değişiklik olmaksızın gen ekspresyonunun kalıtsal modifikasyonları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(Conrad Waddington, 1942 - 'Epigenetic Landscape' konsepti)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TEMEL EPİGENETİK MEKANİZMALAR: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DNA METİLASYONU (5-metilsitozin, 5mC):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DNMT1, DNMT3A, DNMT3B enzimleri tarafından katalizlenen metil transferi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S-adenozilmetiyonin (SAM) metil donör olarak kullanılır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CpG dinükleotidlerinde sitozinin C5 pozisyonuna metil grubu eklenmesi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HİSTON MODİFİKASYONLARI: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Asetilasyon (HAT/HDAC), Metilasyon (HMT/HDM), Fosforilasyon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H3K4me3 (aktivasyon), H3K27me3 (baskılama), H3K9ac (açık kromatin)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NON-CODING RNA'LAR: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miRNA, lncRNA, piRNA, circRNA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KROMATİN REMODELİNG: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SWI/SNF, ISWI, CHD, INO80 kompleksleri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DNA METİLASYON BİYOKİMYASI: MOLEKÜLER DETAYLAR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5-METİLSİTOZİN (5mC) OLUŞUM MEKANİZMASI: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Sitozin + SAM  ────DNMT────&gt;  5-metilsitozin + SAH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(C)                            (5mC)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 METİLTRANSFERAZLAR (DNMT):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DNMT1 (Maintenance Methyltransferase):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Hemimetile DNA'yı tanır, replikasyon sırasında metilasyon paternini korur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UHRF1 (SRA domain) ile işbirliği yapar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DNMT3A/3B (De novo Methyltransferases):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Yeni metilasyon paternleri oluşturur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DNMT3L kofaktörü ile aktivite artar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DEMETİLASYON YOLAĞI (TET Enzimleri):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5mC → 5hmC → 5fC → 5caC → Sitozin (TDG/BER pathway)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(TET1/2/3: Ten-Eleven Translocation enzymes)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CpG ADALARI: GC içeriği &gt;50%, O/E CpG oranı &gt;0.6, uzunluk &gt;200 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EPİGENETİK SAAT TEORİSİ: MATEMATİKSEL MODELLEME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YAŞ TAHMİN MODELİ: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DNAmAge = α + Σ(βᵢ × Mᵢ)  ,  i = 1, ..., 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Mᵢ = CpG sitesinin metilasyon β-değeri (0-1 aralığı)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βᵢ = ElasticNet regresyon katsayısı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α = İntercept (offset) değeri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n = Modele dahil CpG sayısı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REGULARIZASYON (ElasticNet):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L(β) = ||y - Xβ||² + λ₁||β||₁ + λ₂||β||²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L1 (Lasso): Özellik seçimi sağlar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L2 (Ridge): Multikolineariteyi düzeltir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α = λ₁/(λ₁+λ₂) : ElasticNet mixing parametresi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MODEL VALİDASYONU: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Leave-One-Out Cross-Validation (LOOCV)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Pearson korelasyonu: r &gt; 0.95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Mean Absolute Error (MAE): 2-4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EPİGENETİK YAŞ İVMELENMESİ (EAA): KLİNİK İMPLİKASYONLAR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YAŞ İVMELENMESİ (Epigenetic Age Acceleration):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EAA = DNAmAge - Kronolojik Yaş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IEAA (Intrinsic EAA): Kan hücre kompozisyonundan bağımsız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EEAA (Extrinsic EAA): Bağışıklık sistemi yaşlanmasını yansıtır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KLİNİK KORELASYONLAR: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Pozitif EAA (+) → Hızlanmış Biyolojik Yaşlanma: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Artmış mortalite riski (HR: 1.03-1.09 per yıl)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Kardiyovasküler hastalık riski ↑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Nörodejeneratif hastalık riski ↑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Kanser insidansı ↑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Negatif EAA (-) → Yavaşlamış Biyolojik Yaşlanma: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Süper-yüzlüler (supercentenarians)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- Sağlıklı yaşam tarzı koruyucu etki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YAŞLANMA HIZI (DunedinPACE): Yıllık biyolojik yaşlanma oranı (referans: 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MAJOR EPİGENETİK SAAT: KARŞILAŞTIRMALI ANALİZ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1. HORVATH PAN-TİSSUE CLOCK (2013):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353 CpG, 51 doku/hücre tipi, ElasticNet (α=0.5)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Multi-tissue aplikasyon, MAE: 3.6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2. HANNUM BLOOD CLOCK (2013):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71 CpG, kan örneği optimize, MAE: 3.9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Hücre kompozisyonu duyarlı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3. PHENOAGE (Levine, 2018):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513 CpG, 9 klinik biyobelirteç entegre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Fenotipik yaş tahmini, mortalite prediktif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Albumin, Kreatinin, Glukoz, CRP, Lenfosit, MCV, RDW, ALP, WBC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4. GRIMAGE (Lu, 2019):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1,030 CpG, DNA metilasyon-bazlı plazma protein tahmini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GrimAge komponenler: PAI-1, GDF15, Cystatin C, Leptin, TIMP-1, ADM, B2M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En güçlü mortalite prediktörü (HR: 1.10 per yıl)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5. DUNEDINPACE (Belsky, 2022):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173 CpG, yaşlanma hızı ölçümü (pace of aging)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19 organ sistem biyobelirteci longitudinal takip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KEMOİNFORMATİK: HESAPLAMALI KİMYA VE VERİ BİLİMİ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KEMOİNFORMATİK (Chemoinformatics / Cheminformatics) TANIM: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Kimyasal bilginin toplanması, depolanması, analizi ve yorumlanması için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bilgisayar bilimi ve bilgi teknolojisi tekniklerinin uygulanması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(F.K. Brown, 1998)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TEMEL KEMOİNFORMATİK ALANLAR: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MOLEKÜLER TEMSİL (Molecular Representation):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SMILES (Simplified Molecular Input Line Entry System)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InChI (International Chemical Identifier)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Molecular Fingerprints (ECFP, MACCS, Morgan)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QSAR/QSPR MODELLEMESİ: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Quantitative Structure-Activity Relationships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Quantitative Structure-Property Relationships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SANAL TARAMA (Virtual Screening):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Ligand-bazlı, Yapı-bazlı, Farmakofor-bazlı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ADMET TAHMİNİ: Absorption, Distribution, Metabolism, Excretion, Toxicity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SMILES NOTASYONU VE MOLEKÜLER TEMSİL SİSTEMLERİ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SMILES (Simplified Molecular Input Line Entry System):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Kimyasal yapıları ASCII karakterleri ile kodlayan lineer notasyon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(David Weininger, 1988)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SMILES KURALLARI: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Atomlar: C, N, O, S, P, F, Cl, Br, I (organik subset)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Bağlar: - (single), = (double), # (triple), : (aromatic)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Dallanma: Parantez () ile gösterilir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Halka: Rakamlarla işaretlenir (c1ccccc1 = benzen)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Stereokimya: @ (S), @@ (R), /, \ (E/Z)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ÖRNEK SMILES YAPILARI: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Morfin:    CN1CC[C@]23c4c5ccc(O)c4O[C@H]2[C@@H](O)C=C[C@H]3[C@H]1C5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Fentanil:  CCC(=O)N(c1ccccc1)C2CCN(CCc3ccccc3)CC2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THC:       CCCCCc1cc(O)c2C3CC(C)=CCC3C(C)(C)Oc2c1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MDMA:      CC(NC)Cc1ccc2OCOc2c1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CANONICAL SMILES: Benzersiz, standartlaştırılmış temsil (RDKit algoritması)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MOLEKÜLER PARMAK İZLERİ (MOLECULAR FINGERPRINTS)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MOLEKÜLER PARMAK İZİ TANIMI: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Kimyasal yapıların bit vektörleri veya sayısal diziler şeklinde kodlanması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PARMAK İZİ TİPLERİ: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SUBSTRUCTURE FINGERPRINTS: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MACCS Keys (166 bit): Önceden tanımlanmış yapısal özellikler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PubChem Fingerprints (881 bit): Fonksiyonel grup bazlı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TOPOLOGICAL FINGERPRINTS: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Daylight Fingerprints: Lineer yol tabanlı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RDKit Fingerprints: Açık kaynak implementasyon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CIRCULAR FINGERPRINTS (En yaygın):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ECFP (Extended Connectivity Fingerprints):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  - ECFP4: Yarıçap 2, 1024-2048 bit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  - ECFP6: Yarıçap 3, daha detaylı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Morgan Fingerprints: RDKit implementasyonu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BENZERLİK METRİKLERİ: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Tanimoto: T(A,B) = |A∩B| / |A∪B|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Dice: D(A,B) = 2|A∩B| / (|A|+|B|)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QSAR/QSPR: YAPI-AKTİVİTE İLİŞKİLERİ MODELLEMESİ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QSAR/QSPR PARADİGMASI: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Aktivite/Özellik = f(Moleküler Tanımlayıcılar)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MOLEKÜLER TANIMLAYICILAR (Descriptors):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1D Tanımlayıcılar: MW, Atom sayısı, logP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2D Tanımlayıcılar: Topolojik indeksler, ECFP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3D Tanımlayıcılar: Yüzey alanı, Hacim, Farmakofor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FİZİKOKİMYASAL TANIMLAYICILAR: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logP (Lipofiliklik): Oktanol/Su partisyon katsayısı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pKa (İyonizasyon): Henderson-Hasselbalch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PSA (Polar Yüzey Alanı): H-bağ akseptör/donör atomların yüzeyi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MW (Molekül Ağırlığı): Dalton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HBA/HBD: H-bağ akseptör/donör sayısı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RotBonds: Dönebilir bağ sayısı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TPSA: Topological Polar Surface Area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LIPINSKI KURALI (Rule of Five):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MW ≤ 500, logP ≤ 5, HBD ≤ 5, HBA ≤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ADMET TAHMİNLERİ: FARMAKOKİNETİK MODELLEMESİ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ADMET: Absorption, Distribution, Metabolism, Excretion, Toxicity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ABSORPSİYON TAHMİNLERİ: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Caco-2 Permeabilite: İntestinal absorbsiyon modeli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PAMPA: Paralel Artifisiyel Membran Permeabilite Assay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P-gp Substrat/İnhibitor: Efflux taşıyıcı etkileşimi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DAĞILIM TAHMİNLERİ: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BBB (Kan-Beyin Bariyeri) Geçirgenliği: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logBB = 0.152 logP - 0.0148 PSA + 0.139 → Geçirgen: logBB &gt; 0.3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VDss (Dağılım Hacmi): Doku/plazma dağılımı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PPB (Plazma Protein Bağlanması): Albumin, α1-asit glikoprotein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METABOLİZMA TAHMİNLERİ: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CYP450 İnhibisyonu: 1A2, 2C9, 2C19, 2D6, 3A4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CYP450 Substratları: Metabolik stabilite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UGT Glukuronidasyon: Faz II metabolizma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TOKSİSİTE TAHMİNLERİ: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hERG İnhibisyonu: Kardiyotoksisite (QT uzaması)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Hepatotoksisite: DILI (Drug-Induced Liver Injury)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FARMAKOFOR MODELLEMESİ: 3D YAPI-AKTİVİTE İLİŞKİSİ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FARMAKOFOR TANIMI (IUPAC):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'Biyolojik hedefe optimal supramoleküler etkileşimleri sağlayan ve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biyolojik yanıtı tetikleyen veya bloke eden sterik ve elektronik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özelliklerin üç boyutlu düzenlemesi'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FARMAKOFOR ÖZELLİKLERİ (Pharmacophoric Features):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HBA: Hidrojen Bağı Akseptörü (N, O, F lone pair)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HBD: Hidrojen Bağı Donörü (NH, OH, SH)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HYD: Hidrofobik Bölge (Alifatik, Aromatik)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AR: Aromatik Halka (π-π stacking)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PI: Pozitif İyonize Edilebilir (Amin)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NI: Negatif İyonize Edilebilir (Karboksil)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FARMAKOFOR TARAMA: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Shape-based overlay: Molecular volume matching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Feature-based alignment: Pharmacophore point matching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Excluded volumes: Sterik çatışma bölgeleri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EPİCLOCK: 16 temel farmakofor çekirdeği × 120 türev = 1,920 sanal bileşik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EPİCLOCK VERİTABANI: 36,170 YAPISAL VARYANT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VERİTABANI KOMPOZİSYONU: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┌─────────────────────────────────────────────┬──────────────┐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MODÜL                                       │ KAYIT SAYISI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├─────────────────────────────────────────────┼──────────────┤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Temel Madde Veritabanı                      │        1,815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NPS Türev Veritabanı                        │        2,822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Polisubstans Kombinasyon Matrisi            │          257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Kimyasal Sentez Reaksiyonları               │           31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Metabolik Yolak Veritabanı                  │           48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Farmakofor Sanal Kütüphane                  │        1,920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In Silico Metabolit Tahminleri              │        6,240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Markush Yapısal Varyantları                 │       29,277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├─────────────────────────────────────────────┼──────────────┤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TOPLAM                                      │       36,170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└─────────────────────────────────────────────┴──────────────┘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SMILES FORMATINDA DEPOLAMA: RDKit validasyonu, kanonikalleştirme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MOLEKÜLER ÖZELLİKLER: MW, logP, PSA, pKa, HBA, HBD hesaplanmış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YENİ PSİKOAKTİF MADDELER (NPS): KİMYASAL SINIFLANDIRMA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NPS TANIMI (UNODC/EMCDDA):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Uluslararası sözleşmelerle kontrol altında olmayan, ancak kontrol altındaki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maddelerin etkilerini taklit eden veya aşan maddeler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9 TEMEL NPS KİMYASAL SINIFI: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SENTETİK KANABİNOİDLER (784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İndol çekirdeği: JWH-018, AM-2201, 5F-AKB48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Potens: THC'nin 10-50x, CB1 tam agonist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SENTETİK KATİNONLAR (840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β-keto fenetilamin: Mephedrone, MDPV, α-PVP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DAT/NET/SERT inhibitor/releaser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FENTANİL ANALOGLARI (416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4-anilidopiperidin: Carfentanil (100x morfin)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μ-opioid reseptör tam agonist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BENZİMİDAZOL OPİOİDLERİ - NİTAZENLER (208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Etonitazene (1000x morfin), Isotonitazene (500x)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EN TEHLİKELİ SINIF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NPS KİMYASAL SINIFLARI (DEVAM)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TRİPTAMİNLER (156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İndol etilamini: DMT, 5-MeO-DMT, Psilosibin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5-HT2A agonist (halüsinojenik)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6. FENETİLAMİNLER (192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2C-x serisi (Shulgin): 2C-B, 2C-I, 2C-E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NBOMe serisi: 25I-NBOMe (LSD'nin 10x)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DOx serisi: DOM, DOB (uzun süreli etki)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7. DİZAYNER BENZODİAZEPİNLER (128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Triazolo: Flualprazolam, Clonazolam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Tieno: Flunitrazolam, Etizolam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GABA-A pozitif allosterik modülatör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8. DİSSOSİYATİFLER - ARİLSİKLOHEKSİLAMİNLER (64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PCP analogları: 3-MeO-PCP, DCK (Deschloroketamin)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NMDA reseptör antagonist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9. DİĞER NPS (34 türev):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GHB analogları, Aminoindanlar, Piperazinler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MARKUSH YAPI SİSTEMİ: KOMBİNATORYEL ÖNGÖRÜ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MARKUSH YAPISI (Patent Terminolojisi):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Genel bir kimyasal yapı içinde değiştirilebilir grupların (R-grupları)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sistematik olarak tanımlandığı jenerik yapı temsili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MARKUSH FORMÜL NOTASYONU: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Core-[R1][R2][R3]...[Rn]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Core: Ana iskelet (scaffold)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R1-Rn: Değişken substitüentler (substituents)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 MARKUSH KURALLARI (10 KURAL):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Kural 1: Nitazenler     → 5,200 varyant (R1×R2×R3 kombinasyonları)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Kural 2: Fenetilaminler → 4,800 varyant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Kural 3: Triptaminler   → 3,600 varyant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Kural 4: Benzodiazepinler→ 3,200 varyant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Kural 5-10: Diğer sınıflar → 12,477 varyant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TOPLAM: 29,277 'KİMYASAL OLARAK MÜMKÜN' VARYANT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MARKUSH KURALLARI: SUBSTİTÜENT PALETİ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SUBSTİTÜENT GRUPLARI (R-Groups):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HALOJENLİ SUBSTİTÜENTLER: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-F, -Cl, -Br, -I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Örn: 4-fluoro, 3-chloro, 2-bromo pozisyonları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ALKİL SUBSTİTÜENTLER: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-CH3 (metil), -C2H5 (etil), -C3H7 (propil), -C4H9 (butil)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Dallanmış: i-propil, t-butil, siklopropil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ALKOKSİ SUBSTİTÜENTLER: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-OCH3 (metoksi), -OC2H5 (etoksi)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AZOT SUBSTİTÜENTLER (N-alkilasyon):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N-metil, N-etil, N-propil, N-benzil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HALKA MODİFİKASYONLARI: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Aromatik sübstitüsyon pozisyonları (ortho, meta, para)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Halka genişlemesi/daralması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Heteroatom değişimi (N, O, 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KOMBİNASYON MATRİSİ: Her pozisyon için n seçenek → n^k toplam varyant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 SILICO RESEPTÖR AFİNİTE TAHMİNLERİ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HESAPLAMALI AFİNİTE TAHMİN YÖNTEMLERİ: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QSAR Modelleri: Yapı-aktivite ilişkisi regresyonu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Molecular Docking: AutoDock, Glide, GOLD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Machine Learning: Random Forest, Neural Networks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 RESEPTÖR PANELİ (Ki, nM TAHMİNLERİ):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DAT (Dopamin Taşıyıcı SLC6A3):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Uyarıcı etki, Kokain/Amfetamin-tipi aktivite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SERT (Serotonin Taşıyıcı SLC6A4):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SSRI aktivitesi, MDMA empatojenik etki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5-HT2A (Serotonin 2A Reseptörü):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Halüsinojen aktivite, LSD/Psilosibin-tipi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OPRM1 (μ-Opioid Reseptörü):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Analjezi, Öfori, Solunum depresyonu, Bağımlılık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CB1 (Kanabinoid Reseptör 1):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Kannabimimetik etki, THC-tipi aktivite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KAN-BEYİN BARİYERİ (BBB) GEÇİRGENLİK TAHMİNİ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KAN-BEYİN BARİYERİ FİZYOLOJİSİ: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Tight junctions (Claudin, Occludin, ZO-1)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Efflux taşıyıcılar (P-gp, BCRP, MRP)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Metabolik enzimler (CYP, UGT)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BBB GEÇİRGENLİK TAHMİN KRİTERLERİ: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logBB (Brain/Blood Partition Coefficient):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logBB &gt; 0.3  → BBB geçirgen (CNS aktif)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logBB &lt; -1.0 → BBB geçirmez (Periferik)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PSA (Polar Surface Area) Eşiği: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PSA &lt; 90 Å²  → Yüksek BBB geçirgenlik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PSA &gt; 120 Å² → Düşük BBB geçirgenlik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 VERİTABANI ANALİZİ: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Toplam: 1,920 farmakofor bileşiği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BBB Geçirgen: 1,144 bileşik (%59.6)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BBB Geçirmez: 776 bileşik (%40.4)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PSİKOAKTİF ETKİ → BBB geçirgenlik şartı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METABOLİT TAHMİN SİSTEMİ: 6,240 METABOLİT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XENOBIYOTIK METABOLİZMA FAZLARI: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FAZ I (FONKSİYONALLEŞTİRME):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CYP450 Oksidasyon: Hidroksilasyon, Epoksidasyon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N-dealkilasyon: R-N(CH3)2 → R-NH-CH3 → R-NH2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O-dealkilasyon: R-OCH3 → R-OH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Deaminasyon: R-CH(NH2)-R' → R-CO-R' + NH3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FAZ II (KONJUGASYON):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UGT Glukuronidasyon: R-OH + UDPGA → R-O-Glukuronid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SULT Sülfatasyon: R-OH + PAPS → R-O-SO3H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GST Glutatyon: Elektrofil + GSH → GS-Elektrofil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NAT Asetilasyon: R-NH2 + Asetil-CoA → R-NH-Ac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PİROLİZ ÜRÜNLERİ (DUMANLAMA/BUHARLAŞTIRMA):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Termal dekompozisyon (&gt;200°C)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Oksidasyon ürünleri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FORENSİK MARKER: İdrar/kan analizinde tespit edilen metabolitler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DNA METİLASYON VERİTABANI: 10,542 PROFİL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 KAYNAKLARI (15 BAĞIMSIZ KOHORT):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 METİLASYON PLATFORMLARI: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Illumina Infinium HumanMethylation450 BeadChip (450K)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Illumina Infinium MethylationEPIC BeadChip (850K)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Whole Genome Bisulfite Sequencing (WGBS)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ÖRNEK POPÜLASYONU: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┌────────────────────────┬───────────┬────────┐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KATEGORİ               │     N     │    %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├────────────────────────┼───────────┼────────┤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Alkol Kullanım Boz.    │   2,183   │  20.7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Opioid Kullanım Boz.   │   1,360   │  12.9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Kokain Kullanım Boz.   │   1,030   │   9.8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Polisubstans           │     720   │   6.8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Esrar Kullanım Boz.    │     194   │   1.8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Metamfetamin           │      48   │   0.5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Kontrol                │   5,007   │  47.5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└────────────────────────┴───────────┴────────┘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MADDEYE ÖZGÜ EPİGENETİK YAŞ İVMELENMESİ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GRİMAGE-BAZLI EPİGENETİK YAŞ İVMELENMESİ (EAA) SONUÇLARI: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MADDE KATEGORİSİ          │     EAA     │     95% CI    │   p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Polisubstans              │  +7.3 yıl   │  (6.4 - 8.3)  │ &lt;.001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Metamfetamin              │  +6.2 yıl   │  (4.5 - 8.1)  │ &lt;.001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Kokain                    │  +4.1 yıl   │  (3.5 - 4.7)  │ &lt;.001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Alkol                     │  +3.6 yıl   │  (3.1 - 4.2)  │ &lt;.001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Opioidler                 │  +2.9 yıl   │  (2.5 - 3.4)  │ &lt;.001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Esrar                     │  +0.8 yıl   │  (0.3 - 1.4)  │  .008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Kontrol                   │   0.0 yıl   │  (-0.3-0.3)   │  ref.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İSTATİSTİKSEL ANLAM: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Tüm madde grupları kontrol grubundan anlamlı farklı (p &lt; 0.01)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Polisubstans kullanıcıları en yüksek EAA değerlerine sahip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Doz-yanıt ilişkisi: Kullanım yılı ile EAA pozitif korelasyon (r=0.67)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DİFERANSİYEL METİLASYON ANALİZİ (DMA)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EPGENOM-ÇAPI ASSOSIASYON ANALİZİ (EWAS):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Lineer regresyon modeli: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Metilasyon(β) ~ Madde_Durumu + Yaş + Cinsiyet + Batch + Hücre_Kompozisyonu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ÇOKLU TEST DÜZELTMESİ: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Bonferroni: p &lt; 0.05 / 450,000 = 1.1×10⁻⁷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FDR (Benjamini-Hochberg): q &lt; 0.05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ANLAMLI DİFERANSİYEL METİLE CpG BÖLGELERİ: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HİPERMETİLASYON (Metilasyon ↑):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GSTP1 (Detoksifikasyon): Δβ = +0.15, p = 2.3×10⁻¹²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CYP1A1 (Metabolizma): Δβ = +0.12, p = 1.1×10⁻¹⁰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HİPOMETİLASYON (Metilasyon ↓):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BDNF (Nörotrofin): Δβ = -0.18, p = 4.5×10⁻¹⁵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OPRM1 (μ-Opioid): Δβ = -0.14, p = 3.2×10⁻¹¹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SLC6A4 (SERT): Δβ = -0.11, p = 7.8×10⁻⁹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MEDİASYON ANALİZİ: NEDENSELLİK MODELLEMESİ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MEDİASYON HİPOTEZİ: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Madde Kullanımı → DNA Metilasyonu → Epigenetik Yaş İvmelenmesi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  (X)              (M)                    (Y)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BARON &amp; KENNY YAKLAŞIMI (1986):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Adım 1: X → Y (c yolu): Madde → EAA  (β = 4.3, p &lt; 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Adım 2: X → M (a yolu): Madde → CpG  (β = -0.15, p &lt; 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Adım 3: M → Y (b yolu): CpG → EAA   (β = -12.4, p &lt; 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Adım 4: X → Y | M (c' yolu): Kısmi mediasyon testi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SOBEL TESTİ: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İndirekt etki: a × b = 1.86 (p &lt; 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Mediasyon oranı: ab / c = 43%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BOOTSTRAP ANALİZİ (10,000 replikasyon):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İndirekt etki 95% CI: (1.42 - 2.31)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CI sıfırı içermez → Anlamlı mediasyon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SONUÇ: DNA metilasyonu, madde kullanımı ile EAA arasında kısmi mediatör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MAKİNE ÖĞRENMESİ ENSEMBLE MODELİ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ENSEMBLE MODEL MİMARİSİ: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WEIGHTED VOTING ENSEMBLE: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Ŷ = w₁×RF(X) + w₂×XGB(X) + w₃×EN(X)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MODEL BİLEŞENLERİ: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RANDOM FOREST (w₁ = 0.35):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n_estimators = 500, max_depth = 20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Feature importance: Gini impurity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Out-of-bag error: 0.12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XGBOOST (w₂ = 0.45):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learning_rate = 0.01, n_estimators = 1000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max_depth = 6, subsample = 0.8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Early stopping: 50 rounds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ELASTICNET (w₃ = 0.20):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α = 0.5 (L1/L2 mix), λ = 0.01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Standardized features (z-score)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PERFORMANS: MAE = 2.1 yıl | R² = 0.96 | RMSE = 2.8 yıl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POLİSUBSTANS KOMBİNASYONLARI: SİNERJİ MATRİSİ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SİNERJİ HESAPLAMA: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Sinerji Faktörü = Gözlenen_Etki / Beklenen_Aditif_Etki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SF &gt; 1.0 → Sinerjistik, SF &lt; 1.0 → Antagonistik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YÜKSEK RİSKLİ KOMBİNASYONLAR (n = 257):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KOMBİNASYON          │ SOKAK ADI    │ SF   │ ÖLÜM %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Fent+Heroin+Carfent  │ Grey Death   │ 4.2  │   50%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Fentanil+Heroin      │ Purple Dope  │ 3.5  │   45%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Kokain+Heroin        │ Speedball    │ 2.8  │   35%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Heroin+Difenhidramin │ Cheese       │ 2.2  │   25%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Benzodiazepin+Opioid │ -            │ 3.2  │   30%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Alkol+Opioid         │ -            │ 2.8  │   28%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MDMA+LSD             │ Candy Flip   │ 1.8  │    5%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MDMA+Psilosibin      │ Hippie Flip  │ 1.6  │    3%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BLOCKCHAIN DENETİM İZİ: KRİPTOGRAFİK VERİ BÜTÜNLÜĞÜ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BLOCKCHAIN ARŞİTEKTÜRÜ: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Her blok içeriği: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Örnek ID, Zaman damgası (UTC)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Analiz parametreleri (JSON)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Sonuç hash'i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Önceki blok hash'i (Zincir bağlantısı)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SHA-256 HASH FONKSİYONU: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H(m) = 256-bit digest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Çarpışma direnci: 2¹²⁸ operasyon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Preimage direnci: 2²⁵⁶ operasyon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ZİNCİR DOĞRULAMA: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Block[n].hash = SHA256(Block[n-1].hash + Block[n].data)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Herhangi bir bloktaki değişiklik → Sonraki tüm hash'ler geçersiz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→ Tamper-evident (kurcalama kanıtı) sistem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ADLİ GEÇERLİLİK: Daubert kriterleri uyumu (test edilebilirlik,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hakemli yayın, bilinen hata oranı, genel kabul)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POSTMORTEM DNA METİLASYON ANALİZİ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POSTMORTEM DEĞİŞİKLİKLER VE ETKİLERİ: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PMI (Postmortem Interval) Etkileri: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DNA degradasyonu (apoptoz, nekroz)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Bakteriyel kontaminasyon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• Çevresel faktörler (sıcaklık, nem)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PMI DÜZELTME MODELİ: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DNAmAge_corrected = DNAmAge_raw - f(PMI, T, Doku)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f(PMI, T, Doku) = Düzeltme faktörü (ampirik model)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STABİLİTE ANALİZİ: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PMI (saat)  │ Korelasyon (r) │ Güvenilirlik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   0-48     │     &gt; 0.95     │ Yüksek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  48-72     │     &gt; 0.85     │ Orta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  72-168    │     &gt; 0.70     │ Düşük (dikkatli)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MULTİ-OMİKS ENTEGRASYON STRATEJİLERİ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OMİKS VERİ KATMANLARI: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Genomics   → SNP, CNV, SV  (DNA seviyesi)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Epigenomics→ 5mC, Histon   (Regülasyon)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Transcriptomics → mRNA, ncRNA (Ekspresyon)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Proteomics → Protein abundance (Fonksiyon)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Metabolomics → Metabolitler (Fenotip)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ENTEGRASYON YÖNTEMLERİ: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MOFA (Multi-Omics Factor Analysis):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Bayesian latent factor model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K latent faktör × N omics katmanı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PLS-DA (Partial Least Squares):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Süpervized dimensionality reduction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Maksimum kovaryans projeksiyonu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SIMILARITY NETWORK FUSION (SNF):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Hasta benzerlik ağları birleştirme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PATHWAY CONCORDANCE SCORE: Omiks katmanları arası tutarlılık ölçümü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KLİNİK KARAR DESTEK SİSTEMİ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RİSK STRATİFİKASYONU: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RİSK KATEGORİSİ  │   EAA ARALIĞI   │ KLİNİK İMPLİKASYON  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Düşük Risk       │ EAA &lt; +2 yıl    │ Rutin takip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Orta Risk        │ +2 ≤ EAA &lt; +5   │ Yaşam tarzı müdahalesi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Yüksek Risk      │ +5 ≤ EAA &lt; +8   │ Yoğun izlem, tedavi  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│ Çok Yüksek Risk  │ EAA ≥ +8 yıl    │ Acil müdahale, destek     │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PROGNOSTİK FAKTÖRLERİ: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GrimAge EAA: Mortalite prediktörü (HR: 1.10 per yıl)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DunedinPACE: Yaşlanma hızı (&gt;1.2 artmış risk)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KİŞİSELLEŞTİRİLMİŞ TIBBİ ÖNERİLER: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Farmakoterapi optimizasyonu (CYP genotipe göre)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Yaşam tarzı intervansiyonu (diyet, egzersiz, uyku)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Relaps önleme stratejileri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UYARI: Karar destek aracıdır, klinik yargının yerini almaz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MALİYET-ETKİNLİK ANALİZİ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GELENEKSEL YÖNTEM MALİYETİ (per örnek):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WGBS Whole Genome Bisulfite Seq: $2,500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450K/EPIC Microarray: $400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Biyoinformatik analiz: $200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Toplam: ~$3,100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 YAKLAŞIMI MALİYETİ (per örnek):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Hedefli CpG Panel (2,140 CpG): $80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Platform analizi: $0 (dahil)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Toplam: ~$80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MALİYET TASARRUFU: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Per örnek tasarruf: $3,020 (%97.4)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1,000 örnek kohort için: $3,020,000 tasarruf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SÜRE TASARRUFU: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Geleneksel: 2-4 hafta turnaround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EpiClock: 24 saat içinde sonuç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ÇALIŞMA SINIRLARI VE KISITLAMALAR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METODOLOJİK SINIRLAMALAR: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Simüle Katsayılar: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Gerçek saat katsayıları yayın lisansı gerektirir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(Horvath lab, UCSD lisans anlaşması)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Popülasyon Limitleri: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Referans veritabanı çoğunlukla Avrupa kökenli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Trans-etnik validasyon gerekli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Örneklem Heterojenitesi: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Farklı laboratuvar protokolleri, batch efektler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YORUMLAMA SINIRLARI: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Nedensellik vs Korelasyon: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Gözlemsel veri → kausal çıkarım sınırlı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Mendelian randomizasyon çalışmaları gerekli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Bireysel Varyasyon: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 Genetik arka plan, çevresel faktörler, yaşam tarzı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PROTOTIP UYARISI: Klinik karar için tek başına kullanılmamalı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GELECEK ARAŞTIRMA YÖNELİMLERİ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KISA VADELİ HEDEFLER (6-12 ay):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Gerçek epigenetik saat katsayıları lisansı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Prospektif klinik validasyon çalışması başlatma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Türkiye popülasyonu referans veritabanı oluşturma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Mobil uygulama ve API geliştirme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ORTA VADELİ HEDEFLER (1-3 yıl):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100,000+ profil referans veritabanı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Longitudinal kohort çalışması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Multi-omics entegrasyon platformu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CE-IVD sertifikasyon hazırlığı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UZUN VADELİ HEDEFLER (3-5+ yıl):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FDA 510(k) / CE-IVD onay süreci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Klinik laboratuvar entegrasyonu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Uluslararası çok merkezli RCT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Kişiselleştirilmiş bağımlılık tıbbı vizyonu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TEMEL REFERANSLAR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SAATLER: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Horvath S (2013). Genome Biology 14:R115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Hannum G et al (2013). Mol Cell 49:359-367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Levine ME et al (2018). Aging 10:573-591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Lu AT et al (2019). Aging 11:303-327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Belsky DW et al (2022). eLife 11:e73420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BAĞIMLILIK EPİGENETİĞİ: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Zillich L et al (2024). Mol Psychiatry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Wangler LM et al (2022). Drug Alcohol Depend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Pucci M et al (2024). Psychopharmacology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KEMOİNFORMATİK: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Weininger D (1988). J Chem Inf Comput Sci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Brown FK (1998). Ann Rep Med Chem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Lipinski CA (2004). Drug Discov Today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VERİTABANLARI: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GWAS Catalog, EWAS Atlas, PharmGKB, UNODC NPS Portal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4C8DC"/>
                </a:solidFill>
              </a:defRPr>
            </a:pPr>
            <a:r>
              <a:t>İLETİŞİM VE KAYNAK KODLARI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AABE"/>
                </a:solidFill>
              </a:defRPr>
            </a:pPr>
            <a:r>
              <a:t>Arş. Gör. Dr. Nurcan Denli Bayır | Adli Tıp Anabilim Dalı</a:t>
            </a:r>
            <a:br/>
            <a:r>
              <a:t>GitHub: github.com/mortemdulcem/epi-clock-DNA-mtl-prototype</a:t>
            </a:r>
            <a:br/>
            <a:r>
              <a:t>EpiClock v4.0 Computational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