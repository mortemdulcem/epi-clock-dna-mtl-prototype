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1371600"/>
            <a:ext cx="10362895" cy="18288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5029200"/>
            <a:ext cx="10362895" cy="18288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8E6FF"/>
                </a:solidFill>
              </a:defRPr>
            </a:pPr>
            <a:r>
              <a:t>DNA METİLASYON SAATLERİYLE BAĞIMLILIKTA</a:t>
            </a:r>
            <a:br/>
            <a:r>
              <a:t>EPİGENETİK YAŞ İVMELENMESİNİN TESPİTİ:</a:t>
            </a:r>
            <a:br/>
            <a:r>
              <a:t>UÇTAN UCA HESAPLAMALI BİR YAKLAŞIM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38404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96C8F0"/>
                </a:solidFill>
              </a:defRPr>
            </a:pPr>
            <a:r>
              <a:t>Detection of Epigenetic Age Acceleration in Addiction</a:t>
            </a:r>
            <a:br/>
            <a:r>
              <a:t>Using DNA Methylation Clocks: An End-to-End Computational Approach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AAD2"/>
                </a:solidFill>
              </a:defRPr>
            </a:pPr>
            <a:r>
              <a:t>Arş. Gör. Dr. Nurcan Denli Bayır | Adli Tıp Anabilim Dalı</a:t>
            </a:r>
            <a:br/>
            <a:r>
              <a:t>EpiClock v4.0 Computational Platform | 36,170 Yapısal Varyant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EPİGENETİK: MOLEKÜLER BİYOLOJİNİN YENİ PARADİGMASI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EPİGENETİK TANIM: DNA sekansında değişiklik olmaksızın gen ekspresyonunun kalıtsal modifikasyonları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(Conrad Waddington, 1942 - 'Epigenetic Landscape' konsepti)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TEMEL EPİGENETİK MEKANİZMALAR: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1. DNA METİLASYONU (5-metilsitozin, 5mC):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DNMT1, DNMT3A, DNMT3B enzimleri tarafından katalizlenen metil transferi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S-adenozilmetiyonin (SAM) metil donör olarak kullanılır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CpG dinükleotidlerinde sitozinin C5 pozisyonuna metil grubu eklenmesi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2. HİSTON MODİFİKASYONLARI: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Asetilasyon (HAT/HDAC), Metilasyon (HMT/HDM), Fosforilasyon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H3K4me3 (aktivasyon), H3K27me3 (baskılama), H3K9ac (açık kromatin)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3. NON-CODING RNA'LAR: miRNA, lncRNA, piRNA, circRNA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4. KROMATİN REMODELİNG: SWI/SNF, ISWI, CHD, INO80 kompleksleri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DNA METİLASYON BİYOKİMYASI: MOLEKÜLER DETAYLAR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5-METİLSİTOZİN (5mC) OLUŞUM MEKANİZMASI: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Sitozin + SAM  ────DNMT────&gt;  5-metilsitozin + SAH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DNA METİLTRANSFERAZLAR (DNMT):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DNMT1 (Maintenance Methyltransferase):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- Hemimetile DNA'yı tanır, replikasyon sırasında metilasyon paternini korur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- UHRF1 (SRA domain) ile işbirliği yapar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DNMT3A/3B (De novo Methyltransferases):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- Yeni metilasyon paternleri oluşturur, DNMT3L kofaktörü ile aktivite artar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DEMETİLASYON YOLAĞI (TET Enzimleri):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5mC → 5hmC → 5fC → 5caC → Sitozin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(TET1/2/3: Ten-Eleven Translocation enzymes, α-ketoglutarat bağımlı)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CpG ADALARI: GC içeriği &gt;50%, O/E CpG oranı &gt;0.6, uzunluk &gt;200 bp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Promoter CpG adaları: Gen ekspresyon regülasyonu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Gene body metilasyonu: Aktif transkripsiyon ile pozitif korelasyon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EPİGENETİK SAAT TEORİSİ: MATEMATİKSEL MODELLEME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EPİGENETİK YAŞ TAHMİN MODELİ: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DNAmAge = α + Σ(βᵢ × Mᵢ)  ,  i = 1, ..., n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Mᵢ = CpG sitesinin metilasyon β-değeri (0-1 aralığı)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βᵢ = ElasticNet regresyon katsayısı (penalized regression)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α = İntercept (offset) değeri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n = Modele dahil CpG sayısı (353 - 1030 arası)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REGULARIZASYON (ElasticNet Formülü):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L(β) = ||y - Xβ||² + λ₁||β||₁ + λ₂||β||²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L1 (Lasso): Özellik seçimi sağlar, sparse solutions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L2 (Ridge): Multikolineariteyi düzeltir, coefficient shrinkage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α = λ₁/(λ₁+λ₂) : ElasticNet mixing parametresi (tipik α=0.5)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MODEL VALİDASYONU: Leave-One-Out Cross-Validation (LOOCV)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Pearson korelasyonu: r &gt; 0.95, MAE: 2.5-4 yıl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EPİGENETİK YAŞ İVMELENMESİ (EAA): KLİNİK İMPLİKASYONLAR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EPİGENETİK YAŞ İVMELENMESİ (Epigenetic Age Acceleration):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EAA = DNAmAge - Kronolojik Yaş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IEAA (Intrinsic EAA): Kan hücre kompozisyonundan bağımsız, hücre-içi yaşlanma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EEAA (Extrinsic EAA): Bağışıklık sistemi yaşlanmasını yansıtır, immunosenescence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KLİNİK KORELASYONLAR: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Pozitif EAA (+) → Hızlanmış Biyolojik Yaşlanma: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- Artmış mortalite riski (HR: 1.03-1.09 per yıl EAA)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- Kardiyovasküler hastalık riski ↑, Nörodejeneratif hastalık riski ↑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- Kanser insidansı ↑, Tip 2 diyabet riski ↑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Negatif EAA (-) → Yavaşlamış Biyolojik Yaşlanma: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- Süper-yüzlüler (supercentenarians) karakteristik özellik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- Sağlıklı yaşam tarzı (diyet, egzersiz, uyku) koruyucu etki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YAŞLANMA HIZI (DunedinPACE): Yıllık biyolojik yaşlanma oranı (referans: 1.0)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5 MAJOR EPİGENETİK SAAT: KARŞILAŞTIRMALI ANALİZ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1. HORVATH PAN-TİSSUE CLOCK (2013, Genome Biology):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353 CpG, 51 doku/hücre tipi, ElasticNet (α=0.5), MAE: 3.6 yıl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2. HANNUM BLOOD CLOCK (2013, Molecular Cell):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71 CpG, kan örneği optimize, hücre kompozisyonu duyarlı, MAE: 3.9 yıl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3. PHENOAGE (Levine, 2018, Aging):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513 CpG, 9 klinik biyobelirteç entegre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Albumin, Kreatinin, Glukoz, CRP, Lenfosit, MCV, RDW, ALP, WBC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Fenotipik yaş, mortalite prediktif gücü yüksek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4. GRIMAGE (Lu, 2019, Aging):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1,030 CpG, DNA metilasyon-bazlı plazma protein tahmini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PAI-1, GDF15, Cystatin C, Leptin, TIMP-1, ADM, B2M, Pack-years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En güçlü mortalite prediktörü (HR: 1.10 per yıl EAA)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5. DUNEDINPACE (Belsky, 2022, eLife):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173 CpG, 19 organ sistem biyobelirteci longitudinal takip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Yaşlanma hızı (pace) ölçümü, tek ölçümden 20-yıllık veri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KEMOİNFORMATİK: HESAPLAMALI KİMYA VE VERİ BİLİMİ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KEMOİNFORMATİK (Chemoinformatics / Cheminformatics) TANIM: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'Kimyasal bilginin toplanması, depolanması, analizi ve yorumlanması için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bilgisayar bilimi ve bilgi teknolojisi tekniklerinin uygulanması'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(F.K. Brown, Annual Reports in Medicinal Chemistry, 1998)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TEMEL KEMOİNFORMATİK ALANLAR: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1. MOLEKÜLER TEMSİL (Molecular Representation):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SMILES (Simplified Molecular Input Line Entry System)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InChI (IUPAC International Chemical Identifier)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Molecular Fingerprints (ECFP, MACCS, Morgan, RDKit)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2. QSAR/QSPR MODELLEMESİ (Structure-Activity/Property Relationships):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Moleküler tanımlayıcılar, makine öğrenmesi, regresyon modelleri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3. SANAL TARAMA (Virtual Screening):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Ligand-bazlı, Yapı-bazlı (docking), Farmakofor-bazlı yaklaşımlar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4. ADMET TAHMİNİ: Absorption, Distribution, Metabolism, Excretion, Toxicity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SMILES NOTASYONU VE MOLEKÜLER TEMSİL SİSTEMLERİ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SMILES (Simplified Molecular Input Line Entry System):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Kimyasal yapıları ASCII karakterleri ile kodlayan lineer notasyon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(David Weininger, J. Chem. Inf. Comput. Sci., 1988)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SMILES KURALLARI: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Atomlar: C, N, O, S, P, F, Cl, Br, I (organik subset - lowercase: aromatik)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Bağlar: - (single), = (double), # (triple), : (aromatic, genellikle implicit)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Dallanma: Parantez () ile gösterilir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Halka kapanışı: Rakamlarla işaretlenir (c1ccccc1 = benzen)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Stereokimya: @ (S), @@ (R), cis/trans için /, \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ÖRNEK SMILES YAPILARI: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Morfin:    CN1CC[C@]23c4c5ccc(O)c4O[C@H]2[C@@H](O)C=C[C@H]3[C@H]1C5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Fentanil:  CCC(=O)N(c1ccccc1)C2CCN(CCc3ccccc3)CC2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THC:       CCCCCc1cc(O)c2C3CC(C)=CCC3C(C)(C)Oc2c1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MDMA:      CC(NC)Cc1ccc2OCOc2c1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Kokain:    COC(=O)C1C2CCC(CC1OC(=O)c3ccccc3)N2C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CANONICAL SMILES: Benzersiz, standartlaştırılmış temsil (RDKit/OpenBabel)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MOLEKÜLER PARMAK İZLERİ (MOLECULAR FINGERPRINTS)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MOLEKÜLER PARMAK İZİ: Kimyasal yapıların bit vektörleri şeklinde kodlanması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PARMAK İZİ TİPLERİ: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1. SUBSTRUCTURE (Yapısal Anahtar) FINGERPRINTS: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MACCS Keys (166 bit): Önceden tanımlanmış fonksiyonel gruplar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PubChem Fingerprints (881 bit): Geniş yapısal özellik seti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2. TOPOLOGICAL (Yol-bazlı) FINGERPRINTS: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Daylight Fingerprints: Lineer atomik yol tabanlı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RDKit Fingerprints: Açık kaynak, konfigüre edilebilir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3. CIRCULAR (Dairesel) FINGERPRINTS: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ECFP (Extended Connectivity FP): Morgan algoritması bazlı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  - ECFP4: Yarıçap 2 (4 bağ mesafesi), 1024-2048 bit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  - ECFP6: Yarıçap 3, daha geniş çevre, daha detaylı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FCFP (Functional-Class FP): Fonksiyonel grup bazlı varyant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BENZERLİK METRİKLERİ: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Tanimoto (Jaccard): T(A,B) = |A∩B| / |A∪B| [en yaygın]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Dice: D(A,B) = 2|A∩B| / (|A|+|B|)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QSAR/QSPR: YAPI-AKTİVİTE İLİŞKİLERİ MODELLEMESİ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QSAR/QSPR PARADİGMASI (Hansch &amp; Fujita, 1964):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Biyolojik Aktivite / Fizikokimyasal Özellik = f(Moleküler Tanımlayıcılar)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MOLEKÜLER TANIMLAYICILAR (Molecular Descriptors):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1D: Atom sayısı, MW, Formül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2D: Topolojik indeksler, ECFP, connectivity indices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3D: Yüzey alanı, hacim, farmakofor özellikleri, WHIM, GETAWAY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FİZİKOKİMYASAL TANIMLAYICILAR: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logP (Lipofiliklik): Oktanol/Su partisyon katsayısı, Crippen fragmentleri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pKa (İyonizasyon sabiti): Henderson-Hasselbalch, Hammett denklemleri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PSA (Polar Surface Area): N, O, H atomlarının yüzey alanı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MW (Moleküler Ağırlık), HBA/HBD (H-bağ akseptör/donör)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RotBonds (Dönebilir bağ sayısı): Moleküler esneklik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LIPINSKI KURALI (Rule of Five, 1997):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MW ≤ 500, logP ≤ 5, HBD ≤ 5, HBA ≤ 10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→ Oral biyoyararlanım için optimize, %90 ilaç adayı uyumlu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ADMET TAHMİNLERİ: FARMAKOKİNETİK MODELLEMESİ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ADMET: Absorption, Distribution, Metabolism, Excretion, Toxicity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ABSORPSİYON (A) TAHMİNLERİ: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Caco-2 Permeabilite: İnsan kolon adenokarsinom, intestinal model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PAMPA: Parallel Artifisiyel Membran Permeabilite Assay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P-gp Substrat/İnhibitor: MDR1 efflux taşıyıcı etkileşimi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DAĞILIM (D) TAHMİNLERİ: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BBB (Kan-Beyin Bariyeri): logBB &gt; 0.3 → CNS aktif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VDss: Steady-state dağılım hacmi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PPB: Plazma protein bağlanması (Albumin, AGP)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METABOLİZMA (M) TAHMİNLERİ: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CYP450 İnhibisyonu: 1A2, 2C9, 2C19, 2D6, 3A4 izoformları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Metabolik stabilite, intrinsic clearance tahmini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TOKSİSİTE (T) TAHMİNLERİ: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hERG İnhibisyonu: K+ kanal blokajı → QT uzaması, TdP riski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DILI (Drug-Induced Liver Injury): Hepatotoksisite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AMES Test: Mutajenite tahmini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FARMAKOFOR MODELLEMESİ: 3D YAPI-AKTİVİTE İLİŞKİSİ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FARMAKOFOR TANIMI (IUPAC, 1998):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'Biyolojik hedefe optimal supramoleküler etkileşimleri sağlayan ve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biyolojik yanıtı tetikleyen veya bloke eden sterik ve elektronik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özelliklerin 3 boyutlu düzenlemesi - tüm izosterik bileşiklerin ortak özelliği'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FARMAKOFOR ÖZELLİKLERİ (Pharmacophoric Features):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HBA (H-Bond Acceptor): N, O lone pair elektronları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HBD (H-Bond Donor): -NH, -OH, -SH grupları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HYD (Hydrophobic): Alifatik karbon zincirleri, aromatik halkalar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AR (Aromatic Ring): π-π stacking, cation-π etkileşimleri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PI (Positive Ionizable): Protonlanabilir aminler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NI (Negative Ionizable): Karboksilik asitler, sülfatlar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3D OVERLAY YÖNTEMLERİ: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Shape-based: Moleküler hacim eşleştirme (ROCS)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Feature-based: Farmakofor noktası hizalama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Excluded volumes: Sterik çatışma bölgeleri tanımı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EPİCLOCK: 16 farmakofor çekirdeği × 120 türev = 1,920 sanal bileşik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EPİCLOCK VERİTABANI: 36,170 YAPISAL VARYANT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ENTEGRE VERİTABANI KOMPOZİSYONU: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┌─────────────────────────────────────────────────────────────────┐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MODÜL                                           │ KAYIT SAYISI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├─────────────────────────────────────────────────────────────────┤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Temel Madde Veritabanı (WHO/UNODC sınıflandırma)│        1,815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NPS Türev Veritabanı (9 kimyasal sınıf)         │        2,822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Polisubstans Kombinasyon Matrisi               │          257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Kimyasal Sentez Reaksiyonları (Prekürsor→Ürün) │           31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Metabolik Yolak Veritabanı (CYP/UGT)           │           48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Farmakofor Sanal Kütüphane (16 çekirdek)       │        1,920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In Silico Metabolit Tahminleri (Faz I/II)      │        6,240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Markush Yapısal Varyantları (10 kural)         │       29,277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├─────────────────────────────────────────────────────────────────┤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TOPLAM                                          │       36,170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└─────────────────────────────────────────────────────────────────┘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VERİ FORMATI: SMILES (RDKit validated), InChI, InChIKey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HESAPLANAN ÖZELLİKLER: MW, logP, PSA, pKa, HBA, HBD, RotBonds, TPSA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YENİ PSİKOAKTİF MADDELER (NPS): KİMYASAL SINIFLANDIRMA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NPS TANIMI (UNODC/EMCDDA):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'Uluslararası sözleşmelerle kontrol altında olmayan, ancak kontrol altındaki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maddelerin etkilerini taklit eden veya aşan maddeler - yasal statü değişken'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9 TEMEL NPS KİMYASAL SINIFI (2,822 TÜREVİ):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1. SENTETİK KANABİNOİDLER (n=784):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İndol/İndazol çekirdeği: JWH-018, AM-2201, 5F-AKB48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CB1 tam agonist, THC'nin 10-50x potent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2. SENTETİK KATİNONLAR (n=840):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β-keto fenetilamin: Mephedrone, MDPV, α-PVP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DAT/NET/SERT inhibitor ve/veya releaser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3. FENTANİL ANALOGLARI (n=416):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4-anilidopiperidin iskeleti: Carfentanil (100x morfin)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μ-opioid reseptör tam agonist, yüksek potens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4. BENZİMİDAZOL OPİOİDLERİ - NİTAZENLER (n=208):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Etonitazene (1000x morfin), EN TEHLİKELİ SINIF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NPS KİMYASAL SINIFLARI (DEVAM)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5. TRİPTAMİNLER (n=156):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İndol etilamini: DMT, 5-MeO-DMT, Psilosibin, αMT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5-HT2A agonist aktivite, halüsinojenik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6. FENETİLAMİNLER (n=192):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2C-x serisi (Alexander Shulgin): 2C-B, 2C-I, 2C-E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NBOMe serisi: 25I-NBOMe (LSD'nin 10x, N-benzil türev)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DOx serisi: DOM, DOB (amfetamin iskeleti, uzun etki)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7. DİZAYNER BENZODİAZEPİNLER (n=128):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Triazolo-fused: Flualprazolam, Clonazolam, Flunitrazolam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Tieno-fused: Etizolam (Japonya'da reçeteli)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GABA-A reseptör pozitif allosterik modülatör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8. DİSSOSİYATİFLER - ARİLSİKLOHEKSİLAMİNLER (n=64):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PCP/Ketamin analogları: 3-MeO-PCP, MXE, DCK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NMDA reseptör antagonist, dissosiyatif anestezik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9. DİĞER NPS (n=34): GHB analogları, Aminoindanlar, Piperazinler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MARKUSH YAPI SİSTEMİ: KOMBİNATORYEL ÖNGÖRÜ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MARKUSH YAPISI (Patent Terminolojisi, USPTO/EPO):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'Genel bir kimyasal yapı içinde değiştirilebilir grupların (R-grupları)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sistematik olarak tanımlandığı jenerik yapı temsili - patent koruması'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MARKUSH FORMÜL NOTASYONU: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Core-Scaffold + [R₁][R₂][R₃]...[Rₙ] Variable Positions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Core = Ana iskelet (örn. fenetilamin, triptamin, benzimidazol)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Rₙ = Değişken substitüent setleri (halojn, alkil, alkoksi, vs.)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EPİCLOCK MARKUSH KURALLARI (10 Yapısal Kural):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Kural 1: Nitazenler (Benzimidazol)  → 5,200 varyant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Kural 2: Fenetilaminler            → 4,800 varyant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Kural 3: Triptaminler              → 3,600 varyant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Kural 4: Benzodiazepinler          → 3,200 varyant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Kural 5-10: Diğer sınıflar         → 12,477 varyant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TOPLAM ÖNGÖRÜLEN VARYANT: 29,277 'KİMYASAL OLARAK MÜMKÜN' BİLEŞİK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MARKUSH SUBSTİTÜENT PALETİ: R-GRUP DEĞİŞKENLERİ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DEĞİŞKEN SUBSTİTÜENT GRUPLARI (R-Groups Variable Definitions):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HALOJEN SUBSTİTÜSYONU: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R = -F (fluoro), -Cl (chloro), -Br (bromo), -I (iodo)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Pozisyon: ortho (2-), meta (3-), para (4-) aromatik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ALKİL SUBSTİTÜSYONU: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R = -CH₃ (metil), -C₂H₅ (etil), -C₃H₇ (n-propil), -C₄H₉ (n-butil)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Dallanmış: isopropil, tert-butil, siklopropil, siklobutil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ALKOKSİ SUBSTİTÜSYONU: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R = -OCH₃ (metoksi), -OC₂H₅ (etoksi), -OCF₃ (trifluorometoksi)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AZOT MODİFİKASYONLARI (N-alkilasyon):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N-R = N-metil, N-etil, N-propil, N-benzil, N-allil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HALKA MODİFİKASYONLARI: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Halka genişleme/daralma (5→6, 6→7 üyeli)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Heteroatom değişimi (C→N, C→O, C→S)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KOMBİNASYON: n pozisyon × m seçenek = nᵐ toplam varyant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IN SILICO RESEPTÖR AFİNİTE TAHMİNLERİ (Ki, nM)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HESAPLAMALI AFİNİTE TAHMİN YÖNTEMLERİ: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1. QSAR Modelleri: Yapı-aktivite regresyon modelleri, RF, SVM, DNN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2. Molecular Docking: AutoDock Vina, Glide, GOLD scoring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3. Free Energy Perturbation (FEP): Termodinamik hesaplama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EPİCLOCK RESEPTÖR AFİNİTE PANELİ: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DAT (Dopamin Taşıyıcı, SLC6A3):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Uyarıcı etki tahmini, Kokain/Amfetamin-tipi aktivite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SERT (Serotonin Taşıyıcı, SLC6A4):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SSRI aktivitesi, MDMA empatojenik/entaktojenik etki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5-HT2A (Serotonin 2A Reseptörü, HTR2A):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Halüsinojen aktivite tahmini, LSD/Psilosibin-tipi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OPRM1 (μ-Opioid Reseptörü):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Analjezi, Öfori, Solunum depresyonu, Bağımlılık potansiyeli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CB1 (Kanabinoid Reseptör 1, CNR1):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Kannabimimetik etki, THC-tipi psikoaktivite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KAN-BEYİN BARİYERİ (BBB) GEÇİRGENLİK TAHMİNİ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KAN-BEYİN BARİYERİ FİZYOLOJİSİ: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Tight junctions: Claudin-5, Occludin, ZO-1 proteinleri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Efflux transporterları: P-gp (ABCB1), BCRP (ABCG2), MRP (ABCC)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Metabolik enzimler: CYP1B1, CYP2D6, UGT, SULT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BBB GEÇİRGENLİK TAHMİN KRİTERLERİ: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logBB (Brain/Blood Partition Coefficient):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logBB = log₁₀(Cbeyin / Ckan)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logBB &gt; 0.3  → BBB geçirgen (CNS aktif bileşik)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logBB &lt; -1.0 → BBB geçirmez (Periferik etki)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PSA (Polar Surface Area) Eşik Değerleri: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PSA &lt; 60 Å²  → Yüksek BBB geçirgenlik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PSA 60-90 Å² → Orta BBB geçirgenlik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PSA &gt; 90 Å²  → Düşük BBB geçirgenlik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EPİCLOCK VERİTABANI ANALİZİ (1,920 farmakofor bileşiği):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BBB Geçirgen: 1,144 bileşik (%59.6) | BBB Geçirmez: 776 bileşik (%40.4)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METABOLİT TAHMİN SİSTEMİ: 6,240 ÖNGÖRÜLEN METABOLİT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XENOBIYOTIK METABOLİZMA (Karaciğer Biyotransformasyonu):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FAZ I REAKSİYONLARI (Fonksiyonelleştirme - CYP450):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Aromatik Hidroksilasyon: Ar-H → Ar-OH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Alifatik Hidroksilasyon: R-CH₃ → R-CH₂-OH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N-dealkilasyon: R-N(CH₃)₂ → R-NH-CH₃ → R-NH₂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O-dealkilasyon: R-O-CH₃ → R-OH + HCHO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N-oksidasyon: R₃N → R₃N→O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S-oksidasyon: R₂S → R₂S=O → R₂S(=O)₂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FAZ II REAKSİYONLARI (Konjugasyon):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UGT Glukuronidasyon: R-OH + UDPGA → R-O-Glukuronid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SULT Sülfatasyon: R-OH + PAPS → R-O-SO₃H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GST Glutatyon: Elektrofil + GSH → GS-Konjugat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NAT Asetilasyon: R-NH₂ + Asetil-CoA → R-NH-COCH₃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PİROLİZ ÜRÜNLERİ: Termal dekompozisyon (&gt;200°C), sigara/vaping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DNA METİLASYON VERİTABANI: 10,542 PROFİL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VERİ KAYNAKLARI (15 Bağımsız Kohort, Multi-center):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DNA METİLASYON PLATFORMLARI: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Illumina Infinium HumanMethylation450 BeadChip (450K): 485,577 CpG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Illumina Infinium MethylationEPIC BeadChip (850K/935K): 866,895 CpG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Whole Genome Bisulfite Sequencing (WGBS): ~28 milyon CpG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ÖRNEK POPÜLASYONU: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┌──────────────────────────────┬───────────┬────────┐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KATEGORİ                     │     N     │    %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├──────────────────────────────┼───────────┼────────┤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Alkol Kullanım Bozukluğu     │   2,183   │  20.7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Opioid Kullanım Bozukluğu    │   1,360   │  12.9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Kokain Kullanım Bozukluğu    │   1,030   │   9.8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Polisubstans Kullanımı       │     720   │   6.8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Esrar Kullanım Bozukluğu     │     194   │   1.8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Metamfetamin Kullanımı       │      48   │   0.5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Kontrol (Sağlıklı)           │   5,007   │  47.5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└──────────────────────────────┴───────────┴────────┘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MADDEYE ÖZGÜ EPİGENETİK YAŞ İVMELENMESİ (GrimAge-EAA)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GRİMAGE-BAZLI EPİGENETİK YAŞ İVMELENMESİ SONUÇLARI: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┌─────────────────────────────────────────────────────────────────────┐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MADDE KATEGORİSİ      │     EAA     │     95% CI      │      p  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├─────────────────────────────────────────────────────────────────────┤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Polisubstans          │  +7.3 yıl   │  (6.4 - 8.3)    │   &lt;.001 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Metamfetamin          │  +6.2 yıl   │  (4.5 - 8.1)    │   &lt;.001 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Kokain                │  +4.1 yıl   │  (3.5 - 4.7)    │   &lt;.001 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Alkol                 │  +3.6 yıl   │  (3.1 - 4.2)    │   &lt;.001 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Opioidler             │  +2.9 yıl   │  (2.5 - 3.4)    │   &lt;.001 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Esrar                 │  +0.8 yıl   │  (0.3 - 1.4)    │   .008  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Kontrol               │   0.0 yıl   │  (-0.3 - 0.3)   │   ref.  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└─────────────────────────────────────────────────────────────────────┘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İSTATİSTİKSEL NOTLAR: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Tüm madde grupları kontrolden anlamlı farklı (p &lt; 0.01)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Doz-yanıt ilişkisi: Kullanım yılı × EAA korelasyonu (r = 0.67, p &lt; .001)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Effect size (Cohen's d): Polisubstans vs Kontrol = 1.42 (çok büyük etki)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MEDİASYON ANALİZİ: NEDENSELLİK MODELLEMESİ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MEDİASYON HİPOTEZİ (Baron &amp; Kenny, 1986):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Madde Kullanımı (X) → DNA Metilasyonu (M) → Epigenetik Yaş İvmelenmesi (Y)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YOLAK ANALİZİ: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c yolu (Total effect):    X → Y     β = 4.3, SE = 0.42, p &lt; .001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a yolu (X → Mediator):    X → M     β = -0.15, SE = 0.02, p &lt; .001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b yolu (Mediator → Y):    M → Y     β = -12.4, SE = 1.1, p &lt; .001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c' yolu (Direct effect):  X → Y|M   β = 2.44, SE = 0.38, p &lt; .001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İNDİREKT ETKİ HESAPLAMASI: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ab = a × b = (-0.15) × (-12.4) = 1.86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Mediasyon oranı: ab / c = 1.86 / 4.3 = 43.3%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BOOTSTRAP ANALİZİ (10,000 replikasyon, bias-corrected):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İndirekt etki 95% CI: (1.42 - 2.31)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CI sıfırı içermez → Anlamlı kısmi mediasyon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SONUÇ: DNA metilasyonu, madde→EAA ilişkisinde anlamlı mediatör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MAKİNE ÖĞRENMESİ ENSEMBLE MODELİ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WEIGHTED VOTING ENSEMBLE ARCHİTECTURE: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Ŷ = w₁ × f_RF(X) + w₂ × f_XGB(X) + w₃ × f_EN(X)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MODEL BİLEŞENLERİ: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1. RANDOM FOREST (w₁ = 0.35):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n_estimators = 500, max_depth = 20, min_samples_leaf = 5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Feature importance: Gini impurity / permutation importance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OOB score: 0.88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2. XGBOOST (w₂ = 0.45):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learning_rate = 0.01, n_estimators = 1000, max_depth = 6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subsample = 0.8, colsample_bytree = 0.8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Early stopping: 50 rounds, eval_metric = 'rmse'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3. ELASTICNET (w₃ = 0.20):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α = 0.5 (L1/L2 mix), λ = 0.01 (via CV)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Standardized features (z-score normalization)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PERFORMANS (10-fold CV): MAE = 2.1 yıl | R² = 0.96 | RMSE = 2.8 yıl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POLİSUBSTANS KOMBİNASYONLARI: SİNERJİ/ANTAGONIZM MATRİSİ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SİNERJİ/ANTAGONİZM HESAPLAMASI: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Sinerji Faktörü (SF) = Gözlenen Etki / Beklenen Aditif Etki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SF &gt; 1.0 → Sinerjistik | SF = 1.0 → Aditif | SF &lt; 1.0 → Antagonistik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YÜKSEK RİSKLİ KOMBİNASYONLAR (n = 257 kayıt):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┌─────────────────────────────────────────────────────────────────┐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KOMBİNASYON                    │ SOKAK ADI   │  SF  │ ÖLÜM %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├─────────────────────────────────────────────────────────────────┤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Fentanil + Heroin + Carfentanil│ Grey Death  │ 4.2  │   50%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Fentanil + Heroin               │ Purple Dope │ 3.5  │   45%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Kokain + Heroin                 │ Speedball   │ 2.8  │   35%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Benzodiazepin + Opioid         │ -           │ 3.2  │   30%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Alkol + Opioid                  │ -           │ 2.8  │   28%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MDMA + LSD                      │ Candy Flip  │ 1.8  │    5%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MDMA + Psilosibin               │ Hippie Flip │ 1.6  │    3%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└─────────────────────────────────────────────────────────────────┘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MEKANİZMA: Solunum depresyonu, kardiyotoksisite, serotonin sendromu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BLOCKCHAIN DENETİM İZİ: KRİPTOGRAFİK VERİ BÜTÜNLÜĞÜ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BLOCKCHAIN MİMARİSİ (Distributed Ledger Technology):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Block[n] = {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timestamp: ISO 8601 UTC,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sample_id: UUID,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analysis_params: JSON,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result_hash: SHA-256(results),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prev_hash: Block[n-1].hash,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nonce: PoW solution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}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SHA-256 HASH FONKSİYONU (NIST FIPS 180-4):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H(m) = 256-bit message digest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Çarpışma direnci: O(2¹²⁸) operasyon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Preimage direnci: O(2²⁵⁶) operasyon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ZİNCİR DOĞRULAMA (Merkle Tree):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Block[n].hash = SHA256(Block[n-1].hash || Block[n].data)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Herhangi bir bloktaki değişiklik → Sonraki tüm hash'ler geçersiz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→ Tamper-evident, immutable kayıt sistemi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ADLİ GEÇERLİLİK: Daubert/Frye kriterleri uyumlu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POSTMORTEM DNA METİLASYON ANALİZİ: ADLİ UYGULAMALAR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POSTMORTEM DEĞİŞİKLİKLER VE ANALİTİK ZORLUKLAR: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PMI (Postmortem Interval) Etkileri: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Hücre ölümü: Apoptoz → Nekroz progresyonu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DNA degradasyonu: Endonükleaz aktivitesi, fragmentasyon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Bakteriyel kontaminasyon: Endojen mikrobiom, çevresel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Çevresel faktörler: Sıcaklık, nem, pH değişimleri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PMI DÜZELTME MODELİ: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DNAmAge_corrected = DNAmAge_raw - f(PMI, T, Tissue_type)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f() = Ampirik düzeltme fonksiyonu (multivariate regression)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DOKU STABİLİTE ANALİZİ: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┌────────────────────────────────────────────────────────┐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PMI (saat)  │ Pearson r │ MAE (yıl) │ Güvenilirlik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├────────────────────────────────────────────────────────┤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   0-48     │   &gt; 0.95  │    2.5    │ Yüksek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  48-72     │   &gt; 0.85  │    4.2    │ Orta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  72-168    │   &gt; 0.70  │    6.8    │ Düşük (dikkat!)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└────────────────────────────────────────────────────────┘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MULTİ-OMİKS ENTEGRASYON STRATEJİLERİ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ÇOK KATMANLI OMİKS VERİ TİPLERİ: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Genomics   → SNP, CNV, SV, Indels  (DNA sekansı)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Epigenomics→ 5mC, 5hmC, Histon marks (Epigenetik regülasyon)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Transcriptomics → mRNA, ncRNA, splicing (Gen ekspresyonu)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Proteomics → Protein abundance, PTMs (Fonksiyonel çıktı)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Metabolomics → Polar/Lipit metabolitler (Metabolik fenotip)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ENTEGRASYON YÖNTEMLERİ: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1. MOFA+ (Multi-Omics Factor Analysis):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Probabilistic latent factor model, K faktör × N omiks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Python: mofapy2, R: MOFA2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2. PLS-DA (Partial Least Squares - Discriminant Analysis):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Supervised dimensionality reduction, maximum covariance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3. SNF (Similarity Network Fusion):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Patient similarity networks → Unified clustering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PATHWAY CONCORDANCE: Omiks katmanları arası biyolojik tutarlılık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KLİNİK KARAR DESTEK SİSTEMİ: RİSK STRATİFİKASYONU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RİSK KATEGORİZASYONU (EAA-bazlı):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┌─────────────────────────────────────────────────────────────────────┐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RİSK          │   EAA ARALIĞI    │ KLİNİK İMPLİKASYON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├─────────────────────────────────────────────────────────────────────┤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Minimal       │ EAA &lt; +1 yıl     │ Rutin takip, 12 ay   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Düşük         │ +1 ≤ EAA &lt; +3    │ Yaşam tarzı danışmanlığı    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Orta          │ +3 ≤ EAA &lt; +5    │ Aktif izlem, 6 ay kontrol   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Yüksek        │ +5 ≤ EAA &lt; +8    │ Yoğun tedavi programı         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│ Çok Yüksek    │ EAA ≥ +8 yıl     │ Acil müdahale, multidisipliner  │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└─────────────────────────────────────────────────────────────────────┘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PROGNOSTİK FAKTÖRLER: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GrimAge EAA: All-cause mortality HR = 1.10 per yıl (95% CI: 1.08-1.12)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DunedinPACE &gt; 1.2: Hızlanmış yaşlanma, artmış morbidite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KİŞİSELLEŞTİRİLMİŞ TIBBİ ÖNERİLER: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Farmakogenetik: CYP2D6/CYP3A4 genotipe göre ilaç dozajı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Yaşam tarzı: Diyet (Mediterranean), egzersiz (HIIT), uyku hijyeni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UYARI: Karar destek aracı, klinik değerlendirmenin yerini almaz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MALİYET-ETKİNLİK ANALİZİ: ROI HESAPLAMASI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GELENEKSEL YÖNTEM MALİYETİ (per örnek):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WGBS (Whole Genome Bisulfite Sequencing):  $2,500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Illumina 450K/EPIC Microarray:             $400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Biyoinformatik pipeline analizi:           $200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Toplam:                                    ~$3,100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EPİCLOCK YAKLAŞIMI MALİYETİ (per örnek):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Hedefli CpG Panel (2,140 marker):          $80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Platform analizi (cloud-based):            $0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─────────────────────────────────────────────────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Toplam:                                    ~$80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MALİYET TASARRUFU: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Per örnek tasarruf: $3,020 (%97.4 azalma)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1,000 örneklik kohort için: $3,020,000 tasarruf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SÜRE TASARRUFU: 2-4 hafta → 24 saat turnaround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QUALITY: Hedefli yaklaşım, daha yüksek coverage depth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ÇALIŞMA SINIRLARI VE LİMİTASYONLAR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METODOLOJİK SINIRLAMALAR: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1. Simüle Katsayılar (Coefficient Simulation):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Gerçek epigenetik saat katsayıları proprietary (UCSD lisans)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Demonstrasyon amaçlı simüle edilmiş değerler kullanıldı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2. Popülasyon Temsili (Population Representativeness):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Referans veritabanı çoğunlukla Avrupa kökenli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Trans-etnik validasyon çalışmaları gerekli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3. Teknik Varyasyon (Technical Variability):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Farklı laboratuvar protokolleri, batch efektler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ComBat/SVA düzeltmeleri uygulandı, residual bias olabilir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YORUMLAMA SINIRLARI: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4. Nedensellik vs Korelasyon: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Gözlemsel veri, kausal çıkarım limiti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   • Mendelian randomizasyon çalışmaları planlanıyor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5. Bireysel Varyasyon: Genetik, çevresel, yaşam tarzı faktörleri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PROTOTIP UYARISI: Klinik karar için tek başına kullanılmamalı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GELECEK ARAŞTIRMA YÖNELİMLERİ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KISA VADELİ HEDEFLER (6-12 ay):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Gerçek epigenetik saat katsayıları lisans anlaşması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Prospektif pilot klinik validasyon çalışması (n=200)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Türkiye popülasyonu referans veritabanı başlangıcı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REST API ve mobil uygulama geliştirme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ORTA VADELİ HEDEFLER (1-3 yıl):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100,000+ profil içeren global referans veritabanı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Longitudinal kohort çalışması (5 yıllık takip)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Multi-omics entegrasyon platformu tamamlanması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CE-IVD (In Vitro Diagnostic) sertifikasyon hazırlığı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UZUN VADELİ HEDEFLER (3-5+ yıl):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FDA 510(k) / CE-IVD Class IIa onay süreci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Klinik laboratuvar LIMS entegrasyonu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Uluslararası çok merkezli randomize kontrollü çalışma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Kişiselleştirilmiş bağımlılık tıbbı vizyonunun gerçekleştirilmesi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VİZYON: Epigenetik bilgi ile donatılmış hassas tıp yaklaşımı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C7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0" y="914400"/>
            <a:ext cx="12191695" cy="36576"/>
          </a:xfrm>
          <a:prstGeom prst="rect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28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640080" y="182880"/>
            <a:ext cx="10515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TEMEL REFERANSLAR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" y="1188720"/>
            <a:ext cx="10332720" cy="5212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EPİGENETİK SAATLER: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Horvath S (2013). DNA methylation age. Genome Biology 14:R115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Hannum G et al (2013). Mol Cell 49:359-367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Levine ME et al (2018). Aging 10:573-591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Lu AT et al (2019). GrimAge. Aging 11:303-327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Belsky DW et al (2022). DunedinPACE. eLife 11:e73420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BAĞIMLILIK EPİGENETİĞİ: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Zillich L et al (2024). Addiction methylomics. Mol Psychiatry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Wangler LM et al (2022). Drug Alcohol Depend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Pucci M et al (2024). Psychopharmacology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KEMOİNFORMATİK: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Weininger D (1988). SMILES. J Chem Inf Comput Sci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Rogers D, Hahn M (2010). ECFP. J Chem Inf Model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   • Lipinski CA et al (1997). Rule of Five. Adv Drug Deliv Rev</a:t>
            </a: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</a:p>
          <a:p>
            <a:pPr>
              <a:spcAft>
                <a:spcPts val="300"/>
              </a:spcAft>
              <a:defRPr sz="1300">
                <a:solidFill>
                  <a:srgbClr val="142850"/>
                </a:solidFill>
              </a:defRPr>
            </a:pPr>
            <a:r>
              <a:t>VERİTABANLARI: GWAS Catalog, EWAS Atlas, PharmGKB, UNODC EWA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9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37160" y="7315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11480" y="7315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192024" y="768096"/>
            <a:ext cx="274320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35552" y="12344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13087" y="12344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274261" y="173736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74378" y="173736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29125" y="1773936"/>
            <a:ext cx="116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229806" y="224028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18833" y="224028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29153" y="274320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19486" y="274320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84017" y="2779776"/>
            <a:ext cx="290333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3356" y="324612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515283" y="324612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26" y="374904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548113" y="374904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5390" y="3785616"/>
            <a:ext cx="547587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0575" y="425196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98064" y="425196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53145" y="475488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395494" y="475488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208009" y="4791456"/>
            <a:ext cx="242348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246019" y="525780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302620" y="525780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272860" y="5760720"/>
            <a:ext cx="109728" cy="109728"/>
          </a:xfrm>
          <a:prstGeom prst="ellipse">
            <a:avLst/>
          </a:prstGeom>
          <a:solidFill>
            <a:srgbClr val="64B4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275779" y="5760720"/>
            <a:ext cx="109728" cy="109728"/>
          </a:xfrm>
          <a:prstGeom prst="ellipse">
            <a:avLst/>
          </a:prstGeom>
          <a:solidFill>
            <a:srgbClr val="0064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27724" y="5797296"/>
            <a:ext cx="2919" cy="18288"/>
          </a:xfrm>
          <a:prstGeom prst="rect">
            <a:avLst/>
          </a:prstGeom>
          <a:solidFill>
            <a:srgbClr val="50A0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217387" y="6263640"/>
            <a:ext cx="109728" cy="109728"/>
          </a:xfrm>
          <a:prstGeom prst="ellipse">
            <a:avLst/>
          </a:prstGeom>
          <a:solidFill>
            <a:srgbClr val="00C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331252" y="6263640"/>
            <a:ext cx="109728" cy="109728"/>
          </a:xfrm>
          <a:prstGeom prst="ellipse">
            <a:avLst/>
          </a:prstGeom>
          <a:solidFill>
            <a:srgbClr val="0096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972800" y="54864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def calculate_methylation():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0" y="107899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beta = np.mean(intensity)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72800" y="160934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return epigenetic_age()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0" y="2139696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class DNAMethylation: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972800" y="2670048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  CpG_sites = 353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972800" y="3200400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  def horvath_clock(self):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72800" y="3730751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    age = sum(coef * M)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0972800" y="4261103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SMILES = 'CCN(CC)c1ccc'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72800" y="4791455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3C8CC8"/>
                </a:solidFill>
                <a:latin typeface="Consolas"/>
              </a:defRPr>
            </a:pPr>
            <a:r>
              <a:t>fingerprint = ECFP4(mol)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72800" y="5321807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50A0DC"/>
                </a:solidFill>
                <a:latin typeface="Consolas"/>
              </a:defRPr>
            </a:pPr>
            <a:r>
              <a:t>Ki = predict_affinity()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72800" y="5852159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64B4F0"/>
                </a:solidFill>
                <a:latin typeface="Consolas"/>
              </a:defRPr>
            </a:pPr>
            <a:r>
              <a:t>logP = calculate_lipophilicity()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72800" y="6382512"/>
            <a:ext cx="11887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700">
                <a:solidFill>
                  <a:srgbClr val="2878B4"/>
                </a:solidFill>
                <a:latin typeface="Consolas"/>
              </a:defRPr>
            </a:pPr>
            <a:r>
              <a:t>BBB_permeable = True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1440" y="640080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🧬</a:t>
            </a:r>
          </a:p>
        </p:txBody>
      </p:sp>
      <p:sp>
        <p:nvSpPr>
          <p:cNvPr id="46" name="Rectangle 45"/>
          <p:cNvSpPr/>
          <p:nvPr/>
        </p:nvSpPr>
        <p:spPr>
          <a:xfrm>
            <a:off x="914400" y="1371600"/>
            <a:ext cx="10362895" cy="18288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914400" y="5029200"/>
            <a:ext cx="10362895" cy="18288"/>
          </a:xfrm>
          <a:prstGeom prst="rect">
            <a:avLst/>
          </a:prstGeom>
          <a:solidFill>
            <a:srgbClr val="00B4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14400" y="182880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C8E6FF"/>
                </a:solidFill>
              </a:defRPr>
            </a:pPr>
            <a:r>
              <a:t>TEŞEKKÜRLER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914400" y="38404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96C8F0"/>
                </a:solidFill>
              </a:defRPr>
            </a:pPr>
            <a:r>
              <a:t>İLETİŞİM VE KAYNAK KODLARI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>
                <a:solidFill>
                  <a:srgbClr val="78AAD2"/>
                </a:solidFill>
              </a:defRPr>
            </a:pPr>
            <a:r>
              <a:t>Arş. Gör. Dr. Nurcan Denli Bayır | Adli Tıp Anabilim Dalı</a:t>
            </a:r>
            <a:br/>
            <a:r>
              <a:t>GitHub: github.com/mortemdulcem/epi-clock-DNA-mtl-prototype</a:t>
            </a:r>
            <a:br/>
            <a:r>
              <a:t>EpiClock v4.0 | 36,170 Yapısal Varyant | Dünyada İlk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