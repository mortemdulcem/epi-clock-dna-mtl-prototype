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badi"/>
              </a:defRPr>
            </a:pPr>
            <a:r>
              <a:t>DNA METİLASYON SAATLERİYLE BAĞIMLILIKTA</a:t>
            </a:r>
            <a:br/>
            <a:r>
              <a:t>EPİGENETİK YAŞ İVMELENMESİNİN TESPİTİ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D2F0"/>
                </a:solidFill>
                <a:latin typeface="Abadi"/>
              </a:defRPr>
            </a:pPr>
            <a:r>
              <a:t>Detection of Epigenetic Age Acceleration in Addiction Using DNA Methylation Clocks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6B4D2"/>
                </a:solidFill>
                <a:latin typeface="Abadi"/>
              </a:defRPr>
            </a:pPr>
            <a:r>
              <a:t>Arş. Gör. Dr. Nurcan Denli Bayır</a:t>
            </a:r>
            <a:br/>
            <a:r>
              <a:t>Adli Tıp Anabilim Dalı</a:t>
            </a:r>
            <a:br/>
            <a:br/>
            <a:r>
              <a:t>EpiClock v4.0 | 36,170 Yapısal Varyant | 35+ Analiz Modülü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EPİGENETİK: TANIM VE TEMEL KAVRAMLAR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EPİGENETİK NEDİR?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Conrad Waddington (1942):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'DNA sekansında değişiklik olmaksızın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gen ekspresyonunun kalıtsal modifikasyonu'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ANAHTAR ÖZELLİKLER: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Kalıtsal ama reversibl değişiklikler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Çevresel faktörlere duyarlı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Hücre hafızası mekanizması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Doku spesifik paternler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Genotip → [Epigenetik] → Fenotip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4 TEMEL MEKANİZMA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1. DNA METİLASYONU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5-metilsitozin (5mC) oluşumu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DNMT1, DNMT3A/B enzimleri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2. HİSTON MODİFİKASYONLARI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Asetilasyon, Metilasyon, Fosforilasyon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H3K4me3 (aktif), H3K27me3 (baskılı)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3. NON-CODING RNA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miRNA, lncRNA, piRNA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4. KROMATİN REMODELİNG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SWI/SNF, ISWI, CHD kompleksleri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DNA METİLASYON BİYOKİMYASI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5-METİLSİTOZİN (5mC) OLUŞUMU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ENZİMATİK REAKSİYON: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Sitozin + SAM → 5mC + SAH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      (DNMT)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DNMT AİLESİ: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DNMT1 (Maintenance):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Hemimetile DNA tanıma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Replikasyonda patern koruma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DNMT3A/3B (De novo):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Yeni metilasyon paternleri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Embriyonik gelişim, genomik imprinting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DEMETİLASYON YOLAĞI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TET ENZİMLERİ (Ten-Eleven Translocation):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5mC → 5hmC → 5fC → 5caC → C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TET1, TET2, TET3: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α-ketoglutarat bağımlı dioksigenazlar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CpG ADALARI: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GC içeriği &gt;50%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Gözlenen/Beklenen CpG oranı &gt;0.6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Uzunluk &gt;200 baz çifti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Genellikle promoter bölgeleri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%70 insan genlerinde mevcut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EPİGENETİK YAŞLANMA: BİYOLOJİK SAAT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YAŞLANMA İMZASI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GLOBAL DEĞİŞİKLİKLER: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Global hipometilasyon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Tekrarlayan elementlerde (LINE, SINE)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Lokal hipermetilasyon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CpG adalarında, tumor supressörlerde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Epigenetik drift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Bireyler arası varyasyon artışı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Hücre tipi kompozisyon değişimi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Bağışıklık hücre oranları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EPİGENETİK SAAT PRENSİBİ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TAHMİN MODELİ: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DNAmAge = α + Σ(βᵢ × Mᵢ)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Mᵢ = CpG beta değeri (0-1)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βᵢ = Regresyon katsayısı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α = Intercept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MODEL TİPİ: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ElasticNet Regression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(L1 Lasso + L2 Ridge regularization)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Eğitim: &gt;8,000 örnek, LOOCV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5 MAJOR EPİGENETİK SAAT: DETAYLI KARŞILAŞTIRMA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087" y="1143000"/>
            <a:ext cx="7589520" cy="19751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1087" y="1143000"/>
            <a:ext cx="75895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766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SAAT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12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782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YIL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9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646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CpG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85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510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DOKU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14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806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958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ÖZELLİK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46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126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REFERANS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1087" y="1472184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766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12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782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29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646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85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510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51 doku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14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806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3.6 yıl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958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Pan-tissue, multi-doku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46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126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Genome Biol 14:R115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01087" y="1801368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3766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Hannum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12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782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29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646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785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510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014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806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3.9 yıl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30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958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 optimized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446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126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Mol Cell 49:359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01087" y="2130552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3766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PhenoAge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812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1782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29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6646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785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510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Çoklu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014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3806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2.5 yıl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330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958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 klinik biyobelirteç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46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8126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Aging 10:573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01087" y="2459736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766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GrimAge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812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1782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29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6646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785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510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014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3806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2.1 yıl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330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958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 plazma protein, mortalite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446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8126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Aging 11:303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01087" y="2788920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3766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DunedinPACE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812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1782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2022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29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6646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173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785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510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5014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3806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N/A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330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6958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Yaşlanma HIZI, 20 yıl long.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446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8126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eLife 11:e73420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" y="334670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GrimAge: HR = 1.10 per yıl EAA (en güçlü mortalite prediktörü)</a:t>
            </a:r>
          </a:p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DunedinPACE: 1.0 = normal hız, &gt;1.0 = hızlanmış, &lt;1.0 = yavaşlamış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EPİGENETİK YAŞ İVMELENMESİ (EAA)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EAA HESAPLAMA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TEMEL FORMÜL: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EAA = DNAmAge - Kronolojik Yaş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İKİ TİP EAA: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IEAA (Intrinsic EAA):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Hücre-içi yaşlanma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Kan kompozisyonundan bağımsız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Residual (DNAmAge ~ Yaş + Hücre %)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EEAA (Extrinsic EAA):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Bağışıklık yaşlanması (immunosenescence)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Hücre kompozisyonu dahil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KLİNİK YORUMLAMA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POZİTİF EAA (+):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Hızlanmış biyolojik yaşlanma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Mortalite HR: 1.03-1.09/yıl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KVS hastalık riski ↑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Nörodejenerasyon riski ↑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Kanser insidansı ↑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NEGATİF EAA (-):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Yavaşlamış yaşlanma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Süper-yaşlılar özelliği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Sağlıklı yaşam tarzı ilişkisi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DunedinPACE &gt; 1.2 → Yüksek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MADDEYE ÖZGÜ EPİGENETİK YAŞ İVMELENMESİ (GrimAge-Bazlı)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5447" y="1143000"/>
            <a:ext cx="640080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5447" y="1143000"/>
            <a:ext cx="64008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202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MADDE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13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794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EAA (yıl)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72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3783" y="117957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95% 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59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7250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p-değeri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503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690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Cohen's 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4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130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5447" y="147218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202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Polisubstans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413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794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+7.3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72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83783" y="150876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6.4 - 8.3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359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250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503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690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64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130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5447" y="180136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202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Metamfetamin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13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794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+6.2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472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83783" y="1837943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4.5 - 8.1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359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7250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503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690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64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130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5447" y="2130552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3202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13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794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+4.1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472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83783" y="2167128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3.5 - 4.7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359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7250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503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690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64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0130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95447" y="2459736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3202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413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794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+3.6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472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83783" y="2496312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3.1 - 4.2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359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7250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503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690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0.78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64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0130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2,183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95447" y="2788920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3202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Opioidler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413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7943" y="282549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+2.9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472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83783" y="282549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2.5 - 3.4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359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7250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503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8690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0.65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64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0130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1,360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95447" y="311810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32023" y="315468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Esrar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413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7943" y="315468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+0.8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472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83783" y="315468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0.3 - 1.4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359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7250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0.008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503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690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0.18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64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0130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95447" y="344728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32023" y="3483864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Kontrol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413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7943" y="3483864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5472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83783" y="3483864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-0.3 - 0.3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359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7250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referans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503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690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647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01303" y="3483864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5,007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65760" y="400507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Doz-yanıt ilişkisi: r = 0.67 (kullanım yılı × EAA), p &lt; .001</a:t>
            </a:r>
          </a:p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Meta-analiz: 15 bağımsız kohort, toplam N = 10,542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EPİCLOCK PLATFORM: 35+ ANALİZ MODÜLÜ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TEMEL MODÜLLER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1. EPİGENETİK SAAT ANALİZİ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5 major saat + 12 doku-spesifik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2. MADDE TESPİTİ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18 madde tipi, CpG marker imzaları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3. NPS VERİTABANI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2,822 türev, 9 kimyasal sınıf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4. MARKUSH YAPILARI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29,277 kombinatoryal varyant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5. FARMAKOFOR KÜTÜPHANESİ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1,920 sanal bileşik, ADMET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İLERİ ANALİZ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6. POLİSUBSTANS RİSK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257 kombinasyon, sinerji matrisi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7. KEMOİNFORMATİK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SMILES, fingerprints, benzerlik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8. GWAS/EWAS ENTEGRASYON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9 uluslararası veritabanı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9. POLİGENİK RİSK SKORU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6 bağımlılık traiti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10. BLOCKCHAIN DENETİM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 SHA-256 hash zinciri, Daubert uyumlu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EPİCLOCK VERİTABANI: 36,170 YAPISAL VARYANT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5367" y="1143000"/>
            <a:ext cx="7680960" cy="329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55367" y="1143000"/>
            <a:ext cx="768096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91943" y="1179576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MODÜL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85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514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KAYIT SAYISI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242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5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410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5367" y="1472184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91943" y="1508760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Temel Madde Veritabanı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514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1,815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242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SMILES, CAS, DEA Schedule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75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410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PubChem, ChEMBL, DEA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55367" y="1801368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91943" y="1837943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NPS Türev Veritabanı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985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514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2,822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58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242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Türev yapı, Potens oranı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75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410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UNODC, EMCDDA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55367" y="2130552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91943" y="2167128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Polisubstans Kombinasyonları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85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3514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257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58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242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Sinerji faktörü, Ölüm riski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075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410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Literatür, CDC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55367" y="2459736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91943" y="2496312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Kimyasal Sentez Reaksiyonları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985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3514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58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242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Prekursor → Ürün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75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410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DEA, INCB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55367" y="2788920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91943" y="2825496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Metabolik Yolaklar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985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3514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58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242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CYP450, Faz I/II metabolit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075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4410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PharmGKB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55367" y="3118104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91943" y="3154680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Farmakofor Sanal Kütüphane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985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3514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1,920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58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3242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In silico ADMET tahminleri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075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4410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Hesaplamalı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55367" y="3447288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91943" y="3483864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Metabolit Tahminleri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985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35143" y="3483864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6,240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958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242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Faz I, Faz II, Piroliz ürünleri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075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4410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BioTransformer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55367" y="3776472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91943" y="3813048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Markush Yapısal Varyantları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985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35143" y="381304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29,277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958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3242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R-grup kombinasyonları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075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4410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Patent analizi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55367" y="4105656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91943" y="4142232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985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35143" y="414223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36,170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958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3242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075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4410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DNA METİLASYON REFERANS VERİTABANI: 10,542 PROFİL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1127" y="1143000"/>
            <a:ext cx="6949440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21127" y="1143000"/>
            <a:ext cx="694944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7703" y="117957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KATEGORİ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85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5143" y="117957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86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522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386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931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970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CpG SİTESİ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04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698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1127" y="1472184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7703" y="150876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 Kullanım Bozukluğu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85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5143" y="150876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2,183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386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522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7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386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450K/EPIC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931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970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485K-866K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904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698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GEO, TCGA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21127" y="1801368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7703" y="1837943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 Kullanım Bozukluğu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85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35143" y="1837943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1,360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7522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12.9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7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86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450K/EPIC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931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970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485K-866K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904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698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21127" y="2130552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7703" y="216712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 Kullanım Bozukluğu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985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35143" y="216712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1,030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386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7522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9.8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87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2386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931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970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904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698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21127" y="2459736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7703" y="2496312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Polisubstans Kullanımı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985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35143" y="2496312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386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7522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6.8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7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386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EPIC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931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2970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866,895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904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698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21127" y="2788920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7703" y="282549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Esrar Kullanım Bozukluğu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985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35143" y="2825496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386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7522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87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23863" y="282549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931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2970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904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2698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21127" y="3118104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57703" y="315468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Metamfetamin Kullanımı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985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35143" y="3154680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386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75223" y="315468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72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23863" y="315468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450K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931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2970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485,577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904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2698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21127" y="3447288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57703" y="3483864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Sağlıklı Kontrol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985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35143" y="3483864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5,007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386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75223" y="3483864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47.5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872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23863" y="3483864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Karma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931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29703" y="3483864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904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2698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Multiple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621127" y="3776472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57703" y="381304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9985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35143" y="3813048"/>
            <a:ext cx="5669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10,542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386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675223" y="381304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100.0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872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23863" y="381304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931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29703" y="381304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904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698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 kohort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5760" y="433425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Illumina 450K: 485,577 CpG | Illumina EPIC: 866,895 CpG | Coğrafya: ABD, Avrupa, Asya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YENİ PSİKOAKTİF MADDELER (NPS): 9 KİMYASAL SINIF - 2,822 TÜREV</a:t>
            </a:r>
          </a:p>
        </p:txBody>
      </p:sp>
      <p:sp>
        <p:nvSpPr>
          <p:cNvPr id="7" name="Rectangle 6"/>
          <p:cNvSpPr/>
          <p:nvPr/>
        </p:nvSpPr>
        <p:spPr>
          <a:xfrm>
            <a:off x="2118207" y="1143000"/>
            <a:ext cx="7955280" cy="329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18207" y="1143000"/>
            <a:ext cx="795528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478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SINIF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9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6463" y="117957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70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366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ÖRNEK MADDE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5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HEDEF RESEPTÖR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874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406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POTENS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847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1343" y="117957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RİSK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18207" y="1472184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478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Sentetik Kanabinoidler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29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6463" y="150876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784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70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366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JWH-018, AM-2201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15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246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CB1 tam agonist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874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2406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THC 10-50x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847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1343" y="150876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Psikoz, seizure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18207" y="1801368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5478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Sentetik Katinonlar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29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6463" y="1837943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870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366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α-PVP, MDPV, Mephedrone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5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246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DAT/NET inhibitor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874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2406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Amf-tipi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847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1343" y="1837943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Paranoya, KV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18207" y="2130552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5478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 Analogları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29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6463" y="216712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870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2366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Carfentanil, Acetylfent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15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5246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μ-Opioid agonist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874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2406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Morfin 100x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847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1343" y="2167128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Resp. arrest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18207" y="2459736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5478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Nitazenler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29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6463" y="249631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208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870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366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Etonitazene, Isotonitaz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15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5246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μ-Opioid agonist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874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2406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Morfin 1000x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847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21343" y="2496312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Acil ölüm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18207" y="2788920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5478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Triptaminler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29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66463" y="282549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870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2366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5-MeO-DMT, αMT, DPT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5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5246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5-HT2A agonist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874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2406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Halüsinojen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847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21343" y="282549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Serotonin S.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18207" y="3118104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5478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Fenetilaminler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298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66463" y="315468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870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2366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25I-NBOMe, 2C-B, DOM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158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52463" y="315468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5-HT2A agonist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874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2406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LSD-tipi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8847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21343" y="315468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Hipertermi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18207" y="3447288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5478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Dizayner Benzolar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298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66463" y="3483864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128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870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2366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Flualprazolam, Clonazol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158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52463" y="3483864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GABA-A PAM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874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24063" y="3483864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Alpraz 4x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847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21343" y="3483864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Resp. dep.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118207" y="3776472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5478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Disosiyatifler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298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66463" y="381304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870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62366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3-MeO-PCP, MXE, DCK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158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52463" y="381304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NMDA antagonist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7874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824063" y="381304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Ket-tipi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847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21343" y="3813048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Ürotoksisite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18207" y="4105656"/>
            <a:ext cx="79552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5478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Diğer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298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66463" y="414223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870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2366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GHB analogları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158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52463" y="414223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GABA-B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7874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824063" y="414223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847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21343" y="4142232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Koma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760" y="4663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UNODC Early Warning Advisory | ⚠️ Nitazenler: En tehlikeli sınıf, nalokson direnci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MARKUSH YAPI KURALLARI: 29,277 KOMBİNATORYEL VARYANT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2527" y="1143000"/>
            <a:ext cx="7406640" cy="36210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92527" y="1143000"/>
            <a:ext cx="740664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910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KURAL #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4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0623" y="1179576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SINIF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14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798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ÇEKİRDEK YAPI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30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966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R-GRUP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190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558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VARYANT SAYISI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92527" y="1472184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910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4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0623" y="1508760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Nitazenler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14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798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Benzimidazol opioid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30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966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R1-R5 (5 pozisyon)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90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558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5,200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92527" y="1801368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910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4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60623" y="1837943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Fenetilaminler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614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798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β-fenilpropilamin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30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966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R1-R4 (4 pozisyon)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190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558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4,800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2527" y="2130552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910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4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60623" y="2167128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Triptaminler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614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798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İndoletilamin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730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966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R1-R4 (4 pozisyon)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190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5558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3,600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92527" y="2459736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910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240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60623" y="2496312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Benzodiazepinler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614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9798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1,4-Benzodiazepin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730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966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R1-R3 (3 pozisyon)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190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558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3,200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92527" y="2788920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2910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240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60623" y="2825496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Kanabinoidler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614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9798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İndol/İndazol çekirdek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730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0966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R1-R4 (4 pozisyon)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190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5558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3,800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92527" y="3118104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2910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240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60623" y="3154680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Katinonlar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614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9798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β-keto fenilpropilamin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730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09663" y="315468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R1-R3 (3 pozisyon)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190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5558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2,800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92527" y="3447288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29103" y="3483864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240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60623" y="3483864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Fentaniller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614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9798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4-Anilinpiperidin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730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09663" y="3483864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R1-R4 (4 pozisyon)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190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5558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2,400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392527" y="3776472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429103" y="381304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1240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60623" y="3813048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Disosiyatifler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614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9798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Arilsikloheksilamin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730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09663" y="381304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R1-R3 (3 pozisyon)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190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5558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1,600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92527" y="4105656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29103" y="414223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9-10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240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160623" y="4142232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Diğer sınıflar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8614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9798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8730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909663" y="414223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5190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55583" y="414223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1,877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92527" y="4434840"/>
            <a:ext cx="74066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29103" y="447141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</a:p>
        </p:txBody>
      </p:sp>
      <p:sp>
        <p:nvSpPr>
          <p:cNvPr id="110" name="Rectangle 109"/>
          <p:cNvSpPr/>
          <p:nvPr/>
        </p:nvSpPr>
        <p:spPr>
          <a:xfrm>
            <a:off x="312404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60623" y="4471416"/>
            <a:ext cx="16642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86140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897983" y="447141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</a:p>
        </p:txBody>
      </p:sp>
      <p:sp>
        <p:nvSpPr>
          <p:cNvPr id="114" name="Rectangle 113"/>
          <p:cNvSpPr/>
          <p:nvPr/>
        </p:nvSpPr>
        <p:spPr>
          <a:xfrm>
            <a:off x="687308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09663" y="447141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</a:p>
        </p:txBody>
      </p:sp>
      <p:sp>
        <p:nvSpPr>
          <p:cNvPr id="116" name="Rectangle 115"/>
          <p:cNvSpPr/>
          <p:nvPr/>
        </p:nvSpPr>
        <p:spPr>
          <a:xfrm>
            <a:off x="851900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55583" y="447141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29,277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760" y="499262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R-grupları: -F, -Cl, -Br, -CH₃, -C₂H₅, -OCH₃, -CF₃, N-alkil varyantları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MARKUSH SUBSTİTÜENT PALETİ: R-GRUP DEĞİŞKENLERİ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HALOJEN &amp; ALKİL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HALOJEN SUBSTİTÜSYONU: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-F (fluoro) - metabolik stabilite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-Cl (chloro) - lipofiliklik ↑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-Br (bromo) - potens değişikliği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-I (iodo) - radyoizotop marker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Pozisyon: 2-, 3-, 4- (ortho/meta/para)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ALKİL SUBSTİTÜSYONU: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-CH₃, -C₂H₅, -C₃H₇, -C₄H₉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i-propil, t-butil, siklopropil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FONKSİYONEL GRUPLAR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ALKOKSİ: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-OCH₃ (metoksi)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-OC₂H₅ (etoksi)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-OCF₃ (trifluorometoksi)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N-ALKİLASYON: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N-metil, N-etil, N-propil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N-benzil, N-allil, N-siklopropil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HALKA MODİFİKASYONU: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5→6, 6→7 üye (halka genişleme)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C→N, C→O, C→S (heteroatom)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Spiro, bridged sistemler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FARMAKOFOR SANAL KÜTÜPHANESİ: 1,920 BİLEŞİK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8287" y="1143000"/>
            <a:ext cx="6675120" cy="36210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8287" y="1143000"/>
            <a:ext cx="66751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4863" y="117957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ÇEKİRDEK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28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9423" y="117957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0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662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BİRİNCİL HEDEF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88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542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logP ARALIK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61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270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BBB GEÇİŞ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58287" y="1472184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4863" y="150876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Fenetilamin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28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9423" y="150876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0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662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DAT/SERT/5-HT2A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88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542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1.5 - 3.5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361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270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58287" y="1801368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94863" y="1837943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Triptamin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528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9423" y="1837943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0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662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5-HT2A/5-HT1A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388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542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1.0 - 3.0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61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270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58287" y="2130552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94863" y="216712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28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9423" y="216712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10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662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μ-Opioid (OPRM1)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388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7542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3.0 - 5.0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61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270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58287" y="2459736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94863" y="249631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Benzodiazepin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28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9423" y="249631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100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4662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GABA-A (α1)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388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542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2.0 - 4.0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61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7270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58287" y="2788920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94863" y="282549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Arilsikloheksilamin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28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9423" y="282549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100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4662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NMDA/σ reseptör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388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7542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2.5 - 4.5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361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7270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58287" y="3118104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94863" y="315468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Katinon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528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89423" y="315468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100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4662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DAT/NET inhibitor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388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7542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1.0 - 2.5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361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7270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58287" y="3447288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94863" y="3483864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Kanabinoid (İndol)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528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89423" y="3483864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100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4662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CB1/CB2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388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75423" y="3483864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4.0 - 7.0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361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72703" y="3483864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58287" y="3776472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94863" y="381304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Kanabinoid (İndazol)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528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89423" y="381304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140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100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4662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CB1 tam agonist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388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75423" y="381304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4.5 - 7.5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3361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72703" y="381304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58287" y="4105656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94863" y="414223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Morfin-tipi Opioid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28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89423" y="414223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100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4662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μ/κ/δ opioid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388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75423" y="414223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0.5 - 2.5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3361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72703" y="414223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58287" y="4434840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94863" y="447141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Diğer (8 çekirdek)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284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89423" y="447141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1004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46623" y="447141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Çeşitli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23884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275423" y="447141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Değişken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3361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72703" y="447141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760" y="499262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16 farmakofor çekirdeği × ortalama 120 türev = 1,920 in silico bileşik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IN SILICO ADMET TAHMİNLERİ: 1,920 BİLEŞİK ANALİZİ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087" y="1143000"/>
            <a:ext cx="7589520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1087" y="1143000"/>
            <a:ext cx="75895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766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PARAMETRE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9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646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YÖNTEM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14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806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POZİTİF N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16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822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EŞİK DEĞER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18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838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KLİNİK ANLAM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1087" y="1472184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766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BBB Geçirgenliği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29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646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QSAR (logBB)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14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806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1,144 (59.6%)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16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822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logBB &gt; 0.3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18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838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CNS aktif bileşik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01087" y="1801368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766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Caco-2 Permeabilite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9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646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PAMPA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014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806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1,456 (75.8%)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16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822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&gt;1×10⁻⁶ cm/s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18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838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İyi oral absorpsiyon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01087" y="2130552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766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P-gp Substrat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29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646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ML classifier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14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806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768 (40.0%)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816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822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Prob &gt; 0.5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18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838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Efflux pompa riski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01087" y="2459736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766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CYP3A4 İnhibisyon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29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646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Docking+QSAR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014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3806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624 (32.5%)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816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1822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IC50 &lt; 10 μM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618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838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İlaç etkileşim riski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01087" y="2788920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3766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CYP2D6 İnhibisyon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29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646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Docking+QSAR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014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3806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512 (26.7%)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816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822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IC50 &lt; 10 μM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618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838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Metabolizma inhibisyon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01087" y="3118104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3766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hERG İnhibisyon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298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66463" y="315468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QSAR (pIC50)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014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3806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384 (20.0%)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816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1822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IC50 &lt; 10 μM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618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838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QT uzaması riski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01087" y="3447288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3766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Hepatotoksisite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298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66463" y="3483864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DILI classifier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014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3806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288 (15.0%)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816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1822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Prob &gt; 0.5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618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9838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Karaciğer hasarı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301087" y="3776472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3766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AMES Mutajenite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298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66463" y="381304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Derek/Sarah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5014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53806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192 (10.0%)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816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1822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Pozitif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618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9838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Genotoksik potansiyel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RESEPTÖR AFİNİTE TAHMİN PANELİ (Ki, nM)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8287" y="1143000"/>
            <a:ext cx="6675120" cy="36210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8287" y="1143000"/>
            <a:ext cx="66751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486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RESEPTÖR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9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646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GEN ADI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5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230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FONKSİYON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74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398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REFERANS LİGAND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04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702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Ki (nM)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58287" y="1472184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486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29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646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SLC6A3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5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230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Dopamin geri alım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74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398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104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702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58287" y="1801368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9486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9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646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SLC6A4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5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230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Serotonin geri alım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474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8398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Fluoksetin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04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702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58287" y="2130552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9486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29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646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SLC6A2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35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230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Norepinefrin geri alım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474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8398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Atomoksetin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104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702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58287" y="2459736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9486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5-HT2A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29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646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HTR2A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35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230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Serotonin reseptör 2A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474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83983" y="249631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LSD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104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4702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58287" y="2788920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9486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5-HT1A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29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6463" y="282549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HTR1A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35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7230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Serotonin reseptör 1A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474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83983" y="282549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Buspiron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104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702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58287" y="3118104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94863" y="315468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μ-Opioid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298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66463" y="315468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OPRM1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35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7230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 analjezi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474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83983" y="315468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Morfin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104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47023" y="315468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58287" y="3447288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94863" y="3483864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κ-Opioid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298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66463" y="3483864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OPRK1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357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7230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 disfori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474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83983" y="3483864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Salvinorin 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104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47023" y="3483864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58287" y="3776472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94863" y="381304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CB1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298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66463" y="381304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CNR1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1357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7230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Kanabinoid 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474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183983" y="381304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THC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104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47023" y="381304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58287" y="4105656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94863" y="414223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NMDA (GluN2B)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298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66463" y="414223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GRIN2B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1357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7230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Glutamat reseptör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1474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183983" y="414223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Ketamin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6104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647023" y="414223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2,200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58287" y="4434840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94863" y="447141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GABA-A (α1)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2988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166463" y="447141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GABRA1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357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72303" y="447141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İnhibitör nörotransmisyon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4740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183983" y="447141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Diazepam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61044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647023" y="447141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5760" y="499262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QSAR + Molecular Docking | Validasyon: ChEMBL deneysel verisi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METABOLİT TAHMİN SİSTEMİ: 6,240 ÖNGÖRÜLEN METABOLİT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087" y="1143000"/>
            <a:ext cx="7589520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1087" y="1143000"/>
            <a:ext cx="75895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766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REAKSİYON TİPİ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7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934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ENZİM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58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238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ÜRÜN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88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5423" y="117957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32623" y="117957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ÖRNEK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1087" y="1472184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766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Aromatik Hidroksilasyon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27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934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CYP1A2, 3A4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58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238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Ar-OH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88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5423" y="150876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1,840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6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2623" y="150876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4-OH-amfetamin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01087" y="1801368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766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Alifatik Hidroksilasyon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27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934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CYP3A4, 2D6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58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238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R-CH₂-OH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388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5423" y="1837943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1,120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96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32623" y="1837943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ω-OH-THC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01087" y="2130552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766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N-Dealkilasyon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27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934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CYP3A4, 2B6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758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1238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R-NH₂ + aldehit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388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75423" y="216712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96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32623" y="216712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Norfentanil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01087" y="2459736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766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O-Dealkilasyon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27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9343" y="249631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CYP2D6, 3A4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758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12383" y="249631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R-OH + aldehit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388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5423" y="2496312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960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32623" y="249631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O-desmetil-tramadol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01087" y="2788920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3766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N-Oksidasyon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127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9343" y="282549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FMO3, CYP3A4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758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12383" y="282549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R₃N→O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388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75423" y="2825496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960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32623" y="282549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Metamfetamin N-oksit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01087" y="3118104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3766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Glukuronidasyon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127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49343" y="315468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UGT1A1, 2B7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758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12383" y="315468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R-O-Glukuronik asit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388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75423" y="3154680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580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960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32623" y="315468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Morfin-6-glukuronid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301087" y="3447288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3766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Sülfatasyon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127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49343" y="3483864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SULT1A1, 2A1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58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12383" y="3483864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R-O-SO₃H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388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75423" y="3483864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340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960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32623" y="3483864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MDMA-4-sülfat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301087" y="3776472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3766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Piroliz Ürünleri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127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49343" y="381304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Termal (&gt;200°C)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758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12383" y="381304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Dekompozisyon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388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75423" y="3813048"/>
            <a:ext cx="384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320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960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32623" y="381304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Crack piroliz ürünleri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" y="433425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BioTransformer algoritması | GC-MS/LC-MS retention time tahminleri dahil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DNA'DAN MADDE TESPİTİ: 18 TESPİT EDİLEBİLİR MADDE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8247" y="1143000"/>
            <a:ext cx="7315200" cy="329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8247" y="1143000"/>
            <a:ext cx="73152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482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MADDE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1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786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ANAHTAR GEN/CpG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29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954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AUC-ROC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444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106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DUYARLILIK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58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546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ÖZGÜLLÜK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73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986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SÜRE TAHMİNİ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38247" y="1472184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7482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Sigara (Aktif)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1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786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AHRR (cg05575921), F2RL3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29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954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44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106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58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9546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73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986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2 yıl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38247" y="1801368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7482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Sigara (Eski)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01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786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AHRR, GFI1, GPR15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129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954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444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8106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58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546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73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986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5 yıl (bırakma)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38247" y="2130552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7482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 (Kronik)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01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786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HECW2, SLC7A11, GGT1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129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954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444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8106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58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9546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73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986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3 yıl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38247" y="2459736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74823" y="249631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01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786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DDR1, SMPD3, DNMT3A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129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954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444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8106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58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9546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73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0986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4 yıl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38247" y="2788920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74823" y="282549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Opioidler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01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3786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OPRM1, PENK, PDYN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129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954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444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8106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58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9546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83%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73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0986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4 yıl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38247" y="3118104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74823" y="315468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Metamfetamin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9012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3786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DAT1, DRD2, COMT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129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954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444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8106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79%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588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9546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732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0986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4 yıl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38247" y="3447288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74823" y="3483864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Esrar (THC)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9012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3786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CNR1, MGLL, FAAH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129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49543" y="3483864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444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68106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77%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588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9546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732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09863" y="3483864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5 yıl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38247" y="3776472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74823" y="381304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MDMA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012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3786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SLC6A4, HTR2A, TPH2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129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949543" y="381304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444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681063" y="381304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75%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588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95463" y="381304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79%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732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09863" y="381304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4 yıl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38247" y="4105656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74823" y="414223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Benzodiazepin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9012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93786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GABRA1, GABRA2, GABRA5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9129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949543" y="414223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0.78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444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81063" y="414223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74%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5588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595463" y="414223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77%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47328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509863" y="414223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± 5 yıl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760" y="4663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100+ CpG marker analizi | Kullanım süresi tahmini 95% güven aralığı ile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DOKU-SPESİFİK EPİGENETİK SAATLER: 12 DOKU TİPİ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8287" y="1143000"/>
            <a:ext cx="6675120" cy="42793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58287" y="1143000"/>
            <a:ext cx="66751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4863" y="117957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DOKU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5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230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CpG SAYISI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01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670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MAE (yıl)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59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254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46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118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KAYNAK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58287" y="1472184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4863" y="150876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Beyin - Prefrontal Korteks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5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230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01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670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59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254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046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118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58287" y="1801368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94863" y="1837943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Beyin - Hipokampus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5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230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01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670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59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9254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046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4118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58287" y="2130552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94863" y="216712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Beyin - Serebellum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35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230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298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501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670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59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9254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046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4118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 Lab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58287" y="2459736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94863" y="2496312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Karaciğer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35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7230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421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501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670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59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9254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046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4118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Multi-tissue clock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58287" y="2788920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94863" y="282549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Böbrek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35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7230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501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6703" y="282549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59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254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046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4118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Multi-tissue clock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58287" y="3118104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94863" y="315468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Kalp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35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7230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356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501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6703" y="315468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59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92543" y="315468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046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4118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Multi-tissue clock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58287" y="3447288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94863" y="3483864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Akciğer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357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7230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334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5012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86703" y="3483864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59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92543" y="3483864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046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4118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Multi-tissue clock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58287" y="3776472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94863" y="381304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İskelet Kası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357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72303" y="381304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289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5012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86703" y="381304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559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92543" y="381304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046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4118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Muscle clock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58287" y="4105656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94863" y="4142232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Periferik Kan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1357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172303" y="414223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353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5012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86703" y="414223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559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92543" y="414223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60460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64118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Horvath (2013)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58287" y="4434840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94863" y="447141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Tükürük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357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172303" y="447141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340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5012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086703" y="447141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5596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92543" y="447141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60460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41183" y="447141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Bocklandt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58287" y="4764024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94863" y="480060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Deri (Epidermis)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13572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172303" y="480060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315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05012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086703" y="480060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05596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092543" y="480060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60460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641183" y="480060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Skin clock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58287" y="5093208"/>
            <a:ext cx="66751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94863" y="5129784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Adipoz Doku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3572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72303" y="512978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328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5012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086703" y="5129784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05596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092543" y="5129784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0.86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60460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641183" y="512978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Adipose clock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65760" y="5650992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Çapraz-doku normalizasyon algoritmaları | Postmortem doku validasyonu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POLİSUBSTANS KOMBİNASYONLARI: TEHLİKE MATRİSİ (n=257)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5367" y="1143000"/>
            <a:ext cx="7680960" cy="29626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55367" y="1143000"/>
            <a:ext cx="768096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91943" y="117957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KOMBİNASYON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8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938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SOKAK ADI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44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0983" y="117957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SİNERJİ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73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394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ÖLÜM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58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5463" y="117957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MEKANİZMA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5367" y="1472184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91943" y="150876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Fentanil+Heroin+Carfentanil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328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938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Grey Death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44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0983" y="150876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4.2x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273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394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58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95463" y="150876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Masif resp. depresyon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55367" y="1801368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91943" y="1837943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Fentanil+Heroin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28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938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Purple Dope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044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40983" y="1837943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3.5x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73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394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8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95463" y="1837943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 toksisitesi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55367" y="2130552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91943" y="216712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Kokain+Heroin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328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938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Speedball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044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40983" y="216712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273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6394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58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95463" y="216712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Kardiyovasküler kolaps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55367" y="2459736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91943" y="2496312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Benzodiazepin+Opioid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328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938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044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40983" y="2496312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273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6394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58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95463" y="2496312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Kümülatif resp. depresyon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55367" y="2788920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91943" y="282549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Alkol+Opioid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328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938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044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40983" y="2825496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273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63943" y="282549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58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95463" y="2825496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CNS depresyon sinerjisi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55367" y="3118104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91943" y="315468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MDMA+Amfetamin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328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9383" y="315468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44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40983" y="3154680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2.4x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273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63943" y="315468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588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95463" y="3154680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Hipertermi, rabdomiyoliz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55367" y="3447288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91943" y="3483864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Kokain+Alkol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328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9383" y="3483864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Cocaethylene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0440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40983" y="3483864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1.9x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273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63943" y="3483864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12%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5888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95463" y="3483864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Hepatotoksisite (aktif met.)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55367" y="3776472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291943" y="381304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MDMA+LSD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328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9383" y="381304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Candy Flip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0440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40983" y="3813048"/>
            <a:ext cx="749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1.8x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273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63943" y="381304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5888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95463" y="3813048"/>
            <a:ext cx="23042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Serotonin sendromu riski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" y="433425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SF (Synergy Factor) = Gözlenen etki / Beklenen aditif etki | CDC WONDER verileri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GWAS/EWAS VERİTABANI ENTEGRASYONU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5407" y="1143000"/>
            <a:ext cx="7040880" cy="3291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75407" y="1143000"/>
            <a:ext cx="704088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1983" y="117957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VERİTABANI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99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654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87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534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KAYIT SAYISI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03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694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ENTEGRASYON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5407" y="1472184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1983" y="150876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GWAS Catalog (NHGRI-EBI)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99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654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SNP-trait ilişkileri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987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534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550,000+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03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694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75407" y="1801368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1983" y="1837943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EWAS Catalog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99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654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CpG-trait ilişkileri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987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534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1,200,000+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03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694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Lokal kopya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75407" y="2130552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11983" y="216712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PharmGKB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699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654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Farmakogenomik varyantlar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87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534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45,000+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03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694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REST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75407" y="2459736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1983" y="249631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CPIC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699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654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Klinik PGx kılavuzları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987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3534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450+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703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694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Manuel güncelleme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75407" y="2788920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1983" y="282549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 (NCBI)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699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654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 ekspresyon verileri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987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3534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4,000,000+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703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694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GEOquery R paketi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75407" y="3118104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11983" y="315468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1000 Genomes Project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699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0654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Popülasyon genetiği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987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35343" y="315468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2,504 birey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703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06943" y="315468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VCF dosyaları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75407" y="3447288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11983" y="3483864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gnomAD v4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699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06543" y="3483864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Varyant frekansları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987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35343" y="3483864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807,162 birey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7036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06943" y="3483864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REST API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75407" y="3776472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11983" y="381304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UK Biobank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699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06543" y="381304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Biyobanka verileri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987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35343" y="381304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500,000 birey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7036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06943" y="381304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Özet istatistikler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75407" y="4105656"/>
            <a:ext cx="704088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11983" y="414223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TOPMed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699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06543" y="414223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Whole genome sequencing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987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35343" y="414223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180,000+ birey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7036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06943" y="414223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Özet istatistikler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663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Gerçek zamanlı sorgu | Otomatik veri güncelleme | Ancestry-aware analiz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POLİGENİK RİSK SKORU (PRS): 6 BAĞIMLILIK TRAİTİ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3967" y="1143000"/>
            <a:ext cx="7223759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83967" y="1143000"/>
            <a:ext cx="7223759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543" y="1179576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TRAİT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4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863" y="117957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SNP SAYISI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9583" y="117957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h² (kalıtım)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88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5423" y="117957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GWAS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275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414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PREDİKTİF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3967" y="1472184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0543" y="1508760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Alkol Kullanım Bozukluğu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4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0863" y="150876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1,200,000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9583" y="150876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0.49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88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5423" y="150876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435,563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275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414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3967" y="1801368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0543" y="1837943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Nikotin Bağımlılığı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4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80863" y="1837943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980,000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9583" y="1837943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388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5423" y="1837943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1,232,091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275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414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0.68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83967" y="2130552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20543" y="2167128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Esrar Kullanımı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4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0863" y="2167128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850,000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30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9583" y="2167128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388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75423" y="2167128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184,765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275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6414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83967" y="2459736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20543" y="2496312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 Kullanım Bozukluğu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44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80863" y="2496312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720,000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30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9583" y="2496312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388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5423" y="2496312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82,707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75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414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83967" y="2788920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0543" y="2825496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Genel Madde Kullanımı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44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80863" y="282549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1,100,000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330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9583" y="2825496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0.44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388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75423" y="2825496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1,025,550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275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6414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83967" y="3118104"/>
            <a:ext cx="7223759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20543" y="3154680"/>
            <a:ext cx="24871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Risk Alma Davranışı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442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80863" y="315468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890,000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30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9583" y="3154680"/>
            <a:ext cx="9326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388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75423" y="3154680"/>
            <a:ext cx="11155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466,571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2756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6414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0.57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367588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GWAS-validated effect sizes | LD-pruning + clumping (r² &lt; 0.1, 500kb)</a:t>
            </a:r>
          </a:p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Ancestry-correction (PCA top 10 components)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MEDİASYON ANALİZİ: MADDE → DNA METİLASYON → EAA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8247" y="1143000"/>
            <a:ext cx="731520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8247" y="1143000"/>
            <a:ext cx="73152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482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YOLAK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3623" y="1179576"/>
            <a:ext cx="3035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AÇIKLAMA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60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258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β KATSAYI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04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6983" y="117957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39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562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p-DEĞERİ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8247" y="1472184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7482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 (Total Effect)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3623" y="1508760"/>
            <a:ext cx="3035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Madde Kullanımı → EAA (toplam)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60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258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904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6983" y="150876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39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7562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8247" y="1801368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7482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 (X → 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7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3623" y="1837943"/>
            <a:ext cx="3035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Madde Kullanımı → DNA Metilasyonu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760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1258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-0.15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904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6983" y="1837943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39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7562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8247" y="2130552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7482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b (M → 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7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3623" y="2167128"/>
            <a:ext cx="3035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DNA Metilasyonu → EAA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760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1258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-12.40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904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6983" y="2167128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39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7562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38247" y="2459736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7482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c' (Direct Effect)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670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03623" y="2496312"/>
            <a:ext cx="3035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Madde Kullanımı → EAA (direkt)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760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1258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2.44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904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6983" y="2496312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390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7562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8247" y="2788920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7482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ab (Indirect Effect)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670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03623" y="2825496"/>
            <a:ext cx="3035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Mediasyon etkisi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760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1258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1.86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904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6983" y="2825496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0.22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390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7562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&lt;0.001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38247" y="3118104"/>
            <a:ext cx="73152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7482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ab/c (Proportion)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670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03623" y="3154680"/>
            <a:ext cx="30358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Mediasyon oranı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760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1258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43.3%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9040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6983" y="3154680"/>
            <a:ext cx="4754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8390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7562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367588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Baron &amp; Kenny (1986) yöntemi | Bootstrap 10,000 replikasyon</a:t>
            </a:r>
          </a:p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95% CI (1.42 - 2.31) → Zero içermez → Anlamlı kısmi mediasyon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MAKİNE ÖĞRENMESİ ENSEMBLE: YAŞ TAHMİN MODELİ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1127" y="1143000"/>
            <a:ext cx="6949440" cy="1645919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21127" y="1143000"/>
            <a:ext cx="694944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7703" y="117957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226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AĞIRLIK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00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666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MAE (yıl)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73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394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RMSE (yıl)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6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1223" y="1179576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61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9274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Pearson 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1127" y="1472184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7703" y="150876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Random Forest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156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226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00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666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273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394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46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1223" y="1508760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561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274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21127" y="1801368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7703" y="1837943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XGBoost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156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5226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0.45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300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666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273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6394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246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61223" y="1837943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561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9274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21127" y="2130552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7703" y="216712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ElasticNet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156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5226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300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666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273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6394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246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61223" y="2167128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561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9274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21127" y="2459736"/>
            <a:ext cx="69494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7703" y="249631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ENSEMBLE (Weighted)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156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5226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300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666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273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6394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246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61223" y="2496312"/>
            <a:ext cx="6583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561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9274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0.98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30175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10-fold stratified cross-validation | GridSearchCV hyperparameter tuning</a:t>
            </a:r>
          </a:p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Feature importance: Top 20 CpG = %65 varyans açıklama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BLOCKCHAIN DENETİM İZİ: KRİPTOGRAFİK BÜTÜNLÜK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BLOCK YAPISI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struct Block {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timestamp: ISO 8601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sample_id: UUID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analysis_type: string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parameters: JSON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result_hash: SHA-256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prev_hash: SHA-256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nonce: uint64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Hash[n] = SHA256(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prev_hash || timestamp || data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ADLİ GEÇERLİLİK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NIST FIPS 180-4 (SHA-256):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256-bit message digest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Collision resistance: O(2¹²⁸)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Preimage resistance: O(2²⁵⁶)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ÖZELLİKLER: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Tamper-evident (değişiklik algılama)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Immutable kayıt (değiştirilemez)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Zaman damgası (RFC 3161)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STANDART: Daubert/Frye uyumlu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POSTMORTEM DNA METİLASYON ANALİZİ: PMI DÜZELTME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5447" y="1143000"/>
            <a:ext cx="640080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95447" y="1143000"/>
            <a:ext cx="640080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202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PMI (saat)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2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930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Korelasyon (r²)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28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946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MAE (yıl)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3863" y="117957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DÜZELTME FAKTÖRİ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0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2663" y="117957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GÜVENİLİRLİK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5447" y="147218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202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0-12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92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930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728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946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3863" y="150876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Minimal (×1.02)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60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2663" y="150876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5447" y="1801368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202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12-24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92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930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728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946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7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863" y="1837943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Düşük (×1.05)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60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2663" y="1837943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95447" y="2130552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3202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24-48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92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930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&gt;0.95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728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946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7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3863" y="2167128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Orta (×1.10)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60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52663" y="2167128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95447" y="2459736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202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48-72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92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930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&gt;0.85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728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946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4.2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87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23863" y="2496312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Yüksek (×1.25)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160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52663" y="2496312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95447" y="2788920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3202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72-120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92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930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&gt;0.75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728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946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5.5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87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23863" y="2825496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Çok Yüksek (×1.40)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160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52663" y="2825496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Düşük-Orta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95447" y="3118104"/>
            <a:ext cx="640080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32023" y="315468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120-168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9272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2930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&gt;0.70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728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946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6.8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872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23863" y="3154680"/>
            <a:ext cx="17556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Maksimum (×1.60)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1608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52663" y="3154680"/>
            <a:ext cx="120700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367588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DNAmAge_corr = DNAmAge_raw × Düzeltme Faktörü - f(Sıcaklık, Doku tipi)</a:t>
            </a:r>
          </a:p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Bakteriyel kontaminasyon ve DNA degradasyon etkisi dahil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KLİNİK KARAR DESTEK SİSTEMİ: RİSK STRATİFİKASYONU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087" y="1143000"/>
            <a:ext cx="7589520" cy="19751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1087" y="1143000"/>
            <a:ext cx="758952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7663" y="117957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RİSK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26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926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EAA (yıl)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572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230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DunedinPACE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958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GrimAge HR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474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3983" y="1179576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KLİNİK AKSİYON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1087" y="1472184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7663" y="1508760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Minimal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26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926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 +1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572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230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 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958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&lt; 1.05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474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3983" y="1508760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Rutin takip, yıllık değerlendirme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01087" y="1801368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7663" y="1837943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Düşük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26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926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+1 ≤ EAA &lt; +3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572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230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1.0-1.1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958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1.05-1.15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474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3983" y="1837943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Yaşam tarzı modifikasyonu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01087" y="2130552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7663" y="2167128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Orta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726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926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+3 ≤ EAA &lt; +5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3572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230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1.1-1.2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30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958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1.15-1.25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474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83983" y="2167128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Aktif izlem, 6 aylık kontrol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01087" y="2459736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7663" y="2496312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Yüksek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726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09263" y="2496312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+5 ≤ EAA &lt; +8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3572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2303" y="2496312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1.2-1.3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30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958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1.25-1.40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4740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83983" y="2496312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Yoğun tedavi, 3 aylık kontrol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01087" y="2788920"/>
            <a:ext cx="758952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37663" y="2825496"/>
            <a:ext cx="12984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Çok Yüksek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726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09263" y="282549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≥ +8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3572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72303" y="282549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 1.3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330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958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&gt; 1.40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4740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83983" y="2825496"/>
            <a:ext cx="26700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Acil müdahale, multidisipliner yaklaşım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334670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⚠️ Bu araç klinik değerlendirme yerini almaz | Danışman hekim kararı gereklidir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MALİYET-ETKİNLİK ANALİZİ: %97.4 TASARRUF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3927" y="1143000"/>
            <a:ext cx="786384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3927" y="1143000"/>
            <a:ext cx="786384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0050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YÖNTEM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56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218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WGBS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9000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658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450K/EPIC Array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3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623" y="1179576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Biyoinformatik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0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266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TOPLAM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04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7063" y="1179576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SÜRE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3927" y="1472184"/>
            <a:ext cx="78638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0050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Geleneksel Yaklaşım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56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218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$2,500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9000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658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$400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9623" y="1508760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60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266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$3,100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304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7063" y="1508760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2-4 hafta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63927" y="1801368"/>
            <a:ext cx="78638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0050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EpiClock Hedefli Panel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56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218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000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658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53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9623" y="1837943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$0 (otomatik)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60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266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$80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304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7063" y="1837943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24 saat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3927" y="2130552"/>
            <a:ext cx="786384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0050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TASARRUF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756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1218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-$2,500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9000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658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-$320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53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9623" y="2167128"/>
            <a:ext cx="1389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-$200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160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5266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-$3,020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304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7063" y="2167128"/>
            <a:ext cx="1024127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13-27 gün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2688336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1,000 örnek için toplam tasarruf: $3,020,000</a:t>
            </a:r>
          </a:p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Hedefli panel: 353-1,030 CpG sitesi (saat tipine göre) | Ölçeklenebilir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KAPSAMLI GEN VERİTABANI: 2,800+ GEN, 14 BİYOLOJİK SİSTEM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5367" y="1143000"/>
            <a:ext cx="7680960" cy="42793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55367" y="1143000"/>
            <a:ext cx="768096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91943" y="117957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BİYOLOJİK SİSTEM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3623" y="117957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GEN SAYISI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14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8023" y="1179576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ANAHTAR GENLER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5367" y="1472184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943" y="150876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Dopaminerjik Sistem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0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3623" y="150876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14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8023" y="1508760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DRD1-5, DAT (SLC6A3), TH, DDC, COMT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55367" y="1801368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91943" y="1837943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Serotonerjik Sistem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0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3623" y="1837943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198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814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8023" y="1837943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HTR1A-7, SERT (SLC6A4), TPH1/2, MAOA/B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55367" y="2130552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91943" y="216712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Opioiderjik Sistem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0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3623" y="216712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814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8023" y="2167128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OPRM1, OPRK1, OPRD1, PDYN, PENK, POMC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55367" y="2459736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91943" y="249631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GABAerjik Sistem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70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3623" y="249631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14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8023" y="2496312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GABRA1-6, GABRB1-3, GABRD, GAD1/2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55367" y="2788920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91943" y="282549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Glutamaterjik Sistem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70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3623" y="282549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814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8023" y="2825496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GRIN1-3, GRM1-8, SLC1A1-3, GRIA1-4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55367" y="3118104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91943" y="315468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Kolinerjik Sistem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70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03623" y="315468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134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1447" y="311810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8023" y="3154680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CHRNA1-10, CHRNB1-4, CHAT, ACHE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55367" y="3447288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91943" y="348386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Endokanabinoid Sistem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670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03623" y="348386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81447" y="344728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8023" y="3483864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CNR1, CNR2, FAAH, MGLL, DAGLA/B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55367" y="3776472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91943" y="3813048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HPA Stres Aksı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670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03623" y="3813048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167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1447" y="377647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8023" y="3813048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CRH, CRHR1/2, NR3C1/2, FKBP5, MC2R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55367" y="4105656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91943" y="4142232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Nöroplastisite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670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03623" y="4142232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234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81447" y="410565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18023" y="4142232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BDNF, NTRK2, CREB1, ARC, FOS, FOSB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55367" y="4434840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91943" y="4471416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Epigenetik Regülatörler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6704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03623" y="4471416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178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81447" y="443484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8023" y="4471416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DNMT1/3A/3B, TET1-3, HDAC1-11, KDM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55367" y="4764024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291943" y="4800600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CYP450 Metabolizma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6704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03623" y="4800600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312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81447" y="476402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218023" y="4800600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CYP1A2, 2B6, 2C9, 2C19, 2D6, 3A4/5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55367" y="5093208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91943" y="5129784"/>
            <a:ext cx="19385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Diğer Sistemler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6704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03623" y="5129784"/>
            <a:ext cx="84124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688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81447" y="509320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18023" y="5129784"/>
            <a:ext cx="46817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İnflamatuar, Oksidatif stres, vb.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DİNAMİK KOMBİNASYON HESAPLAYICI: 44 MADDE × 56 HASTALIK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44 MADDE TİPİ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UYARICILAR (8):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Kokain, Amfetamin, MDMA, Meth,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Nikotin, Kafein, Modafinil, Ritalin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DEPRESANLAR (10):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Alkol, Heroin, Morfin, Oksikodoln,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Fentanil, GHB, Barbitürat, Propofol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HALÜSİNOJENLER (8):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LSD, Psilosibin, DMT, Ketamin,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PCP, Meskaljn, Salvia, İboga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DİĞER (18):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Esrar, Benzolar, İnhalanlar...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56 HASTALIK + 100+ SİNERJİ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HASTALIK KATEGORİLERİ: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Kardiyovasküler (12 hastalık)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Metabolik (8 hastalık)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Nörolojik (10 hastalık)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Psikiyatrik (14 hastalık)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Hepatik (6 hastalık)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Renal (6 hastalık)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SİNERJİ TİPLERİ: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Madde-Madde (100+ çift)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Hastalık-Hastalık (50+ çift)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Çapraz madde-hastalık etkileşim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KEMOİNFORMATİK ARAÇLAR: MOLEKÜLER ANALİZ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SMILES &amp; TANIMLAYICILAR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SMILES NOTASYONU: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Weininger (1988) - ASCII lineer kod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MOLEKÜLER TANIMLAYICILAR: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Moleküler Ağırlık (MW)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logP (Oktanol/su partisyon)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PSA (Polar Surface Area)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HBA/HBD (H-bağı akseptör/donör)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RotBonds (Dönebilir bağ sayısı)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Aromatik Halka Sayısı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Lipinski Rule of 5 kontrolü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BENZERLİK ANALİZİ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PARMAK İZİ YÖNTEMLERİ: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ECFP4 (Extended Connectivity, r=2)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ECFP6 (r=3, daha spesifik)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MACCS (166-bit, substructure)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Morgan (RDKit implementasyon)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BENZERLİK METRİKLERİ: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Tanimoto: T(A,B) = |A∩B|/|A∪B|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Dice: D(A,B) = 2|A∩B|/(|A|+|B|)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PubChem/ChEMBL entegrasyonu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VERİ DIŞA AKTARMA: ÇOKLUFORMATLİ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DESTEKLENEN FORMATLAR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1. CSV (Comma-Separated Values)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Tüm veritabanları için uygun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Excel/R/Python uyumlu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2. BED (Browser Extensible Data)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UCSC Genome Browser için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IGV (Integrative Genomics Viewer)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3. JSON (JavaScript Object Notation)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REST API entegrasyonu için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Nested/hierarchical veri yapıları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4. SQL (INSERT statements)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PostgreSQL/MySQL uyumlu şema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EXPORT EDİLEN VERİTABANLARI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CpG Marker Veritabanı (5 saat)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Madde Panelleri (18 madde)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Gen Sistemleri (14 sistem)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Epigenetik Saat Katsayıları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NPS Türevleri (2,822)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Markush Varyantları (29,277)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Farmakofor Kütüphanesi (1,920)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Metabolit Tahminleri (6,240)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Polisubstans Kombinasyonları (257)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Toplu veya seçili kayıt export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Filtre ve sıralama seçenekleri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MULTİ-OMİKS ENTEGRASYON STRATEJİLERİ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5367" y="1143000"/>
            <a:ext cx="7680960" cy="19751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55367" y="1143000"/>
            <a:ext cx="7680960" cy="329184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9194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badi"/>
              </a:defRPr>
            </a:pPr>
            <a:r>
              <a:t>OMİKS KATMANI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128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7863" y="117957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VERİ TİPİ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2423" y="117957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767" y="1143000"/>
            <a:ext cx="10972" cy="329184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8343" y="117957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badi"/>
              </a:defRPr>
            </a:pPr>
            <a:r>
              <a:t>ENTEGRASYON YÖNTEMİ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5367" y="1472184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9194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Genomics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128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7863" y="150876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SNP, CNV, SV, Indels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2423" y="1508760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WGS, WES, Array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41767" y="1472184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8343" y="1508760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VCF parsing, PLINK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55367" y="1801368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9194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Epigenomics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0128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7863" y="1837943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5mC, 5hmC, Histon marks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584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2423" y="1837943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450K, EPIC, ChIP-seq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41767" y="1801368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8343" y="1837943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Beta-value normalization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55367" y="2130552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9194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Transcriptomics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0128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7863" y="216712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mRNA, ncRNA, splice variants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584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2423" y="2167128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RNA-seq, Microarray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41767" y="2130552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8343" y="2167128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TPM/FPKM normalization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55367" y="2459736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9194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Proteomics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0128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7863" y="249631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Protein abundance, PTMs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584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2423" y="2496312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MS/MS, Antibody array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41767" y="2459736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8343" y="2496312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Intensity normalization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55367" y="2788920"/>
            <a:ext cx="7680960" cy="10972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9194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83C"/>
                </a:solidFill>
                <a:latin typeface="Abadi"/>
              </a:defRPr>
            </a:pPr>
            <a:r>
              <a:t>Metabolomics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0128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7863" y="282549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Polar metabolites, Lipids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584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2423" y="2825496"/>
            <a:ext cx="157276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LC-MS, GC-MS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41767" y="2788920"/>
            <a:ext cx="10972" cy="329184"/>
          </a:xfrm>
          <a:prstGeom prst="rect">
            <a:avLst/>
          </a:prstGeom>
          <a:solidFill>
            <a:srgbClr val="B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8343" y="2825496"/>
            <a:ext cx="212140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83C"/>
                </a:solidFill>
                <a:latin typeface="Abadi"/>
              </a:defRPr>
            </a:pPr>
            <a:r>
              <a:t>Peak area, mzML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3346704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MOFA+: Multi-Omics Factor Analysis | PLS-DA: Partial Least Squares</a:t>
            </a:r>
          </a:p>
          <a:p>
            <a:pPr>
              <a:defRPr sz="1200">
                <a:solidFill>
                  <a:srgbClr val="1E283C"/>
                </a:solidFill>
                <a:latin typeface="Abadi"/>
              </a:defRPr>
            </a:pPr>
            <a:r>
              <a:t>• SNF: Similarity Network Fusion | iCluster: Integrative clustering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ÇALIŞMA SINIRLARI VE LİMİTASYONLAR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METODOLOJİK SINIRLAR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1. SİMÜLE KATSAYILAR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Gerçek epigenetik saat katsayıları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proprietary (UCSD lisansı gerekli)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Prototip validasyon amaçlı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2. POPÜLASYON TEMSİLİ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Çoğunlukla Avrupa kökenli kohortlar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Trans-etnik validasyon çalışmaları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planlanmaktadır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3. TEKNİK VARYASYON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Farklı laboratuvar protokolleri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Batch effect düzeltme gerekliliği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YORUMLAMA SINIRLARI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4. NEDENSELLİK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Gözlemsel çalışma limitasyonu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Korelasyon ≠ Nedensellik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Mendelian randomizasyon planlanıyor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5. BİREYSEL VARYASYON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Genetik arka plan farklılıkları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Çevresel faktör etkileşimleri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 Yaşam tarzı değişkenleri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⚠️ PROTOTIP UYARISI: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Klinik karar için tek başına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kullanılmamalıdır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GELECEK ARAŞTIRMA YÖNELİMLERİ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KISA VADELİ (6-12 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Gerçek epigenetik saat katsayıları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için lisans anlaşması (UCSD)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Prospektif pilot klinik validasyon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çalışması (n=200, Türkiye)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Türkiye popülasyonu referans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  veritabanı başlangıcı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REST API geliştirme (v1.0)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Mobil uygulama (iOS/Android)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ORTA-UZUN VADELİ (1-5+ yıl)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ORTA VADELİ (1-3 yıl):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100,000+ profil veritabanı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5 yıllık longitudinal kohort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Tam multi-omics platform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CE-IVD sertifikasyon hazırlığı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UZUN VADELİ (3-5+ yıl):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FDA 510(k) / CE-IVD onay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Klinik laboratuvar entegrasyonu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• Uluslararası randomize kontrollü çalışma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VİZYON: Kişiselleştirilmiş bağımlılık tıbbı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badi"/>
              </a:defRPr>
            </a:pPr>
            <a:r>
              <a:t>TEMEL REFERANSLAR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27432" cy="51206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EPİGENETİK SAATLER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Horvath S (2013)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DNA methylation age of human tissues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Genome Biology 14:R115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Hannum G et al (2013)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Genome-wide methylation profiles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Mol Cell 49:359-367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Levine ME et al (2018)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DNA methylation-based measure (PhenoAge)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Aging 10:573-591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Lu AT et al (2019)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GrimAge strongly predicts lifespan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Aging 11:303-327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486400" cy="41148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badi"/>
              </a:defRPr>
            </a:pPr>
            <a:r>
              <a:t>BAĞIMLILIK &amp; KEMOİNFORMATİK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Belsky DW et al (2022)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DunedinPACE, a DNA methylation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biomarker of the pace of aging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eLife 11:e73420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Zillich L et al (2024)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Epigenome-wide association study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Mol Psychiatry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Weininger D (1988)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SMILES, a chemical language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J Chem Inf Comput Sci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Rogers D, Hahn M (2010)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Extended-Connectivity Fingerprints</a:t>
            </a:r>
          </a:p>
          <a:p>
            <a:pPr>
              <a:spcAft>
                <a:spcPts val="300"/>
              </a:spcAft>
              <a:defRPr sz="1600">
                <a:solidFill>
                  <a:srgbClr val="1E283C"/>
                </a:solidFill>
                <a:latin typeface="Abadi"/>
              </a:defRPr>
            </a:pPr>
            <a:r>
              <a:t>J Chem Inf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C8DCF0"/>
                </a:solidFill>
                <a:latin typeface="Abadi"/>
              </a:defRPr>
            </a:pPr>
            <a:r>
              <a:t>EpiClock v4.0 | DNA Methylation Clocks Platform | 36,170 Structural Variants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badi"/>
              </a:defRPr>
            </a:pPr>
            <a: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D2F0"/>
                </a:solidFill>
                <a:latin typeface="Abadi"/>
              </a:defRPr>
            </a:pPr>
            <a:r>
              <a:t>Thank You | Gracias | Merci | 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6B4D2"/>
                </a:solidFill>
                <a:latin typeface="Abadi"/>
              </a:defRPr>
            </a:pPr>
            <a:r>
              <a:t>Arş. Gör. Dr. Nurcan Denli Bayır</a:t>
            </a:r>
            <a:br/>
            <a:r>
              <a:t>Adli Tıp Anabilim Dalı</a:t>
            </a:r>
            <a:br/>
            <a:br/>
            <a:r>
              <a:t>GitHub: github.com/mortemdulcem/epi-clock-DNA-mtl-prototype</a:t>
            </a:r>
            <a:br/>
            <a:r>
              <a:t>EpiClock v4.0 | 36,170 Yapısal Varyant | 35+ Modül | Dünyada İlk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