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1" y="27432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27432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4086" y="537209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9769" y="537209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3" y="8001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6031" y="8001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410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086" y="106299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9769" y="106299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" y="132588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1" y="132588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769" y="15887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4086" y="15887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1" y="185166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3" y="185166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897379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9769" y="211455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4086" y="211455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1" y="237743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" y="237743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4086" y="26403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9769" y="26403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3" y="29032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6031" y="29032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96722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4086" y="316611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9769" y="316611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7784" y="34290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6071" y="34290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9769" y="369188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4086" y="369188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6031" y="395478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3" y="395478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00050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9769" y="42176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4086" y="42176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6071" y="448055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7784" y="448055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4086" y="474345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9769" y="474345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7823" y="500634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6031" y="500634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07034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4086" y="52692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9769" y="52692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7784" y="55321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76071" y="55321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9769" y="579501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84086" y="579501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1" y="605790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7823" y="605790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610362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9769" y="632079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4086" y="632079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DC"/>
                </a:solidFill>
              </a:defRPr>
            </a:pPr>
            <a:r>
              <a:t>🧬 DNA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# EpiClock DNA Analysis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1264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import numpy as np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95097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from rdkit import Chem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128930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515600" y="16276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def methylation_age():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1965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    cpg = load_cpg_sites()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230428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beta = calculate_beta()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264261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return horvath(beta)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298094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10515600" y="331927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class DNAMethylation: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3657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sites = 353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39959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clock = 'GrimAge'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433425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10515600" y="467258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SMILES = 'CCN(CC)Cc1cc'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50109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mol = Chem.MolFromSmiles()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5349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fp = AllChem.GetECFP4(mol)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568756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10515600" y="60258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Ki = predict_affinity()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371600" y="1645920"/>
            <a:ext cx="9144000" cy="18288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371600" y="4754880"/>
            <a:ext cx="9144000" cy="18288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371600" y="20116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C8E6FF"/>
                </a:solidFill>
              </a:defRPr>
            </a:pPr>
            <a:r>
              <a:t>DNA METİLASYON SAATLERİYLE BAĞIMLILIKTA</a:t>
            </a:r>
            <a:br/>
            <a:r>
              <a:t>EPİGENETİK YAŞ İVMELENMESİNİN TESPİTİ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37160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96C8F0"/>
                </a:solidFill>
              </a:defRPr>
            </a:pPr>
            <a:r>
              <a:t>Detection of Epigenetic Age Acceleration in Addiction</a:t>
            </a:r>
            <a:br/>
            <a:r>
              <a:t>Using DNA Methylation Clocks: An End-to-End Computational Approach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71600" y="51206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78AAD2"/>
                </a:solidFill>
              </a:defRPr>
            </a:pPr>
            <a:r>
              <a:t>Arş. Gör. Dr. Nurcan Denli Bayır | Adli Tıp Anabilim Dalı | EpiClock v4.0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1" y="27432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27432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4086" y="537209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9769" y="537209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3" y="8001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6031" y="8001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410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086" y="106299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9769" y="106299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" y="132588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1" y="132588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769" y="15887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4086" y="15887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1" y="185166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3" y="185166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897379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9769" y="211455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4086" y="211455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1" y="237743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" y="237743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4086" y="26403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9769" y="26403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3" y="29032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6031" y="29032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96722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4086" y="316611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9769" y="316611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7784" y="34290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6071" y="34290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9769" y="369188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4086" y="369188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6031" y="395478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3" y="395478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00050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9769" y="42176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4086" y="42176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6071" y="448055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7784" y="448055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4086" y="474345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9769" y="474345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7823" y="500634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6031" y="500634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07034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4086" y="52692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9769" y="52692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7784" y="55321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76071" y="55321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9769" y="579501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84086" y="579501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1" y="605790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7823" y="605790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610362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9769" y="632079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4086" y="632079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DC"/>
                </a:solidFill>
              </a:defRPr>
            </a:pPr>
            <a:r>
              <a:t>🧬 DNA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# EpiClock DNA Analysis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1264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import numpy as np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95097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from rdkit import Chem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128930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515600" y="16276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def methylation_age():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1965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    cpg = load_cpg_sites()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230428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beta = calculate_beta()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264261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return horvath(beta)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298094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10515600" y="331927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class DNAMethylation: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3657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sites = 353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39959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clock = 'GrimAge'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433425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10515600" y="467258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SMILES = 'CCN(CC)Cc1cc'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50109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mol = Chem.MolFromSmiles()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5349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fp = AllChem.GetECFP4(mol)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568756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10515600" y="60258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Ki = predict_affinity()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71600" y="164592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EPİGENETİK: MOLEKÜLER BİYOLOJİNİN YENİ PARADİGMASI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71600" y="1097280"/>
            <a:ext cx="8686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EPİGENETİK TANIM: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DNA sekansında değişiklik olmaksızın gen ekspresyonunun kalıtsal modifikasyonları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(Conrad Waddington, 1942 - 'Epigenetic Landscape' konsepti)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TEMEL EPİGENETİK MEKANİZMALAR: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1. DNA METİLASYONU (5-metilsitozin, 5mC):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• DNMT1, DNMT3A, DNMT3B enzimleri tarafından katalizlenen metil transferi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• S-adenozilmetiyonin (SAM) metil donör olarak kullanılır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2. HİSTON MODİFİKASYONLARI: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• Asetilasyon (HAT/HDAC), Metilasyon (HMT/HDM), Fosforilasyon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• H3K4me3 (aktivasyon), H3K27me3 (baskılama)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3. NON-CODING RNA'LAR: miRNA, lncRNA, piRNA, circRNA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4. KROMATİN REMODELİNG: SWI/SNF, ISWI, CHD, INO80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1" y="27432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27432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4086" y="537209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9769" y="537209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3" y="8001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6031" y="8001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410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086" y="106299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9769" y="106299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" y="132588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1" y="132588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769" y="15887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4086" y="15887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1" y="185166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3" y="185166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897379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9769" y="211455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4086" y="211455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1" y="237743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" y="237743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4086" y="26403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9769" y="26403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3" y="29032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6031" y="29032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96722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4086" y="316611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9769" y="316611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7784" y="34290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6071" y="34290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9769" y="369188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4086" y="369188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6031" y="395478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3" y="395478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00050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9769" y="42176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4086" y="42176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6071" y="448055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7784" y="448055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4086" y="474345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9769" y="474345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7823" y="500634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6031" y="500634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07034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4086" y="52692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9769" y="52692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7784" y="55321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76071" y="55321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9769" y="579501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84086" y="579501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1" y="605790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7823" y="605790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610362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9769" y="632079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4086" y="632079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DC"/>
                </a:solidFill>
              </a:defRPr>
            </a:pPr>
            <a:r>
              <a:t>🧬 DNA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# EpiClock DNA Analysis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1264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import numpy as np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95097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from rdkit import Chem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128930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515600" y="16276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def methylation_age():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1965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    cpg = load_cpg_sites()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230428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beta = calculate_beta()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264261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return horvath(beta)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298094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10515600" y="331927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class DNAMethylation: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3657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sites = 353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39959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clock = 'GrimAge'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433425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10515600" y="467258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SMILES = 'CCN(CC)Cc1cc'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50109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mol = Chem.MolFromSmiles()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5349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fp = AllChem.GetECFP4(mol)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568756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10515600" y="60258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Ki = predict_affinity()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71600" y="164592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DNA METİLASYON BİYOKİMYASI: MOLEKÜLER MEKANİZMA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71600" y="1097280"/>
            <a:ext cx="8686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5-METİLSİTOZİN (5mC) OLUŞUM REAKSİYONU: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Sitozin + SAM  ──── DNMT ────&gt;  5-metilsitozin + SAH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DNA METİLTRANSFERAZLAR (DNMT AİLESİ):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DNMT1 (Maintenance Methyltransferase):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Hemimetile DNA'yı tanır, replikasyonda metilasyon paternini korur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DNMT3A/3B (De novo Methyltransferases):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Yeni metilasyon paternleri oluşturur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AKTİF DEMETİLASYON (TET Enzimleri):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5mC → 5hmC → 5fC → 5caC → Sitozin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(TET1/2/3: Ten-Eleven Translocation, α-ketoglutarat bağımlı dioksigenazlar)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CpG ADALARI: GC içeriği &gt;50%, O/E CpG &gt;0.6, uzunluk &gt;200 bp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1" y="27432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27432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4086" y="537209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9769" y="537209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3" y="8001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6031" y="8001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410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086" y="106299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9769" y="106299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" y="132588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1" y="132588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769" y="15887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4086" y="15887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1" y="185166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3" y="185166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897379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9769" y="211455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4086" y="211455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1" y="237743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" y="237743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4086" y="26403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9769" y="26403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3" y="29032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6031" y="29032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96722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4086" y="316611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9769" y="316611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7784" y="34290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6071" y="34290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9769" y="369188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4086" y="369188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6031" y="395478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3" y="395478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00050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9769" y="42176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4086" y="42176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6071" y="448055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7784" y="448055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4086" y="474345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9769" y="474345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7823" y="500634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6031" y="500634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07034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4086" y="52692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9769" y="52692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7784" y="55321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76071" y="55321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9769" y="579501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84086" y="579501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1" y="605790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7823" y="605790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610362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9769" y="632079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4086" y="632079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DC"/>
                </a:solidFill>
              </a:defRPr>
            </a:pPr>
            <a:r>
              <a:t>🧬 DNA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# EpiClock DNA Analysis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1264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import numpy as np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95097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from rdkit import Chem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128930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515600" y="16276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def methylation_age():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1965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    cpg = load_cpg_sites()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230428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beta = calculate_beta()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264261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return horvath(beta)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298094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10515600" y="331927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class DNAMethylation: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3657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sites = 353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39959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clock = 'GrimAge'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433425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10515600" y="467258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SMILES = 'CCN(CC)Cc1cc'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50109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mol = Chem.MolFromSmiles()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5349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fp = AllChem.GetECFP4(mol)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568756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10515600" y="60258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Ki = predict_affinity()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71600" y="164592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EPİGENETİK SAAT: MATEMATİKSEL MODEL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71600" y="1097280"/>
            <a:ext cx="8686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EPİGENETİK YAŞ TAHMİN DENKLEMİ: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DNAmAge = α + Σ(βᵢ × Mᵢ)  ,  i = 1, ..., n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Mᵢ = CpG sitesinin metilasyon β-değeri (0-1)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βᵢ = ElasticNet regresyon katsayısı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α = İntercept değeri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n = Modele dahil CpG sayısı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ELASTİCNET REGULARIZASYON: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L(β) = ||y - Xβ||² + λ₁||β||₁ + λ₂||β||²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L1 (Lasso): Özellik seçimi, sparse solutions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L2 (Ridge): Multikolinearite düzeltmesi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VALİDASYON: LOOCV, Pearson r &gt; 0.95, MAE: 2.5-4 yıl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1" y="27432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27432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4086" y="537209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9769" y="537209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3" y="8001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6031" y="8001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410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086" y="106299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9769" y="106299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" y="132588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1" y="132588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769" y="15887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4086" y="15887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1" y="185166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3" y="185166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897379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9769" y="211455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4086" y="211455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1" y="237743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" y="237743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4086" y="26403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9769" y="26403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3" y="29032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6031" y="29032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96722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4086" y="316611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9769" y="316611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7784" y="34290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6071" y="34290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9769" y="369188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4086" y="369188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6031" y="395478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3" y="395478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00050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9769" y="42176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4086" y="42176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6071" y="448055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7784" y="448055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4086" y="474345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9769" y="474345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7823" y="500634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6031" y="500634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07034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4086" y="52692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9769" y="52692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7784" y="55321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76071" y="55321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9769" y="579501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84086" y="579501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1" y="605790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7823" y="605790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610362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9769" y="632079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4086" y="632079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DC"/>
                </a:solidFill>
              </a:defRPr>
            </a:pPr>
            <a:r>
              <a:t>🧬 DNA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# EpiClock DNA Analysis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1264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import numpy as np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95097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from rdkit import Chem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128930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515600" y="16276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def methylation_age():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1965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    cpg = load_cpg_sites()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230428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beta = calculate_beta()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264261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return horvath(beta)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298094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10515600" y="331927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class DNAMethylation: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3657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sites = 353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39959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clock = 'GrimAge'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433425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10515600" y="467258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SMILES = 'CCN(CC)Cc1cc'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50109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mol = Chem.MolFromSmiles()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5349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fp = AllChem.GetECFP4(mol)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568756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10515600" y="60258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Ki = predict_affinity()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71600" y="164592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EPİGENETİK YAŞ İVMELENMESİ (EAA)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71600" y="1097280"/>
            <a:ext cx="8686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EAA FORMÜLÜ: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EAA = DNAmAge - Kronolojik Yaş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IEAA: Intrinsic (hücre-içi yaşlanma)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EEAA: Extrinsic (immunosenescence)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KLİNİK KORELASYONLAR: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Pozitif EAA (+): Hızlanmış biyolojik yaşlanma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- Artmış mortalite riski (HR: 1.03-1.09 per yıl)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- Kardiyovasküler, nörodejeneratif hastalık riski ↑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Negatif EAA (-): Yavaşlamış biyolojik yaşlanma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- Süper-yüzlüler (supercentenarians)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DunedinPACE: Yaşlanma hızı ölçümü (referans: 1.0)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1" y="27432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27432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4086" y="537209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9769" y="537209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3" y="8001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6031" y="8001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410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086" y="106299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9769" y="106299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" y="132588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1" y="132588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769" y="15887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4086" y="15887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1" y="185166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3" y="185166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897379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9769" y="211455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4086" y="211455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1" y="237743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" y="237743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4086" y="26403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9769" y="26403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3" y="29032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6031" y="29032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96722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4086" y="316611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9769" y="316611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7784" y="34290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6071" y="34290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9769" y="369188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4086" y="369188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6031" y="395478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3" y="395478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00050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9769" y="42176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4086" y="42176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6071" y="448055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7784" y="448055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4086" y="474345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9769" y="474345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7823" y="500634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6031" y="500634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07034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4086" y="52692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9769" y="52692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7784" y="55321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76071" y="55321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9769" y="579501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84086" y="579501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1" y="605790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7823" y="605790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610362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9769" y="632079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4086" y="632079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DC"/>
                </a:solidFill>
              </a:defRPr>
            </a:pPr>
            <a:r>
              <a:t>🧬 DNA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# EpiClock DNA Analysis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1264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import numpy as np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95097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from rdkit import Chem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128930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515600" y="16276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def methylation_age():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1965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    cpg = load_cpg_sites()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230428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beta = calculate_beta()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264261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return horvath(beta)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298094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10515600" y="331927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class DNAMethylation: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3657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sites = 353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39959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clock = 'GrimAge'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433425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10515600" y="467258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SMILES = 'CCN(CC)Cc1cc'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50109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mol = Chem.MolFromSmiles()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5349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fp = AllChem.GetECFP4(mol)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568756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10515600" y="60258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Ki = predict_affinity()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71600" y="164592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 MAJOR EPİGENETİK SAAT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71600" y="1097280"/>
            <a:ext cx="8686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1. HORVATH PAN-TİSSUE CLOCK (2013):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353 CpG, 51 doku tipi, ElasticNet, MAE: 3.6 yıl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2. HANNUM BLOOD CLOCK (2013):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71 CpG, kan optimize, MAE: 3.9 yıl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3. PHENOAGE (Levine, 2018):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513 CpG, 9 klinik biyobelirteç entegre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Albumin, Kreatinin, Glukoz, CRP, Lenfosit, MCV, RDW, ALP, WBC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4. GRIMAGE (Lu, 2019):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1,030 CpG, plazma protein tahmini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En güçlü mortalite prediktörü (HR: 1.10)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5. DUNEDINPACE (Belsky, 2022):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173 CpG, yaşlanma hızı, 19 organ sistem biyobelirteci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1" y="27432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27432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4086" y="537209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9769" y="537209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3" y="8001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6031" y="8001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410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086" y="106299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9769" y="106299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" y="132588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1" y="132588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769" y="15887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4086" y="15887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1" y="185166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3" y="185166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897379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9769" y="211455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4086" y="211455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1" y="237743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" y="237743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4086" y="26403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9769" y="26403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3" y="29032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6031" y="29032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96722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4086" y="316611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9769" y="316611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7784" y="34290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6071" y="34290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9769" y="369188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4086" y="369188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6031" y="395478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3" y="395478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00050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9769" y="42176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4086" y="42176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6071" y="448055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7784" y="448055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4086" y="474345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9769" y="474345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7823" y="500634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6031" y="500634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07034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4086" y="52692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9769" y="52692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7784" y="55321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76071" y="55321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9769" y="579501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84086" y="579501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1" y="605790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7823" y="605790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610362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9769" y="632079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4086" y="632079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DC"/>
                </a:solidFill>
              </a:defRPr>
            </a:pPr>
            <a:r>
              <a:t>🧬 DNA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# EpiClock DNA Analysis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1264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import numpy as np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95097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from rdkit import Chem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128930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515600" y="16276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def methylation_age():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1965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    cpg = load_cpg_sites()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230428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beta = calculate_beta()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264261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return horvath(beta)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298094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10515600" y="331927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class DNAMethylation: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3657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sites = 353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39959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clock = 'GrimAge'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433425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10515600" y="467258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SMILES = 'CCN(CC)Cc1cc'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50109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mol = Chem.MolFromSmiles()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5349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fp = AllChem.GetECFP4(mol)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568756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10515600" y="60258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Ki = predict_affinity()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71600" y="164592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KEMOİNFORMATİK: HESAPLAMALI KİMYA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71600" y="1097280"/>
            <a:ext cx="8686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KEMOİNFORMATİK TANIMI (F.K. Brown, 1998):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'Kimyasal bilginin toplanması, depolanması, analizi için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bilgisayar bilimi ve bilgi teknolojisi tekniklerinin uygulanması'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TEMEL ALANLAR: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1. MOLEKÜLER TEMSİL: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• SMILES, InChI, Molecular Fingerprints (ECFP, MACCS)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2. QSAR/QSPR MODELLEMESİ: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• Quantitative Structure-Activity/Property Relationships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3. SANAL TARAMA: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• Ligand-bazlı, Yapı-bazlı, Farmakofor-bazlı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4. ADMET TAHMİNİ: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• Absorption, Distribution, Metabolism, Excretion, Toxicity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1" y="27432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27432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4086" y="537209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9769" y="537209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3" y="8001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6031" y="8001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410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086" y="106299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9769" y="106299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" y="132588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1" y="132588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769" y="15887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4086" y="15887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1" y="185166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3" y="185166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897379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9769" y="211455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4086" y="211455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1" y="237743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" y="237743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4086" y="26403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9769" y="26403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3" y="29032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6031" y="29032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96722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4086" y="316611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9769" y="316611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7784" y="34290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6071" y="34290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9769" y="369188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4086" y="369188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6031" y="395478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3" y="395478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00050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9769" y="42176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4086" y="42176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6071" y="448055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7784" y="448055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4086" y="474345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9769" y="474345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7823" y="500634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6031" y="500634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07034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4086" y="52692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9769" y="52692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7784" y="55321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76071" y="55321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9769" y="579501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84086" y="579501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1" y="605790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7823" y="605790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610362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9769" y="632079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4086" y="632079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DC"/>
                </a:solidFill>
              </a:defRPr>
            </a:pPr>
            <a:r>
              <a:t>🧬 DNA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# EpiClock DNA Analysis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1264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import numpy as np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95097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from rdkit import Chem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128930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515600" y="16276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def methylation_age():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1965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    cpg = load_cpg_sites()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230428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beta = calculate_beta()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264261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return horvath(beta)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298094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10515600" y="331927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class DNAMethylation: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3657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sites = 353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39959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clock = 'GrimAge'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433425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10515600" y="467258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SMILES = 'CCN(CC)Cc1cc'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50109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mol = Chem.MolFromSmiles()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5349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fp = AllChem.GetECFP4(mol)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568756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10515600" y="60258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Ki = predict_affinity()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71600" y="164592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SMILES NOTASYONU: MOLEKÜLER TEMSİL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71600" y="1097280"/>
            <a:ext cx="8686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SMILES (Simplified Molecular Input Line Entry System):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Kimyasal yapıları ASCII ile kodlayan lineer notasyon (Weininger, 1988)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SMILES KURALLARI: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Atomlar: C, N, O, S, P, F, Cl, Br, I (lowercase: aromatik)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Bağlar: - (single), = (double), # (triple)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Dallanma: Parantez ()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Halka: Rakamlar (c1ccccc1 = benzen)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Stereokimya: @, @@, /, \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ÖRNEK SMILES: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Morfin:   CN1CC[C@]23c4c5ccc(O)c4O[C@H]2...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Fentanil: CCC(=O)N(c1ccccc1)C2CCN(CCc3ccccc3)CC2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THC:      CCCCCc1cc(O)c2C3CC(C)=CCC3C(C)(C)Oc2c1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MDMA:     CC(NC)Cc1ccc2OCOc2c1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CANONICAL SMILES: Benzersiz, standartlaştırılmış temsil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1" y="27432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27432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4086" y="537209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9769" y="537209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3" y="8001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6031" y="8001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410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086" y="106299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9769" y="106299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" y="132588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1" y="132588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769" y="15887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4086" y="15887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1" y="185166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3" y="185166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897379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9769" y="211455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4086" y="211455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1" y="237743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" y="237743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4086" y="26403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9769" y="26403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3" y="29032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6031" y="29032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96722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4086" y="316611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9769" y="316611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7784" y="34290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6071" y="34290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9769" y="369188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4086" y="369188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6031" y="395478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3" y="395478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00050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9769" y="42176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4086" y="42176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6071" y="448055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7784" y="448055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4086" y="474345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9769" y="474345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7823" y="500634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6031" y="500634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07034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4086" y="52692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9769" y="52692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7784" y="55321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76071" y="55321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9769" y="579501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84086" y="579501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1" y="605790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7823" y="605790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610362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9769" y="632079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4086" y="632079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DC"/>
                </a:solidFill>
              </a:defRPr>
            </a:pPr>
            <a:r>
              <a:t>🧬 DNA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# EpiClock DNA Analysis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1264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import numpy as np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95097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from rdkit import Chem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128930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515600" y="16276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def methylation_age():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1965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    cpg = load_cpg_sites()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230428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beta = calculate_beta()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264261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return horvath(beta)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298094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10515600" y="331927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class DNAMethylation: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3657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sites = 353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39959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clock = 'GrimAge'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433425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10515600" y="467258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SMILES = 'CCN(CC)Cc1cc'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50109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mol = Chem.MolFromSmiles()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5349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fp = AllChem.GetECFP4(mol)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568756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10515600" y="60258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Ki = predict_affinity()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71600" y="164592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MOLEKÜLER PARMAK İZLERİ (FINGERPRINTS)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71600" y="1097280"/>
            <a:ext cx="8686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MOLEKÜLER PARMAK İZİ: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Kimyasal yapıların bit vektörleri şeklinde kodlanması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PARMAK İZİ TİPLERİ: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1. SUBSTRUCTURE FINGERPRINTS: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• MACCS Keys (166 bit): Fonksiyonel gruplar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• PubChem (881 bit): Geniş özellik seti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2. CIRCULAR FINGERPRINTS: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• ECFP (Extended Connectivity FP):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  - ECFP4: Yarıçap 2, 1024-2048 bit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  - ECFP6: Yarıçap 3, daha detaylı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• Morgan: RDKit implementasyonu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BENZERLİK METRİKLERİ: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Tanimoto: T(A,B) = |A∩B| / |A∪B|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Dice: D(A,B) = 2|A∩B| / (|A|+|B|)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1" y="27432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27432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4086" y="537209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9769" y="537209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3" y="8001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6031" y="8001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410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086" y="106299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9769" y="106299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" y="132588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1" y="132588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769" y="15887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4086" y="15887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1" y="185166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3" y="185166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897379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9769" y="211455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4086" y="211455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1" y="237743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" y="237743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4086" y="26403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9769" y="26403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3" y="29032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6031" y="29032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96722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4086" y="316611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9769" y="316611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7784" y="34290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6071" y="34290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9769" y="369188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4086" y="369188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6031" y="395478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3" y="395478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00050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9769" y="42176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4086" y="42176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6071" y="448055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7784" y="448055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4086" y="474345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9769" y="474345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7823" y="500634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6031" y="500634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07034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4086" y="52692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9769" y="52692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7784" y="55321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76071" y="55321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9769" y="579501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84086" y="579501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1" y="605790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7823" y="605790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610362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9769" y="632079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4086" y="632079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DC"/>
                </a:solidFill>
              </a:defRPr>
            </a:pPr>
            <a:r>
              <a:t>🧬 DNA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# EpiClock DNA Analysis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1264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import numpy as np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95097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from rdkit import Chem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128930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515600" y="16276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def methylation_age():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1965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    cpg = load_cpg_sites()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230428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beta = calculate_beta()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264261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return horvath(beta)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298094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10515600" y="331927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class DNAMethylation: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3657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sites = 353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39959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clock = 'GrimAge'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433425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10515600" y="467258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SMILES = 'CCN(CC)Cc1cc'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50109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mol = Chem.MolFromSmiles()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5349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fp = AllChem.GetECFP4(mol)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568756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10515600" y="60258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Ki = predict_affinity()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71600" y="164592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QSAR/QSPR: YAPI-AKTİVİTE İLİŞKİLERİ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71600" y="1097280"/>
            <a:ext cx="8686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QSAR PARADİGMASI (Hansch &amp; Fujita, 1964):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Biyolojik Aktivite = f(Moleküler Tanımlayıcılar)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MOLEKÜLER TANIMLAYICILAR: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1D: Atom sayısı, MW, Formül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2D: Topolojik indeksler, ECFP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3D: Yüzey alanı, hacim, farmakofor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FİZİKOKİMYASAL TANIMLAYICILAR: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logP: Lipofiliklik (Oktanol/Su)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pKa: İyonizasyon sabiti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PSA: Polar Surface Area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MW, HBA, HBD, RotBonds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LIPINSKI KURALI (Rule of Five):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MW ≤ 500, logP ≤ 5, HBD ≤ 5, HBA ≤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1" y="27432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27432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4086" y="537209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9769" y="537209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3" y="8001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6031" y="8001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410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086" y="106299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9769" y="106299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" y="132588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1" y="132588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769" y="15887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4086" y="15887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1" y="185166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3" y="185166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897379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9769" y="211455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4086" y="211455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1" y="237743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" y="237743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4086" y="26403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9769" y="26403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3" y="29032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6031" y="29032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96722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4086" y="316611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9769" y="316611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7784" y="34290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6071" y="34290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9769" y="369188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4086" y="369188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6031" y="395478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3" y="395478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00050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9769" y="42176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4086" y="42176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6071" y="448055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7784" y="448055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4086" y="474345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9769" y="474345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7823" y="500634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6031" y="500634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07034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4086" y="52692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9769" y="52692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7784" y="55321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76071" y="55321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9769" y="579501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84086" y="579501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1" y="605790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7823" y="605790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610362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9769" y="632079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4086" y="632079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DC"/>
                </a:solidFill>
              </a:defRPr>
            </a:pPr>
            <a:r>
              <a:t>🧬 DNA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# EpiClock DNA Analysis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1264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import numpy as np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95097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from rdkit import Chem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128930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515600" y="16276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def methylation_age():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1965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    cpg = load_cpg_sites()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230428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beta = calculate_beta()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264261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return horvath(beta)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298094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10515600" y="331927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class DNAMethylation: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3657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sites = 353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39959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clock = 'GrimAge'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433425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10515600" y="467258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SMILES = 'CCN(CC)Cc1cc'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50109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mol = Chem.MolFromSmiles()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5349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fp = AllChem.GetECFP4(mol)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568756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10515600" y="60258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Ki = predict_affinity()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71600" y="164592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ADMET TAHMİNLERİ: FARMAKOKİNETİK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71600" y="1097280"/>
            <a:ext cx="8686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ADMET: Absorption, Distribution, Metabolism, Excretion, Toxicity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ABSORPSİYON: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Caco-2 Permeabilite, PAMPA, P-gp substrat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DAĞILIM: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BBB Geçirgenliği: logBB &gt; 0.3 → CNS aktif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VDss, Plazma protein bağlanması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METABOLİZMA: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CYP450 İnhibisyonu: 1A2, 2C9, 2C19, 2D6, 3A4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Metabolik stabilite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TOKSİSİTE: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hERG İnhibisyonu → QT uzaması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Hepatotoksisite (DILI)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AMES mutajenite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1" y="27432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27432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4086" y="537209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9769" y="537209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3" y="8001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6031" y="8001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410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086" y="106299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9769" y="106299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" y="132588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1" y="132588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769" y="15887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4086" y="15887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1" y="185166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3" y="185166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897379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9769" y="211455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4086" y="211455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1" y="237743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" y="237743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4086" y="26403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9769" y="26403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3" y="29032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6031" y="29032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96722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4086" y="316611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9769" y="316611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7784" y="34290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6071" y="34290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9769" y="369188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4086" y="369188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6031" y="395478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3" y="395478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00050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9769" y="42176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4086" y="42176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6071" y="448055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7784" y="448055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4086" y="474345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9769" y="474345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7823" y="500634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6031" y="500634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07034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4086" y="52692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9769" y="52692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7784" y="55321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76071" y="55321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9769" y="579501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84086" y="579501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1" y="605790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7823" y="605790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610362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9769" y="632079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4086" y="632079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DC"/>
                </a:solidFill>
              </a:defRPr>
            </a:pPr>
            <a:r>
              <a:t>🧬 DNA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# EpiClock DNA Analysis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1264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import numpy as np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95097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from rdkit import Chem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128930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515600" y="16276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def methylation_age():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1965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    cpg = load_cpg_sites()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230428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beta = calculate_beta()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264261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return horvath(beta)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298094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10515600" y="331927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class DNAMethylation: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3657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sites = 353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39959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clock = 'GrimAge'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433425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10515600" y="467258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SMILES = 'CCN(CC)Cc1cc'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50109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mol = Chem.MolFromSmiles()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5349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fp = AllChem.GetECFP4(mol)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568756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10515600" y="60258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Ki = predict_affinity()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71600" y="164592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FARMAKOFOR MODELLEMESİ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71600" y="1097280"/>
            <a:ext cx="8686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FARMAKOFOR TANIMI (IUPAC):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'Biyolojik hedefe optimal supramoleküler etkileşimleri sağlayan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sterik ve elektronik özelliklerin 3D düzenlemesi'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FARMAKOFOR ÖZELLİKLERİ: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HBA: Hidrojen Bağı Akseptörü (N, O lone pair)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HBD: Hidrojen Bağı Donörü (-NH, -OH)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HYD: Hidrofobik Bölge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AR: Aromatik Halka (π-π stacking)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PI: Pozitif İyonize (Amin)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NI: Negatif İyonize (Karboksil)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EPİCLOCK FARMAKOFOR KÜTÜPHANESİ: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16 farmakofor çekirdeği × 120 türev = 1,920 sanal bileşik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1" y="27432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27432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4086" y="537209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9769" y="537209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3" y="8001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6031" y="8001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410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086" y="106299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9769" y="106299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" y="132588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1" y="132588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769" y="15887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4086" y="15887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1" y="185166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3" y="185166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897379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9769" y="211455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4086" y="211455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1" y="237743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" y="237743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4086" y="26403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9769" y="26403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3" y="29032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6031" y="29032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96722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4086" y="316611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9769" y="316611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7784" y="34290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6071" y="34290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9769" y="369188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4086" y="369188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6031" y="395478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3" y="395478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00050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9769" y="42176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4086" y="42176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6071" y="448055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7784" y="448055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4086" y="474345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9769" y="474345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7823" y="500634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6031" y="500634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07034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4086" y="52692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9769" y="52692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7784" y="55321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76071" y="55321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9769" y="579501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84086" y="579501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1" y="605790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7823" y="605790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610362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9769" y="632079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4086" y="632079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DC"/>
                </a:solidFill>
              </a:defRPr>
            </a:pPr>
            <a:r>
              <a:t>🧬 DNA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# EpiClock DNA Analysis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1264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import numpy as np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95097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from rdkit import Chem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128930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515600" y="16276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def methylation_age():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1965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    cpg = load_cpg_sites()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230428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beta = calculate_beta()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264261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return horvath(beta)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298094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10515600" y="331927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class DNAMethylation: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3657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sites = 353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39959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clock = 'GrimAge'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433425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10515600" y="467258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SMILES = 'CCN(CC)Cc1cc'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50109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mol = Chem.MolFromSmiles()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5349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fp = AllChem.GetECFP4(mol)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568756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10515600" y="60258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Ki = predict_affinity()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71600" y="164592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EPİCLOCK VERİTABANI: 36,170 VARYANT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71600" y="1097280"/>
            <a:ext cx="8686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ENTEGRE VERİTABANI: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┌────────────────────────────────────────────────┐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MODÜL                           │ KAYIT SAYISI 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├────────────────────────────────────────────────┤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Temel Madde Veritabanı          │        1,815 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NPS Türev Veritabanı            │        2,822 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Polisubstans Kombinasyonları    │          257 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Kimyasal Sentez Reaksiyonları   │           31 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Metabolik Yolaklar              │           48 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Farmakofor Sanal Kütüphane      │        1,920 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Metabolit Tahminleri            │        6,240 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Markush Yapısal Varyantları     │       29,277 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├────────────────────────────────────────────────┤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TOPLAM                          │       36,170 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└────────────────────────────────────────────────┘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1" y="27432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27432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4086" y="537209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9769" y="537209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3" y="8001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6031" y="8001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410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086" y="106299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9769" y="106299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" y="132588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1" y="132588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769" y="15887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4086" y="15887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1" y="185166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3" y="185166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897379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9769" y="211455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4086" y="211455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1" y="237743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" y="237743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4086" y="26403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9769" y="26403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3" y="29032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6031" y="29032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96722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4086" y="316611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9769" y="316611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7784" y="34290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6071" y="34290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9769" y="369188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4086" y="369188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6031" y="395478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3" y="395478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00050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9769" y="42176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4086" y="42176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6071" y="448055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7784" y="448055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4086" y="474345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9769" y="474345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7823" y="500634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6031" y="500634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07034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4086" y="52692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9769" y="52692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7784" y="55321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76071" y="55321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9769" y="579501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84086" y="579501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1" y="605790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7823" y="605790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610362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9769" y="632079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4086" y="632079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DC"/>
                </a:solidFill>
              </a:defRPr>
            </a:pPr>
            <a:r>
              <a:t>🧬 DNA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# EpiClock DNA Analysis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1264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import numpy as np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95097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from rdkit import Chem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128930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515600" y="16276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def methylation_age():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1965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    cpg = load_cpg_sites()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230428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beta = calculate_beta()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264261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return horvath(beta)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298094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10515600" y="331927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class DNAMethylation: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3657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sites = 353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39959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clock = 'GrimAge'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433425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10515600" y="467258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SMILES = 'CCN(CC)Cc1cc'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50109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mol = Chem.MolFromSmiles()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5349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fp = AllChem.GetECFP4(mol)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568756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10515600" y="60258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Ki = predict_affinity()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71600" y="164592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YENİ PSİKOAKTİF MADDELER (NPS)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71600" y="1097280"/>
            <a:ext cx="8686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NPS TANIMI (UNODC/EMCDDA):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Kontrol altındaki maddelerin etkilerini taklit eden maddeler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9 NPS KİMYASAL SINIFI (2,822 türev):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1. SENTETİK KANABİNOİDLER (n=784):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JWH-018, AM-2201, CB1 tam agonist, THC 10-50x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2. SENTETİK KATİNONLAR (n=840):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Mephedrone, MDPV, α-PVP (Bath salts)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3. FENTANİL ANALOGLARI (n=416):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Carfentanil (100x morfin), μ-opioid agonist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4. NİTAZENLER (n=208):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Etonitazene (1000x morfin) - EN TEHLİKELİ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1" y="27432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27432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4086" y="537209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9769" y="537209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3" y="8001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6031" y="8001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410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086" y="106299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9769" y="106299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" y="132588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1" y="132588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769" y="15887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4086" y="15887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1" y="185166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3" y="185166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897379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9769" y="211455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4086" y="211455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1" y="237743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" y="237743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4086" y="26403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9769" y="26403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3" y="29032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6031" y="29032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96722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4086" y="316611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9769" y="316611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7784" y="34290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6071" y="34290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9769" y="369188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4086" y="369188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6031" y="395478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3" y="395478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00050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9769" y="42176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4086" y="42176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6071" y="448055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7784" y="448055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4086" y="474345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9769" y="474345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7823" y="500634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6031" y="500634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07034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4086" y="52692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9769" y="52692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7784" y="55321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76071" y="55321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9769" y="579501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84086" y="579501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1" y="605790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7823" y="605790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610362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9769" y="632079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4086" y="632079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DC"/>
                </a:solidFill>
              </a:defRPr>
            </a:pPr>
            <a:r>
              <a:t>🧬 DNA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# EpiClock DNA Analysis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1264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import numpy as np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95097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from rdkit import Chem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128930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515600" y="16276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def methylation_age():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1965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    cpg = load_cpg_sites()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230428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beta = calculate_beta()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264261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return horvath(beta)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298094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10515600" y="331927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class DNAMethylation: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3657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sites = 353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39959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clock = 'GrimAge'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433425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10515600" y="467258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SMILES = 'CCN(CC)Cc1cc'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50109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mol = Chem.MolFromSmiles()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5349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fp = AllChem.GetECFP4(mol)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568756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10515600" y="60258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Ki = predict_affinity()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71600" y="164592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NPS SINIFLARI (DEVAM)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71600" y="1097280"/>
            <a:ext cx="8686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5. TRİPTAMİNLER (n=156):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DMT, 5-MeO-DMT, Psilosibin, 5-HT2A agonist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6. FENETİLAMİNLER (n=192):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2C-B, 2C-I, NBOMe serisi, DOx serisi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7. DİZAYNER BENZODİAZEPİNLER (n=128):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Flualprazolam, Clonazolam, Etizolam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GABA-A pozitif allosterik modülatör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8. DİSSOSİYATİFLER (n=64):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3-MeO-PCP, MXE, DCK, NMDA antagonist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9. DİĞER NPS (n=34):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GHB analogları, Aminoindanlar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1" y="27432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27432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4086" y="537209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9769" y="537209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3" y="8001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6031" y="8001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410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086" y="106299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9769" y="106299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" y="132588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1" y="132588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769" y="15887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4086" y="15887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1" y="185166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3" y="185166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897379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9769" y="211455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4086" y="211455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1" y="237743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" y="237743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4086" y="26403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9769" y="26403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3" y="29032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6031" y="29032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96722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4086" y="316611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9769" y="316611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7784" y="34290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6071" y="34290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9769" y="369188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4086" y="369188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6031" y="395478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3" y="395478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00050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9769" y="42176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4086" y="42176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6071" y="448055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7784" y="448055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4086" y="474345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9769" y="474345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7823" y="500634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6031" y="500634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07034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4086" y="52692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9769" y="52692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7784" y="55321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76071" y="55321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9769" y="579501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84086" y="579501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1" y="605790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7823" y="605790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610362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9769" y="632079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4086" y="632079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DC"/>
                </a:solidFill>
              </a:defRPr>
            </a:pPr>
            <a:r>
              <a:t>🧬 DNA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# EpiClock DNA Analysis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1264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import numpy as np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95097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from rdkit import Chem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128930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515600" y="16276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def methylation_age():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1965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    cpg = load_cpg_sites()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230428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beta = calculate_beta()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264261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return horvath(beta)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298094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10515600" y="331927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class DNAMethylation: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3657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sites = 353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39959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clock = 'GrimAge'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433425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10515600" y="467258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SMILES = 'CCN(CC)Cc1cc'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50109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mol = Chem.MolFromSmiles()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5349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fp = AllChem.GetECFP4(mol)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568756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10515600" y="60258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Ki = predict_affinity()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71600" y="164592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MARKUSH YAPI SİSTEMİ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71600" y="1097280"/>
            <a:ext cx="8686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MARKUSH YAPISI (Patent terminolojisi):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Değiştirilebilir grupların (R-grupları) sistematik tanımı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MARKUSH FORMÜL: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Core-Scaffold + [R₁][R₂][R₃]...[Rₙ]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EPİCLOCK MARKUSH KURALLARI (10 Kural):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Kural 1: Nitazenler       → 5,200 varyant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Kural 2: Fenetilaminler   → 4,800 varyant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Kural 3: Triptaminler     → 3,600 varyant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Kural 4: Benzodiazepinler → 3,200 varyant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Kural 5-10: Diğer         → 12,477 varyant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TOPLAM: 29,277 'KİMYASAL OLARAK MÜMKÜN' BİLEŞİK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1" y="27432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27432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4086" y="537209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9769" y="537209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3" y="8001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6031" y="8001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410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086" y="106299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9769" y="106299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" y="132588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1" y="132588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769" y="15887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4086" y="15887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1" y="185166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3" y="185166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897379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9769" y="211455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4086" y="211455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1" y="237743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" y="237743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4086" y="26403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9769" y="26403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3" y="29032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6031" y="29032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96722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4086" y="316611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9769" y="316611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7784" y="34290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6071" y="34290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9769" y="369188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4086" y="369188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6031" y="395478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3" y="395478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00050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9769" y="42176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4086" y="42176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6071" y="448055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7784" y="448055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4086" y="474345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9769" y="474345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7823" y="500634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6031" y="500634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07034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4086" y="52692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9769" y="52692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7784" y="55321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76071" y="55321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9769" y="579501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84086" y="579501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1" y="605790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7823" y="605790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610362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9769" y="632079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4086" y="632079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DC"/>
                </a:solidFill>
              </a:defRPr>
            </a:pPr>
            <a:r>
              <a:t>🧬 DNA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# EpiClock DNA Analysis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1264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import numpy as np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95097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from rdkit import Chem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128930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515600" y="16276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def methylation_age():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1965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    cpg = load_cpg_sites()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230428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beta = calculate_beta()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264261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return horvath(beta)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298094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10515600" y="331927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class DNAMethylation: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3657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sites = 353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39959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clock = 'GrimAge'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433425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10515600" y="467258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SMILES = 'CCN(CC)Cc1cc'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50109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mol = Chem.MolFromSmiles()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5349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fp = AllChem.GetECFP4(mol)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568756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10515600" y="60258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Ki = predict_affinity()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71600" y="164592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SUBSTİTÜENT PALETİ: R-GRUPLARI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71600" y="1097280"/>
            <a:ext cx="8686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R-GRUP DEĞİŞKENLERİ: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HALOJEN: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R = -F, -Cl, -Br, -I (ortho, meta, para)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ALKİL: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R = -CH₃, -C₂H₅, -C₃H₇, i-propil, t-butil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ALKOKSİ: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R = -OCH₃, -OC₂H₅, -OCF₃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AZOT MODİFİKASYONU: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N-metil, N-etil, N-propil, N-benzil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HALKA MODİFİKASYONU: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Halka genişleme/daralma (5→6, 6→7)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Heteroatom değişimi (C→N, C→O, C→S)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1" y="27432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27432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4086" y="537209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9769" y="537209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3" y="8001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6031" y="8001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410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086" y="106299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9769" y="106299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" y="132588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1" y="132588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769" y="15887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4086" y="15887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1" y="185166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3" y="185166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897379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9769" y="211455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4086" y="211455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1" y="237743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" y="237743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4086" y="26403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9769" y="26403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3" y="29032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6031" y="29032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96722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4086" y="316611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9769" y="316611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7784" y="34290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6071" y="34290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9769" y="369188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4086" y="369188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6031" y="395478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3" y="395478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00050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9769" y="42176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4086" y="42176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6071" y="448055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7784" y="448055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4086" y="474345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9769" y="474345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7823" y="500634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6031" y="500634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07034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4086" y="52692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9769" y="52692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7784" y="55321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76071" y="55321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9769" y="579501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84086" y="579501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1" y="605790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7823" y="605790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610362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9769" y="632079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4086" y="632079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DC"/>
                </a:solidFill>
              </a:defRPr>
            </a:pPr>
            <a:r>
              <a:t>🧬 DNA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# EpiClock DNA Analysis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1264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import numpy as np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95097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from rdkit import Chem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128930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515600" y="16276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def methylation_age():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1965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    cpg = load_cpg_sites()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230428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beta = calculate_beta()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264261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return horvath(beta)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298094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10515600" y="331927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class DNAMethylation: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3657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sites = 353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39959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clock = 'GrimAge'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433425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10515600" y="467258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SMILES = 'CCN(CC)Cc1cc'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50109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mol = Chem.MolFromSmiles()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5349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fp = AllChem.GetECFP4(mol)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568756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10515600" y="60258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Ki = predict_affinity()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71600" y="164592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 SILICO RESEPTÖR AFİNİTE TAHMİNLERİ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71600" y="1097280"/>
            <a:ext cx="8686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HESAPLAMALI AFİNİTE YÖNTEMLERİ: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QSAR modelleri, Molecular Docking, FEP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EPİCLOCK RESEPTÖR PANELİ (Ki, nM):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DAT (Dopamin Taşıyıcı):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Uyarıcı etki, Kokain/Amfetamin-tipi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SERT (Serotonin Taşıyıcı):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SSRI aktivitesi, MDMA empatojenik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5-HT2A (Serotonin 2A):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Halüsinojen aktivite, LSD/Psilosibin-tipi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OPRM1 (μ-Opioid):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Analjezi, öfori, solunum depresyonu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CB1 (Kanabinoid 1):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Kannabimimetik etki, THC-tipi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1" y="27432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27432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4086" y="537209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9769" y="537209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3" y="8001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6031" y="8001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410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086" y="106299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9769" y="106299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" y="132588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1" y="132588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769" y="15887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4086" y="15887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1" y="185166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3" y="185166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897379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9769" y="211455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4086" y="211455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1" y="237743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" y="237743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4086" y="26403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9769" y="26403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3" y="29032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6031" y="29032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96722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4086" y="316611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9769" y="316611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7784" y="34290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6071" y="34290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9769" y="369188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4086" y="369188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6031" y="395478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3" y="395478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00050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9769" y="42176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4086" y="42176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6071" y="448055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7784" y="448055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4086" y="474345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9769" y="474345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7823" y="500634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6031" y="500634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07034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4086" y="52692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9769" y="52692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7784" y="55321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76071" y="55321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9769" y="579501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84086" y="579501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1" y="605790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7823" y="605790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610362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9769" y="632079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4086" y="632079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DC"/>
                </a:solidFill>
              </a:defRPr>
            </a:pPr>
            <a:r>
              <a:t>🧬 DNA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# EpiClock DNA Analysis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1264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import numpy as np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95097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from rdkit import Chem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128930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515600" y="16276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def methylation_age():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1965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    cpg = load_cpg_sites()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230428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beta = calculate_beta()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264261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return horvath(beta)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298094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10515600" y="331927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class DNAMethylation: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3657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sites = 353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39959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clock = 'GrimAge'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433425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10515600" y="467258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SMILES = 'CCN(CC)Cc1cc'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50109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mol = Chem.MolFromSmiles()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5349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fp = AllChem.GetECFP4(mol)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568756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10515600" y="60258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Ki = predict_affinity()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71600" y="164592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KAN-BEYİN BARİYERİ (BBB) TAHMİNİ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71600" y="1097280"/>
            <a:ext cx="8686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BBB FİZYOLOJİSİ: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Tight junctions: Claudin-5, Occludin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Efflux: P-gp, BCRP, MRP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GEÇİRGENLİK KRİTERLERİ: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logBB (Brain/Blood Partition):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logBB &gt; 0.3  → BBB geçirgen (CNS aktif)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logBB &lt; -1.0 → BBB geçirmez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PSA (Polar Surface Area):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PSA &lt; 60 Å²  → Yüksek BBB geçirgenlik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PSA &gt; 90 Å²  → Düşük BBB geçirgenlik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EPİCLOCK ANALİZİ (1,920 bileşik):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BBB Geçirgen: 1,144 (%59.6)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BBB Geçirmez: 776 (%40.4)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1" y="27432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27432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4086" y="537209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9769" y="537209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3" y="8001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6031" y="8001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410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086" y="106299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9769" y="106299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" y="132588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1" y="132588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769" y="15887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4086" y="15887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1" y="185166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3" y="185166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897379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9769" y="211455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4086" y="211455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1" y="237743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" y="237743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4086" y="26403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9769" y="26403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3" y="29032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6031" y="29032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96722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4086" y="316611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9769" y="316611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7784" y="34290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6071" y="34290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9769" y="369188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4086" y="369188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6031" y="395478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3" y="395478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00050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9769" y="42176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4086" y="42176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6071" y="448055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7784" y="448055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4086" y="474345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9769" y="474345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7823" y="500634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6031" y="500634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07034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4086" y="52692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9769" y="52692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7784" y="55321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76071" y="55321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9769" y="579501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84086" y="579501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1" y="605790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7823" y="605790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610362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9769" y="632079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4086" y="632079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DC"/>
                </a:solidFill>
              </a:defRPr>
            </a:pPr>
            <a:r>
              <a:t>🧬 DNA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# EpiClock DNA Analysis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1264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import numpy as np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95097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from rdkit import Chem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128930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515600" y="16276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def methylation_age():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1965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    cpg = load_cpg_sites()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230428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beta = calculate_beta()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264261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return horvath(beta)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298094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10515600" y="331927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class DNAMethylation: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3657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sites = 353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39959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clock = 'GrimAge'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433425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10515600" y="467258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SMILES = 'CCN(CC)Cc1cc'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50109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mol = Chem.MolFromSmiles()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5349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fp = AllChem.GetECFP4(mol)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568756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10515600" y="60258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Ki = predict_affinity()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71600" y="164592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METABOLİT TAHMİN SİSTEMİ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71600" y="1097280"/>
            <a:ext cx="8686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XENOBIYOTIK METABOLİZMA: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FAZ I (CYP450):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Aromatik Hidroksilasyon: Ar-H → Ar-OH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N-dealkilasyon: R-N(CH₃)₂ → R-NH₂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O-dealkilasyon: R-OCH₃ → R-OH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N-oksidasyon, S-oksidasyon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FAZ II (Konjugasyon):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UGT Glukuronidasyon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SULT Sülfatasyon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GST Glutatyon konjugasyonu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NAT Asetilasyon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PİROLİZ ÜRÜNLERİ: Termal dekompozisyon (&gt;200°C)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TOPLAM TAHMİN: 6,240 metabolit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1" y="27432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27432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4086" y="537209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9769" y="537209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3" y="8001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6031" y="8001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410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086" y="106299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9769" y="106299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" y="132588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1" y="132588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769" y="15887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4086" y="15887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1" y="185166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3" y="185166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897379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9769" y="211455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4086" y="211455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1" y="237743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" y="237743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4086" y="26403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9769" y="26403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3" y="29032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6031" y="29032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96722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4086" y="316611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9769" y="316611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7784" y="34290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6071" y="34290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9769" y="369188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4086" y="369188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6031" y="395478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3" y="395478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00050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9769" y="42176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4086" y="42176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6071" y="448055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7784" y="448055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4086" y="474345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9769" y="474345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7823" y="500634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6031" y="500634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07034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4086" y="52692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9769" y="52692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7784" y="55321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76071" y="55321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9769" y="579501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84086" y="579501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1" y="605790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7823" y="605790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610362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9769" y="632079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4086" y="632079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DC"/>
                </a:solidFill>
              </a:defRPr>
            </a:pPr>
            <a:r>
              <a:t>🧬 DNA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# EpiClock DNA Analysis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1264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import numpy as np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95097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from rdkit import Chem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128930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515600" y="16276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def methylation_age():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1965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    cpg = load_cpg_sites()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230428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beta = calculate_beta()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264261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return horvath(beta)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298094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10515600" y="331927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class DNAMethylation: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3657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sites = 353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39959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clock = 'GrimAge'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433425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10515600" y="467258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SMILES = 'CCN(CC)Cc1cc'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50109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mol = Chem.MolFromSmiles()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5349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fp = AllChem.GetECFP4(mol)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568756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10515600" y="60258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Ki = predict_affinity()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71600" y="164592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DNA METİLASYON VERİTABANI: 10,542 PROFİL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71600" y="1097280"/>
            <a:ext cx="8686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15 BAĞIMSIZ KOHORT: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PLATFORMLAR: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Illumina 450K (485,577 CpG)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Illumina EPIC (866,895 CpG)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WGBS (~28 milyon CpG)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ÖRNEK POPÜLASYONU: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KATEGORİ               │    N    │   %   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├────────────────────────┼─────────┼───────┤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Alkol Kullanım Boz.    │  2,183  │ 20.7  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Opioid Kullanım Boz.   │  1,360  │ 12.9  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Kokain Kullanım Boz.   │  1,030  │  9.8  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Polisubstans           │    720  │  6.8  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Esrar Kullanım Boz.    │    194  │  1.8  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Metamfetamin           │     48  │  0.5  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Kontrol                │  5,007  │ 47.5  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1" y="27432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27432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4086" y="537209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9769" y="537209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3" y="8001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6031" y="8001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410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086" y="106299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9769" y="106299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" y="132588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1" y="132588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769" y="15887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4086" y="15887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1" y="185166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3" y="185166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897379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9769" y="211455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4086" y="211455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1" y="237743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" y="237743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4086" y="26403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9769" y="26403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3" y="29032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6031" y="29032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96722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4086" y="316611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9769" y="316611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7784" y="34290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6071" y="34290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9769" y="369188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4086" y="369188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6031" y="395478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3" y="395478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00050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9769" y="42176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4086" y="42176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6071" y="448055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7784" y="448055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4086" y="474345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9769" y="474345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7823" y="500634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6031" y="500634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07034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4086" y="52692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9769" y="52692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7784" y="55321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76071" y="55321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9769" y="579501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84086" y="579501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1" y="605790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7823" y="605790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610362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9769" y="632079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4086" y="632079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DC"/>
                </a:solidFill>
              </a:defRPr>
            </a:pPr>
            <a:r>
              <a:t>🧬 DNA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# EpiClock DNA Analysis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1264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import numpy as np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95097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from rdkit import Chem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128930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515600" y="16276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def methylation_age():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1965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    cpg = load_cpg_sites()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230428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beta = calculate_beta()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264261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return horvath(beta)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298094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10515600" y="331927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class DNAMethylation: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3657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sites = 353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39959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clock = 'GrimAge'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433425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10515600" y="467258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SMILES = 'CCN(CC)Cc1cc'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50109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mol = Chem.MolFromSmiles()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5349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fp = AllChem.GetECFP4(mol)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568756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10515600" y="60258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Ki = predict_affinity()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71600" y="164592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MADDEYE ÖZGÜ EAA SONUÇLARI (GrimAge)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71600" y="1097280"/>
            <a:ext cx="8686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GRİMAGE-BAZLI EPİGENETİK YAŞ İVMELENMESİ: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MADDE          │    EAA    │    95% CI    │    p    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├────────────────┼───────────┼──────────────┼─────────┤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Polisubstans   │ +7.3 yıl  │ (6.4 - 8.3)  │  &lt;.001  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Metamfetamin   │ +6.2 yıl  │ (4.5 - 8.1)  │  &lt;.001  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Kokain         │ +4.1 yıl  │ (3.5 - 4.7)  │  &lt;.001  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Alkol          │ +3.6 yıl  │ (3.1 - 4.2)  │  &lt;.001  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Opioidler      │ +2.9 yıl  │ (2.5 - 3.4)  │  &lt;.001  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Esrar          │ +0.8 yıl  │ (0.3 - 1.4)  │   .008  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Kontrol        │  0.0 yıl  │ (-0.3- 0.3)  │   ref.  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Doz-yanıt ilişkisi: r = 0.67 (kullanım yılı × EAA)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Effect size (Cohen's d): Polisubstans vs Kontrol = 1.42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1" y="27432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27432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4086" y="537209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9769" y="537209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3" y="8001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6031" y="8001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410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086" y="106299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9769" y="106299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" y="132588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1" y="132588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769" y="15887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4086" y="15887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1" y="185166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3" y="185166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897379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9769" y="211455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4086" y="211455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1" y="237743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" y="237743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4086" y="26403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9769" y="26403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3" y="29032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6031" y="29032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96722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4086" y="316611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9769" y="316611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7784" y="34290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6071" y="34290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9769" y="369188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4086" y="369188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6031" y="395478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3" y="395478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00050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9769" y="42176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4086" y="42176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6071" y="448055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7784" y="448055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4086" y="474345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9769" y="474345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7823" y="500634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6031" y="500634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07034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4086" y="52692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9769" y="52692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7784" y="55321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76071" y="55321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9769" y="579501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84086" y="579501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1" y="605790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7823" y="605790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610362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9769" y="632079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4086" y="632079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DC"/>
                </a:solidFill>
              </a:defRPr>
            </a:pPr>
            <a:r>
              <a:t>🧬 DNA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# EpiClock DNA Analysis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1264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import numpy as np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95097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from rdkit import Chem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128930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515600" y="16276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def methylation_age():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1965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    cpg = load_cpg_sites()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230428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beta = calculate_beta()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264261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return horvath(beta)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298094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10515600" y="331927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class DNAMethylation: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3657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sites = 353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39959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clock = 'GrimAge'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433425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10515600" y="467258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SMILES = 'CCN(CC)Cc1cc'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50109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mol = Chem.MolFromSmiles()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5349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fp = AllChem.GetECFP4(mol)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568756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10515600" y="60258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Ki = predict_affinity()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71600" y="164592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MEDİASYON ANALİZİ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71600" y="1097280"/>
            <a:ext cx="8686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MEDİASYON HİPOTEZİ (Baron &amp; Kenny, 1986):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Madde (X) → DNA Metilasyonu (M) → EAA (Y)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YOLAK ANALİZİ: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c yolu (Total):  X → Y    β = 4.3, p &lt; .001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a yolu:          X → M    β = -0.15, p &lt; .001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b yolu:          M → Y    β = -12.4, p &lt; .001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c' yolu (Direct): X → Y|M β = 2.44, p &lt; .001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İNDİREKT ETKİ: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ab = 1.86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Mediasyon oranı: ab/c = 43.3%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BOOTSTRAP (10,000 rep):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95% CI: (1.42 - 2.31) → Sıfırı içermez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SONUÇ: Anlamlı kısmi mediasyon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1" y="27432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27432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4086" y="537209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9769" y="537209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3" y="8001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6031" y="8001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410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086" y="106299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9769" y="106299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" y="132588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1" y="132588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769" y="15887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4086" y="15887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1" y="185166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3" y="185166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897379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9769" y="211455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4086" y="211455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1" y="237743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" y="237743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4086" y="26403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9769" y="26403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3" y="29032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6031" y="29032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96722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4086" y="316611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9769" y="316611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7784" y="34290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6071" y="34290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9769" y="369188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4086" y="369188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6031" y="395478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3" y="395478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00050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9769" y="42176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4086" y="42176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6071" y="448055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7784" y="448055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4086" y="474345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9769" y="474345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7823" y="500634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6031" y="500634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07034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4086" y="52692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9769" y="52692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7784" y="55321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76071" y="55321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9769" y="579501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84086" y="579501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1" y="605790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7823" y="605790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610362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9769" y="632079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4086" y="632079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DC"/>
                </a:solidFill>
              </a:defRPr>
            </a:pPr>
            <a:r>
              <a:t>🧬 DNA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# EpiClock DNA Analysis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1264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import numpy as np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95097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from rdkit import Chem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128930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515600" y="16276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def methylation_age():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1965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    cpg = load_cpg_sites()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230428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beta = calculate_beta()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264261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return horvath(beta)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298094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10515600" y="331927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class DNAMethylation: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3657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sites = 353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39959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clock = 'GrimAge'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433425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10515600" y="467258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SMILES = 'CCN(CC)Cc1cc'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50109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mol = Chem.MolFromSmiles()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5349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fp = AllChem.GetECFP4(mol)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568756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10515600" y="60258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Ki = predict_affinity()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71600" y="164592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MAKİNE ÖĞRENMESİ ENSEMBLE MODELİ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71600" y="1097280"/>
            <a:ext cx="8686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WEIGHTED VOTING ENSEMBLE: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Ŷ = w₁×RF(X) + w₂×XGB(X) + w₃×EN(X)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MODEL BİLEŞENLERİ: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1. RANDOM FOREST (w₁ = 0.35):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n_estimators=500, max_depth=20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2. XGBOOST (w₂ = 0.45):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learning_rate=0.01, n_estimators=1000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Early stopping: 50 rounds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3. ELASTICNET (w₃ = 0.20):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α=0.5, λ=0.01 (CV)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PERFORMANS (10-fold CV):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MAE = 2.1 yıl | R² = 0.96 | RMSE = 2.8 yıl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1" y="27432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27432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4086" y="537209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9769" y="537209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3" y="8001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6031" y="8001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410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086" y="106299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9769" y="106299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" y="132588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1" y="132588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769" y="15887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4086" y="15887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1" y="185166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3" y="185166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897379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9769" y="211455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4086" y="211455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1" y="237743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" y="237743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4086" y="26403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9769" y="26403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3" y="29032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6031" y="29032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96722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4086" y="316611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9769" y="316611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7784" y="34290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6071" y="34290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9769" y="369188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4086" y="369188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6031" y="395478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3" y="395478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00050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9769" y="42176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4086" y="42176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6071" y="448055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7784" y="448055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4086" y="474345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9769" y="474345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7823" y="500634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6031" y="500634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07034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4086" y="52692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9769" y="52692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7784" y="55321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76071" y="55321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9769" y="579501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84086" y="579501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1" y="605790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7823" y="605790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610362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9769" y="632079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4086" y="632079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DC"/>
                </a:solidFill>
              </a:defRPr>
            </a:pPr>
            <a:r>
              <a:t>🧬 DNA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# EpiClock DNA Analysis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1264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import numpy as np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95097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from rdkit import Chem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128930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515600" y="16276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def methylation_age():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1965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    cpg = load_cpg_sites()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230428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beta = calculate_beta()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264261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return horvath(beta)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298094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10515600" y="331927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class DNAMethylation: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3657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sites = 353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39959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clock = 'GrimAge'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433425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10515600" y="467258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SMILES = 'CCN(CC)Cc1cc'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50109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mol = Chem.MolFromSmiles()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5349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fp = AllChem.GetECFP4(mol)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568756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10515600" y="60258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Ki = predict_affinity()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71600" y="164592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POLİSUBSTANS SİNERJİ MATRİSİ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71600" y="1097280"/>
            <a:ext cx="8686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SİNERJİ HESAPLAMA: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SF = Gözlenen / Beklenen Aditif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SF &gt; 1.0 → Sinerjistik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YÜKSEK RİSKLİ KOMBİNASYONLAR (n=257):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KOMBİNASYON           │ SOKAK ADI   │  SF  │ ÖLÜM 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├───────────────────────┼─────────────┼──────┼──────┤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Fent+Heroin+Carfent   │ Grey Death  │ 4.2  │ 50%  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Fentanil+Heroin       │ Purple Dope │ 3.5  │ 45%  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Kokain+Heroin         │ Speedball   │ 2.8  │ 35%  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Benzodiazepin+Opioid  │ -           │ 3.2  │ 30%  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Alkol+Opioid          │ -           │ 2.8  │ 28%  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MDMA+LSD              │ Candy Flip  │ 1.8  │  5%  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1" y="27432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27432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4086" y="537209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9769" y="537209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3" y="8001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6031" y="8001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410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086" y="106299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9769" y="106299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" y="132588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1" y="132588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769" y="15887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4086" y="15887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1" y="185166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3" y="185166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897379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9769" y="211455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4086" y="211455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1" y="237743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" y="237743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4086" y="26403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9769" y="26403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3" y="29032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6031" y="29032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96722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4086" y="316611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9769" y="316611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7784" y="34290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6071" y="34290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9769" y="369188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4086" y="369188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6031" y="395478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3" y="395478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00050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9769" y="42176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4086" y="42176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6071" y="448055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7784" y="448055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4086" y="474345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9769" y="474345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7823" y="500634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6031" y="500634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07034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4086" y="52692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9769" y="52692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7784" y="55321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76071" y="55321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9769" y="579501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84086" y="579501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1" y="605790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7823" y="605790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610362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9769" y="632079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4086" y="632079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DC"/>
                </a:solidFill>
              </a:defRPr>
            </a:pPr>
            <a:r>
              <a:t>🧬 DNA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# EpiClock DNA Analysis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1264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import numpy as np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95097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from rdkit import Chem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128930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515600" y="16276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def methylation_age():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1965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    cpg = load_cpg_sites()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230428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beta = calculate_beta()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264261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return horvath(beta)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298094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10515600" y="331927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class DNAMethylation: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3657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sites = 353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39959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clock = 'GrimAge'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433425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10515600" y="467258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SMILES = 'CCN(CC)Cc1cc'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50109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mol = Chem.MolFromSmiles()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5349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fp = AllChem.GetECFP4(mol)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568756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10515600" y="60258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Ki = predict_affinity()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71600" y="164592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BLOCKCHAIN DENETİM İZİ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71600" y="1097280"/>
            <a:ext cx="8686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BLOCKCHAIN MİMARİSİ: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Block[n] = {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timestamp, sample_id, params,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result_hash, prev_hash, nonce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}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SHA-256 HASH (NIST FIPS 180-4):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H(m) = 256-bit digest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Çarpışma direnci: O(2¹²⁸)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ZİNCİR DOĞRULAMA: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Block[n].hash = SHA256(Block[n-1].hash || Block[n].data)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Değişiklik → Tüm sonraki hash'ler geçersiz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→ Tamper-evident, immutable sistem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ADLİ GEÇERLİLİK: Daubert/Frye kriterleri uyumlu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1" y="27432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27432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4086" y="537209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9769" y="537209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3" y="8001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6031" y="8001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410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086" y="106299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9769" y="106299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" y="132588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1" y="132588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769" y="15887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4086" y="15887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1" y="185166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3" y="185166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897379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9769" y="211455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4086" y="211455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1" y="237743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" y="237743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4086" y="26403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9769" y="26403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3" y="29032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6031" y="29032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96722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4086" y="316611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9769" y="316611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7784" y="34290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6071" y="34290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9769" y="369188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4086" y="369188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6031" y="395478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3" y="395478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00050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9769" y="42176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4086" y="42176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6071" y="448055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7784" y="448055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4086" y="474345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9769" y="474345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7823" y="500634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6031" y="500634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07034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4086" y="52692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9769" y="52692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7784" y="55321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76071" y="55321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9769" y="579501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84086" y="579501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1" y="605790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7823" y="605790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610362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9769" y="632079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4086" y="632079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DC"/>
                </a:solidFill>
              </a:defRPr>
            </a:pPr>
            <a:r>
              <a:t>🧬 DNA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# EpiClock DNA Analysis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1264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import numpy as np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95097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from rdkit import Chem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128930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515600" y="16276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def methylation_age():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1965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    cpg = load_cpg_sites()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230428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beta = calculate_beta()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264261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return horvath(beta)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298094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10515600" y="331927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class DNAMethylation: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3657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sites = 353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39959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clock = 'GrimAge'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433425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10515600" y="467258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SMILES = 'CCN(CC)Cc1cc'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50109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mol = Chem.MolFromSmiles()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5349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fp = AllChem.GetECFP4(mol)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568756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10515600" y="60258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Ki = predict_affinity()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71600" y="164592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POSTMORTEM DNA METİLASYON ANALİZİ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71600" y="1097280"/>
            <a:ext cx="8686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POSTMORTEM ZORLUKLAR: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DNA degradasyonu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Bakteriyel kontaminasyon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Çevresel faktörler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PMI DÜZELTME MODELİ: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DNAmAge_corrected = DNAmAge_raw - f(PMI, T, Doku)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DOKU STABİLİTE: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PMI (saat)  │ r     │ MAE   │ Güvenilirlik 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├─────────────┼───────┼───────┼──────────────┤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   0-48     │ &gt;0.95 │  2.5  │ Yüksek       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  48-72     │ &gt;0.85 │  4.2  │ Orta         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  72-168    │ &gt;0.70 │  6.8  │ Düşük        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1" y="27432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27432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4086" y="537209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9769" y="537209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3" y="8001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6031" y="8001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410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086" y="106299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9769" y="106299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" y="132588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1" y="132588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769" y="15887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4086" y="15887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1" y="185166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3" y="185166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897379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9769" y="211455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4086" y="211455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1" y="237743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" y="237743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4086" y="26403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9769" y="26403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3" y="29032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6031" y="29032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96722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4086" y="316611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9769" y="316611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7784" y="34290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6071" y="34290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9769" y="369188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4086" y="369188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6031" y="395478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3" y="395478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00050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9769" y="42176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4086" y="42176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6071" y="448055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7784" y="448055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4086" y="474345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9769" y="474345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7823" y="500634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6031" y="500634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07034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4086" y="52692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9769" y="52692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7784" y="55321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76071" y="55321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9769" y="579501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84086" y="579501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1" y="605790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7823" y="605790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610362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9769" y="632079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4086" y="632079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DC"/>
                </a:solidFill>
              </a:defRPr>
            </a:pPr>
            <a:r>
              <a:t>🧬 DNA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# EpiClock DNA Analysis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1264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import numpy as np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95097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from rdkit import Chem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128930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515600" y="16276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def methylation_age():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1965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    cpg = load_cpg_sites()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230428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beta = calculate_beta()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264261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return horvath(beta)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298094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10515600" y="331927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class DNAMethylation: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3657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sites = 353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39959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clock = 'GrimAge'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433425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10515600" y="467258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SMILES = 'CCN(CC)Cc1cc'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50109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mol = Chem.MolFromSmiles()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5349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fp = AllChem.GetECFP4(mol)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568756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10515600" y="60258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Ki = predict_affinity()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71600" y="164592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MULTİ-OMİKS ENTEGRASYON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71600" y="1097280"/>
            <a:ext cx="8686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OMİKS VERİ KATMANLARI: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Genomics   → SNP, CNV (DNA)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Epigenomics→ 5mC, Histon (Regülasyon)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Transcriptomics → mRNA (Ekspresyon)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Proteomics → Protein (Fonksiyon)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Metabolomics → Metabolitler (Fenotip)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ENTEGRASYON YÖNTEMLERİ: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1. MOFA+ (Multi-Omics Factor Analysis):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Probabilistic latent factor model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2. PLS-DA (Partial Least Squares):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Supervised dimensionality reduction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3. SNF (Similarity Network Fusion):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Patient similarity networks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1" y="27432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27432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4086" y="537209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9769" y="537209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3" y="8001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6031" y="8001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410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086" y="106299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9769" y="106299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" y="132588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1" y="132588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769" y="15887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4086" y="15887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1" y="185166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3" y="185166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897379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9769" y="211455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4086" y="211455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1" y="237743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" y="237743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4086" y="26403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9769" y="26403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3" y="29032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6031" y="29032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96722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4086" y="316611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9769" y="316611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7784" y="34290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6071" y="34290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9769" y="369188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4086" y="369188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6031" y="395478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3" y="395478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00050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9769" y="42176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4086" y="42176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6071" y="448055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7784" y="448055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4086" y="474345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9769" y="474345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7823" y="500634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6031" y="500634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07034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4086" y="52692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9769" y="52692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7784" y="55321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76071" y="55321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9769" y="579501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84086" y="579501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1" y="605790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7823" y="605790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610362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9769" y="632079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4086" y="632079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DC"/>
                </a:solidFill>
              </a:defRPr>
            </a:pPr>
            <a:r>
              <a:t>🧬 DNA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# EpiClock DNA Analysis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1264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import numpy as np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95097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from rdkit import Chem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128930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515600" y="16276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def methylation_age():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1965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    cpg = load_cpg_sites()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230428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beta = calculate_beta()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264261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return horvath(beta)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298094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10515600" y="331927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class DNAMethylation: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3657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sites = 353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39959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clock = 'GrimAge'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433425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10515600" y="467258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SMILES = 'CCN(CC)Cc1cc'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50109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mol = Chem.MolFromSmiles()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5349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fp = AllChem.GetECFP4(mol)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568756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10515600" y="60258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Ki = predict_affinity()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71600" y="164592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KLİNİK KARAR DESTEK SİSTEMİ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71600" y="1097280"/>
            <a:ext cx="8686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RİSK STRATİFİKASYONU: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RİSK          │ EAA           │ KLİNİK AKSİYON      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├───────────────┼───────────────┼─────────────────────┤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Minimal       │ &lt; +1 yıl      │ Rutin takip         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Düşük         │ +1 ≤ EAA &lt; +3 │ Yaşam tarzı         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Orta          │ +3 ≤ EAA &lt; +5 │ Aktif izlem         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Yüksek        │ +5 ≤ EAA &lt; +8 │ Yoğun tedavi        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│ Çok Yüksek    │ ≥ +8 yıl      │ Acil müdahale       │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PROGNOSTİK: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GrimAge: HR = 1.10 per yıl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DunedinPACE &gt; 1.2: Hızlanmış yaşlanma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UYARI: Karar destek, klinik değerlendirme yerini almaz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1" y="27432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27432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4086" y="537209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9769" y="537209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3" y="8001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6031" y="8001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410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086" y="106299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9769" y="106299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" y="132588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1" y="132588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769" y="15887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4086" y="15887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1" y="185166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3" y="185166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897379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9769" y="211455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4086" y="211455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1" y="237743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" y="237743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4086" y="26403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9769" y="26403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3" y="29032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6031" y="29032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96722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4086" y="316611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9769" y="316611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7784" y="34290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6071" y="34290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9769" y="369188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4086" y="369188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6031" y="395478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3" y="395478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00050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9769" y="42176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4086" y="42176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6071" y="448055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7784" y="448055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4086" y="474345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9769" y="474345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7823" y="500634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6031" y="500634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07034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4086" y="52692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9769" y="52692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7784" y="55321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76071" y="55321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9769" y="579501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84086" y="579501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1" y="605790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7823" y="605790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610362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9769" y="632079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4086" y="632079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DC"/>
                </a:solidFill>
              </a:defRPr>
            </a:pPr>
            <a:r>
              <a:t>🧬 DNA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# EpiClock DNA Analysis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1264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import numpy as np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95097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from rdkit import Chem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128930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515600" y="16276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def methylation_age():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1965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    cpg = load_cpg_sites()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230428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beta = calculate_beta()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264261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return horvath(beta)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298094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10515600" y="331927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class DNAMethylation: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3657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sites = 353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39959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clock = 'GrimAge'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433425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10515600" y="467258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SMILES = 'CCN(CC)Cc1cc'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50109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mol = Chem.MolFromSmiles()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5349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fp = AllChem.GetECFP4(mol)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568756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10515600" y="60258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Ki = predict_affinity()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71600" y="164592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MALİYET-ETKİNLİK ANALİZİ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71600" y="1097280"/>
            <a:ext cx="8686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GELENEKSEL YÖNTEM (per örnek):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WGBS:        $2,500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450K/EPIC:   $400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Analiz:      $200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─────────────────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Toplam:      ~$3,100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EPİCLOCK YAKLAŞIMI (per örnek):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Hedefli Panel: $80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Analiz:        $0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─────────────────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Toplam:        ~$80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TASARRUF: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Per örnek: $3,020 (%97.4)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1,000 örnek: $3,020,000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SÜRE: 2-4 hafta → 24 saat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1" y="27432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27432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4086" y="537209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9769" y="537209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3" y="8001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6031" y="8001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410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086" y="106299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9769" y="106299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" y="132588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1" y="132588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769" y="15887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4086" y="15887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1" y="185166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3" y="185166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897379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9769" y="211455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4086" y="211455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1" y="237743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" y="237743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4086" y="26403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9769" y="26403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3" y="29032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6031" y="29032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96722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4086" y="316611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9769" y="316611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7784" y="34290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6071" y="34290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9769" y="369188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4086" y="369188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6031" y="395478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3" y="395478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00050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9769" y="42176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4086" y="42176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6071" y="448055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7784" y="448055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4086" y="474345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9769" y="474345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7823" y="500634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6031" y="500634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07034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4086" y="52692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9769" y="52692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7784" y="55321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76071" y="55321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9769" y="579501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84086" y="579501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1" y="605790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7823" y="605790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610362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9769" y="632079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4086" y="632079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DC"/>
                </a:solidFill>
              </a:defRPr>
            </a:pPr>
            <a:r>
              <a:t>🧬 DNA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# EpiClock DNA Analysis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1264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import numpy as np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95097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from rdkit import Chem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128930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515600" y="16276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def methylation_age():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1965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    cpg = load_cpg_sites()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230428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beta = calculate_beta()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264261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return horvath(beta)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298094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10515600" y="331927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class DNAMethylation: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3657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sites = 353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39959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clock = 'GrimAge'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433425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10515600" y="467258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SMILES = 'CCN(CC)Cc1cc'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50109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mol = Chem.MolFromSmiles()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5349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fp = AllChem.GetECFP4(mol)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568756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10515600" y="60258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Ki = predict_affinity()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71600" y="164592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SINIRLAMALAR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71600" y="1097280"/>
            <a:ext cx="8686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METODOLOJİK: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1. Simüle Katsayılar: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Gerçek katsayılar lisans gerektirir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2. Popülasyon Temsili: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Çoğunlukla Avrupa kökenli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Trans-etnik validasyon gerekli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3. Teknik Varyasyon: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Batch efektler, protokol farklılıkları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YORUMLAMA: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4. Nedensellik vs Korelasyon: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Gözlemsel veri limiti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5. Bireysel Varyasyon: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   Genetik, çevre, yaşam tarzı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PROTOTIP: Klinik karar için tek başına kullanılmamalı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1" y="27432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27432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4086" y="537209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9769" y="537209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3" y="8001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6031" y="8001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410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086" y="106299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9769" y="106299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" y="132588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1" y="132588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769" y="15887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4086" y="15887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1" y="185166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3" y="185166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897379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9769" y="211455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4086" y="211455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1" y="237743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" y="237743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4086" y="26403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9769" y="26403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3" y="29032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6031" y="29032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96722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4086" y="316611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9769" y="316611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7784" y="34290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6071" y="34290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9769" y="369188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4086" y="369188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6031" y="395478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3" y="395478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00050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9769" y="42176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4086" y="42176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6071" y="448055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7784" y="448055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4086" y="474345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9769" y="474345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7823" y="500634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6031" y="500634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07034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4086" y="52692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9769" y="52692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7784" y="55321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76071" y="55321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9769" y="579501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84086" y="579501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1" y="605790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7823" y="605790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610362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9769" y="632079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4086" y="632079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DC"/>
                </a:solidFill>
              </a:defRPr>
            </a:pPr>
            <a:r>
              <a:t>🧬 DNA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# EpiClock DNA Analysis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1264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import numpy as np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95097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from rdkit import Chem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128930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515600" y="16276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def methylation_age():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1965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    cpg = load_cpg_sites()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230428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beta = calculate_beta()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264261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return horvath(beta)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298094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10515600" y="331927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class DNAMethylation: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3657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sites = 353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39959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clock = 'GrimAge'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433425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10515600" y="467258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SMILES = 'CCN(CC)Cc1cc'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50109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mol = Chem.MolFromSmiles()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5349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fp = AllChem.GetECFP4(mol)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568756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10515600" y="60258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Ki = predict_affinity()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71600" y="164592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GELECEK ARAŞTIRMA YÖNELİMLERİ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71600" y="1097280"/>
            <a:ext cx="8686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KISA VADELİ (6-12 ay):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Gerçek katsayı lisansı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Pilot validasyon (n=200)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Türkiye referans veritabanı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Mobil uygulama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ORTA VADELİ (1-3 yıl):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100,000+ profil veritabanı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Longitudinal kohort (5 yıl)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Multi-omics platform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CE-IVD hazırlık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UZUN VADELİ (3-5+ yıl):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FDA/CE onay süreci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Klinik laboratuvar entegrasyonu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Uluslararası RCT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VİZYON: Kişiselleştirilmiş bağımlılık tıbbı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1" y="27432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27432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4086" y="537209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9769" y="537209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3" y="8001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6031" y="8001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410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086" y="106299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9769" y="106299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" y="132588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1" y="132588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769" y="15887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4086" y="15887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1" y="185166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3" y="185166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897379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9769" y="211455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4086" y="211455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1" y="237743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" y="237743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4086" y="26403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9769" y="26403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3" y="29032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6031" y="29032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96722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4086" y="316611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9769" y="316611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7784" y="34290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6071" y="34290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9769" y="369188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4086" y="369188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6031" y="395478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3" y="395478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00050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9769" y="42176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4086" y="42176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6071" y="448055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7784" y="448055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4086" y="474345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9769" y="474345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7823" y="500634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6031" y="500634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07034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4086" y="52692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9769" y="52692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7784" y="55321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76071" y="55321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9769" y="579501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84086" y="579501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1" y="605790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7823" y="605790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610362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9769" y="632079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4086" y="632079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DC"/>
                </a:solidFill>
              </a:defRPr>
            </a:pPr>
            <a:r>
              <a:t>🧬 DNA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# EpiClock DNA Analysis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1264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import numpy as np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95097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from rdkit import Chem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128930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515600" y="16276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def methylation_age():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1965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    cpg = load_cpg_sites()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230428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beta = calculate_beta()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264261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return horvath(beta)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298094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10515600" y="331927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class DNAMethylation: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3657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sites = 353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39959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clock = 'GrimAge'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433425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10515600" y="467258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SMILES = 'CCN(CC)Cc1cc'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50109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mol = Chem.MolFromSmiles()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5349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fp = AllChem.GetECFP4(mol)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568756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10515600" y="60258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Ki = predict_affinity()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71600" y="164592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REFERANSLAR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71600" y="1097280"/>
            <a:ext cx="8686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EPİGENETİK SAATLER: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Horvath S (2013). Genome Biology 14:R115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Hannum G et al (2013). Mol Cell 49:359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Levine ME et al (2018). Aging 10:573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Lu AT et al (2019). Aging 11:303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Belsky DW et al (2022). eLife 11:e73420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BAĞIMLILIK EPİGENETİĞİ: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Zillich L et al (2024). Mol Psychiatry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Wangler LM et al (2022). Drug Alcohol Depend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KEMOİNFORMATİK: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Weininger D (1988). J Chem Inf Comput Sci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   • Rogers D, Hahn M (2010). J Chem Inf Model</a:t>
            </a: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F2346"/>
                </a:solidFill>
              </a:defRPr>
            </a:pPr>
            <a:r>
              <a:t>VERİTABANLARI: GWAS Catalog, PharmGKB, UNODC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1" y="27432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27432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4086" y="537209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9769" y="537209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3" y="8001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6031" y="8001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410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086" y="106299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9769" y="106299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" y="132588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1" y="132588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769" y="15887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4086" y="15887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1" y="185166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3" y="185166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897379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9769" y="211455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4086" y="211455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1" y="237743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" y="237743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4086" y="26403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9769" y="26403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3" y="29032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6031" y="29032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96722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4086" y="316611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9769" y="316611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7784" y="342900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6071" y="342900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9769" y="369188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4086" y="369188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6031" y="395478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3" y="395478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00050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9769" y="421767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4086" y="421767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6071" y="4480559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7784" y="4480559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4086" y="474345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9769" y="474345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7823" y="500634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6031" y="500634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070348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4086" y="526923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9769" y="526923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7784" y="5532120"/>
            <a:ext cx="164592" cy="164592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76071" y="5532120"/>
            <a:ext cx="128016" cy="128016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9769" y="579501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84086" y="579501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1" y="605790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7823" y="605790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6103620"/>
            <a:ext cx="640079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9769" y="6320790"/>
            <a:ext cx="128016" cy="128016"/>
          </a:xfrm>
          <a:prstGeom prst="ellipse">
            <a:avLst/>
          </a:prstGeom>
          <a:solidFill>
            <a:srgbClr val="0050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4086" y="6320790"/>
            <a:ext cx="164592" cy="164592"/>
          </a:xfrm>
          <a:prstGeom prst="ellipse">
            <a:avLst/>
          </a:prstGeom>
          <a:solidFill>
            <a:srgbClr val="0096D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DC"/>
                </a:solidFill>
              </a:defRPr>
            </a:pPr>
            <a:r>
              <a:t>🧬 DNA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274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# EpiClock DNA Analysis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1264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import numpy as np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95097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from rdkit import Chem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128930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515600" y="16276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  <a:r>
              <a:t>def methylation_age():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1965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    cpg = load_cpg_sites()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230428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beta = calculate_beta()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264261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return horvath(beta)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298094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10515600" y="331927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class DNAMethylation: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3657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    sites = 353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39959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    clock = 'GrimAge'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433425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10515600" y="467258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SMILES = 'CCN(CC)Cc1cc'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50109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A0DC"/>
                </a:solidFill>
                <a:latin typeface="Courier New"/>
              </a:defRPr>
            </a:pPr>
            <a:r>
              <a:t>mol = Chem.MolFromSmiles()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5349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B4F0"/>
                </a:solidFill>
                <a:latin typeface="Courier New"/>
              </a:defRPr>
            </a:pPr>
            <a:r>
              <a:t>fp = AllChem.GetECFP4(mol)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568756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64B4"/>
                </a:solidFill>
                <a:latin typeface="Courier New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10515600" y="60258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0082C8"/>
                </a:solidFill>
                <a:latin typeface="Courier New"/>
              </a:defRPr>
            </a:pPr>
            <a:r>
              <a:t>Ki = predict_affinity()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371600" y="1645920"/>
            <a:ext cx="9144000" cy="18288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371600" y="4754880"/>
            <a:ext cx="9144000" cy="18288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371600" y="20116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C8E6FF"/>
                </a:solidFill>
              </a:defRPr>
            </a:pPr>
            <a:r>
              <a:t>TEŞEKKÜRLER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37160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96C8F0"/>
                </a:solidFill>
              </a:defRPr>
            </a:pPr>
            <a:r>
              <a:t>Arş. Gör. Dr. Nurcan Denli Bayır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71600" y="51206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78AAD2"/>
                </a:solidFill>
              </a:defRPr>
            </a:pPr>
            <a:r>
              <a:t>GitHub: github.com/mortemdulcem/epi-clock-DNA-mtl-prototype</a:t>
            </a:r>
            <a:br/>
            <a:r>
              <a:t>EpiClock v4.0 | 36,170 Yapısal Varyant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